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8" r:id="rId5"/>
    <p:sldId id="261" r:id="rId6"/>
    <p:sldId id="278" r:id="rId7"/>
    <p:sldId id="310" r:id="rId8"/>
    <p:sldId id="304" r:id="rId9"/>
    <p:sldId id="305" r:id="rId10"/>
    <p:sldId id="285" r:id="rId11"/>
    <p:sldId id="301" r:id="rId12"/>
    <p:sldId id="306" r:id="rId13"/>
    <p:sldId id="307" r:id="rId14"/>
    <p:sldId id="308" r:id="rId15"/>
    <p:sldId id="309" r:id="rId16"/>
    <p:sldId id="311" r:id="rId17"/>
    <p:sldId id="312" r:id="rId18"/>
    <p:sldId id="313" r:id="rId19"/>
    <p:sldId id="317" r:id="rId20"/>
    <p:sldId id="318" r:id="rId21"/>
    <p:sldId id="319" r:id="rId22"/>
    <p:sldId id="320" r:id="rId23"/>
    <p:sldId id="321" r:id="rId24"/>
    <p:sldId id="314" r:id="rId25"/>
    <p:sldId id="315" r:id="rId26"/>
    <p:sldId id="324" r:id="rId27"/>
    <p:sldId id="323" r:id="rId28"/>
    <p:sldId id="325" r:id="rId29"/>
    <p:sldId id="326" r:id="rId30"/>
    <p:sldId id="316" r:id="rId31"/>
    <p:sldId id="327" r:id="rId32"/>
    <p:sldId id="328" r:id="rId33"/>
    <p:sldId id="329" r:id="rId34"/>
    <p:sldId id="330" r:id="rId35"/>
    <p:sldId id="334" r:id="rId36"/>
    <p:sldId id="333" r:id="rId37"/>
    <p:sldId id="335" r:id="rId38"/>
    <p:sldId id="336" r:id="rId39"/>
    <p:sldId id="337" r:id="rId40"/>
    <p:sldId id="338" r:id="rId41"/>
    <p:sldId id="339" r:id="rId42"/>
    <p:sldId id="331" r:id="rId43"/>
    <p:sldId id="340" r:id="rId44"/>
    <p:sldId id="341" r:id="rId45"/>
    <p:sldId id="342" r:id="rId46"/>
    <p:sldId id="344" r:id="rId47"/>
    <p:sldId id="343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  <a:srgbClr val="37ADBD"/>
    <a:srgbClr val="F0A318"/>
    <a:srgbClr val="EABE1E"/>
    <a:srgbClr val="CCFF99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0137" autoAdjust="0"/>
  </p:normalViewPr>
  <p:slideViewPr>
    <p:cSldViewPr snapToGrid="0" showGuides="1">
      <p:cViewPr varScale="1">
        <p:scale>
          <a:sx n="78" d="100"/>
          <a:sy n="78" d="100"/>
        </p:scale>
        <p:origin x="962" y="60"/>
      </p:cViewPr>
      <p:guideLst>
        <p:guide orient="horz" pos="2160"/>
        <p:guide pos="38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406356342603936E-2"/>
          <c:y val="0.21697622929811264"/>
          <c:w val="0.93045036733851483"/>
          <c:h val="0.52142526052885585"/>
        </c:manualLayout>
      </c:layout>
      <c:lineChart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 нач.кл.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166</c:v>
                </c:pt>
                <c:pt idx="1">
                  <c:v>156</c:v>
                </c:pt>
                <c:pt idx="2">
                  <c:v>144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AA-41A2-9426-605F8897D5C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 гимн.кл.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187</c:v>
                </c:pt>
                <c:pt idx="1">
                  <c:v>201</c:v>
                </c:pt>
                <c:pt idx="2">
                  <c:v>191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AA-41A2-9426-605F8897D5C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32900992"/>
        <c:axId val="14154288"/>
      </c:lineChart>
      <c:catAx>
        <c:axId val="43290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ru-MD"/>
          </a:p>
        </c:txPr>
        <c:crossAx val="14154288"/>
        <c:crosses val="autoZero"/>
        <c:auto val="1"/>
        <c:lblAlgn val="ctr"/>
        <c:lblOffset val="100"/>
        <c:noMultiLvlLbl val="0"/>
      </c:catAx>
      <c:valAx>
        <c:axId val="1415428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43290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2962015152461845"/>
          <c:y val="0.86723669117680657"/>
          <c:w val="0.67790981639704284"/>
          <c:h val="9.79403256543019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ru-MD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>
      <a:gsLst>
        <a:gs pos="0">
          <a:srgbClr val="5B9BD5">
            <a:lumMod val="0"/>
            <a:lumOff val="100000"/>
          </a:srgbClr>
        </a:gs>
        <a:gs pos="35000">
          <a:srgbClr val="5B9BD5">
            <a:lumMod val="0"/>
            <a:lumOff val="100000"/>
          </a:srgbClr>
        </a:gs>
        <a:gs pos="100000">
          <a:srgbClr val="5B9BD5">
            <a:lumMod val="100000"/>
          </a:srgbClr>
        </a:gs>
      </a:gsLst>
      <a:path path="circle">
        <a:fillToRect l="50000" t="-80000" r="50000" b="180000"/>
      </a:path>
    </a:gradFill>
    <a:ln w="28575" cap="flat" cmpd="sng" algn="ctr">
      <a:solidFill>
        <a:srgbClr val="0070C0"/>
      </a:solidFill>
      <a:round/>
    </a:ln>
    <a:effectLst/>
  </c:spPr>
  <c:txPr>
    <a:bodyPr/>
    <a:lstStyle/>
    <a:p>
      <a:pPr>
        <a:defRPr sz="2000" b="1"/>
      </a:pPr>
      <a:endParaRPr lang="ru-MD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2400">
                <a:solidFill>
                  <a:srgbClr val="002060"/>
                </a:solidFill>
              </a:defRPr>
            </a:pPr>
            <a:r>
              <a:rPr lang="ru-RU" sz="2800" baseline="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начальное  звено</a:t>
            </a:r>
            <a:endParaRPr lang="ru-RU" sz="2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c:rich>
      </c:tx>
      <c:layout>
        <c:manualLayout>
          <c:xMode val="edge"/>
          <c:yMode val="edge"/>
          <c:x val="0.27439738951549975"/>
          <c:y val="0.13490658591493299"/>
        </c:manualLayout>
      </c:layout>
      <c:overlay val="0"/>
      <c:spPr>
        <a:solidFill>
          <a:schemeClr val="accent4">
            <a:lumMod val="20000"/>
            <a:lumOff val="80000"/>
          </a:schemeClr>
        </a:solidFill>
      </c:spPr>
    </c:title>
    <c:autoTitleDeleted val="0"/>
    <c:plotArea>
      <c:layout>
        <c:manualLayout>
          <c:layoutTarget val="inner"/>
          <c:xMode val="edge"/>
          <c:yMode val="edge"/>
          <c:x val="2.4774774774774775E-2"/>
          <c:y val="0.43232755339293599"/>
          <c:w val="0.9504504504504504"/>
          <c:h val="0.30705133506683491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ln>
              <a:solidFill>
                <a:srgbClr val="002060"/>
              </a:solidFill>
            </a:ln>
          </c:spPr>
          <c:marker>
            <c:symbol val="diamond"/>
            <c:size val="10"/>
          </c:marker>
          <c:dLbls>
            <c:dLbl>
              <c:idx val="1"/>
              <c:layout>
                <c:manualLayout>
                  <c:x val="-5.7056250063227634E-2"/>
                  <c:y val="-8.578607113527660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49F-4BF6-9902-01EAAE1F804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 b="1">
                    <a:solidFill>
                      <a:srgbClr val="FF0000"/>
                    </a:solidFill>
                  </a:defRPr>
                </a:pPr>
                <a:endParaRPr lang="ru-MD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Лист1!$B$2:$B$5</c:f>
              <c:numCache>
                <c:formatCode>0%</c:formatCode>
                <c:ptCount val="4"/>
                <c:pt idx="0">
                  <c:v>0.25219999999999998</c:v>
                </c:pt>
                <c:pt idx="1">
                  <c:v>0.28570000000000001</c:v>
                </c:pt>
                <c:pt idx="2">
                  <c:v>0.26419999999999999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49F-4BF6-9902-01EAAE1F804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Лист1!$C$2:$C$5</c:f>
            </c:numRef>
          </c:val>
          <c:smooth val="0"/>
          <c:extLst>
            <c:ext xmlns:c16="http://schemas.microsoft.com/office/drawing/2014/chart" uri="{C3380CC4-5D6E-409C-BE32-E72D297353CC}">
              <c16:uniqueId val="{00000002-749F-4BF6-9902-01EAAE1F804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Лист1!$D$2:$D$5</c:f>
            </c:numRef>
          </c:val>
          <c:smooth val="0"/>
          <c:extLst>
            <c:ext xmlns:c16="http://schemas.microsoft.com/office/drawing/2014/chart" uri="{C3380CC4-5D6E-409C-BE32-E72D297353CC}">
              <c16:uniqueId val="{00000003-749F-4BF6-9902-01EAAE1F804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6383104"/>
        <c:axId val="196384640"/>
      </c:lineChart>
      <c:catAx>
        <c:axId val="1963831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defRPr>
            </a:pPr>
            <a:endParaRPr lang="ru-MD"/>
          </a:p>
        </c:txPr>
        <c:crossAx val="196384640"/>
        <c:crosses val="autoZero"/>
        <c:auto val="1"/>
        <c:lblAlgn val="ctr"/>
        <c:lblOffset val="100"/>
        <c:noMultiLvlLbl val="0"/>
      </c:catAx>
      <c:valAx>
        <c:axId val="196384640"/>
        <c:scaling>
          <c:orientation val="minMax"/>
        </c:scaling>
        <c:delete val="1"/>
        <c:axPos val="l"/>
        <c:majorGridlines>
          <c:spPr>
            <a:ln>
              <a:gradFill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a:ln>
          </c:spPr>
        </c:majorGridlines>
        <c:numFmt formatCode="0%" sourceLinked="1"/>
        <c:majorTickMark val="out"/>
        <c:minorTickMark val="none"/>
        <c:tickLblPos val="none"/>
        <c:crossAx val="196383104"/>
        <c:crosses val="autoZero"/>
        <c:crossBetween val="between"/>
        <c:majorUnit val="0.05"/>
      </c:valAx>
      <c:spPr>
        <a:solidFill>
          <a:srgbClr val="9BBB59">
            <a:lumMod val="20000"/>
            <a:lumOff val="80000"/>
          </a:srgbClr>
        </a:solidFill>
      </c:spPr>
    </c:plotArea>
    <c:plotVisOnly val="1"/>
    <c:dispBlanksAs val="gap"/>
    <c:showDLblsOverMax val="0"/>
  </c:chart>
  <c:spPr>
    <a:gradFill>
      <a:gsLst>
        <a:gs pos="0">
          <a:srgbClr val="5B9BD5">
            <a:lumMod val="0"/>
            <a:lumOff val="100000"/>
          </a:srgbClr>
        </a:gs>
        <a:gs pos="35000">
          <a:srgbClr val="5B9BD5">
            <a:lumMod val="0"/>
            <a:lumOff val="100000"/>
          </a:srgbClr>
        </a:gs>
        <a:gs pos="100000">
          <a:srgbClr val="5B9BD5">
            <a:lumMod val="100000"/>
          </a:srgbClr>
        </a:gs>
      </a:gsLst>
      <a:path path="circle">
        <a:fillToRect l="50000" t="-80000" r="50000" b="180000"/>
      </a:path>
    </a:gradFill>
    <a:ln w="28575">
      <a:solidFill>
        <a:srgbClr val="0070C0"/>
      </a:solidFill>
    </a:ln>
  </c:sp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Начальное</a:t>
            </a:r>
            <a:r>
              <a:rPr lang="ru-RU" sz="2400" b="1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звено</a:t>
            </a:r>
            <a:endParaRPr lang="ru-MD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31073557722853135"/>
          <c:y val="6.64640809414141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MD"/>
        </a:p>
      </c:txPr>
    </c:title>
    <c:autoTitleDeleted val="0"/>
    <c:plotArea>
      <c:layout>
        <c:manualLayout>
          <c:layoutTarget val="inner"/>
          <c:xMode val="edge"/>
          <c:yMode val="edge"/>
          <c:x val="7.2898825603004008E-2"/>
          <c:y val="0.18732619101891956"/>
          <c:w val="0.8936461865624461"/>
          <c:h val="0.60262874024722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0413625304136255E-3"/>
                  <c:y val="1.3676772281741509E-2"/>
                </c:manualLayout>
              </c:layout>
              <c:tx>
                <c:rich>
                  <a:bodyPr/>
                  <a:lstStyle/>
                  <a:p>
                    <a:fld id="{600F394B-111C-4DF4-A716-773F108FFBCB}" type="VALUE">
                      <a:rPr lang="en-US" sz="16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3205-4B42-A5F3-ACE06E0DA633}"/>
                </c:ext>
              </c:extLst>
            </c:dLbl>
            <c:dLbl>
              <c:idx val="1"/>
              <c:layout>
                <c:manualLayout>
                  <c:x val="-3.2437177868476996E-2"/>
                  <c:y val="0"/>
                </c:manualLayout>
              </c:layout>
              <c:tx>
                <c:rich>
                  <a:bodyPr/>
                  <a:lstStyle/>
                  <a:p>
                    <a:fld id="{50D531F7-5353-4358-B00F-1E96019166D6}" type="VALUE">
                      <a:rPr lang="en-US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3205-4B42-A5F3-ACE06E0DA633}"/>
                </c:ext>
              </c:extLst>
            </c:dLbl>
            <c:dLbl>
              <c:idx val="2"/>
              <c:layout>
                <c:manualLayout>
                  <c:x val="-1.2165450121654502E-2"/>
                  <c:y val="0"/>
                </c:manualLayout>
              </c:layout>
              <c:tx>
                <c:rich>
                  <a:bodyPr/>
                  <a:lstStyle/>
                  <a:p>
                    <a:fld id="{EB4AD09A-8B3C-4CBA-89F5-EE9AAED04BBE}" type="VALUE">
                      <a:rPr lang="en-US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3205-4B42-A5F3-ACE06E0DA633}"/>
                </c:ext>
              </c:extLst>
            </c:dLbl>
            <c:dLbl>
              <c:idx val="3"/>
              <c:layout>
                <c:manualLayout>
                  <c:x val="-1.2165450121654502E-2"/>
                  <c:y val="0"/>
                </c:manualLayout>
              </c:layout>
              <c:tx>
                <c:rich>
                  <a:bodyPr/>
                  <a:lstStyle/>
                  <a:p>
                    <a:fld id="{C3E4EB3C-845D-4648-8D7E-53FFA1752180}" type="VALUE">
                      <a:rPr lang="en-US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205-4B42-A5F3-ACE06E0DA6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рус</c:v>
                </c:pt>
                <c:pt idx="1">
                  <c:v>рум</c:v>
                </c:pt>
                <c:pt idx="2">
                  <c:v>мат</c:v>
                </c:pt>
                <c:pt idx="3">
                  <c:v>гаг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37.5</c:v>
                </c:pt>
                <c:pt idx="1">
                  <c:v>24.24</c:v>
                </c:pt>
                <c:pt idx="2">
                  <c:v>18.75</c:v>
                </c:pt>
                <c:pt idx="3">
                  <c:v>24.24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205-4B42-A5F3-ACE06E0DA633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824817518248175E-2"/>
                  <c:y val="4.5589240939137949E-3"/>
                </c:manualLayout>
              </c:layout>
              <c:tx>
                <c:rich>
                  <a:bodyPr/>
                  <a:lstStyle/>
                  <a:p>
                    <a:fld id="{7071CC7D-EB01-49FD-BCBF-5A472244A223}" type="VALUE">
                      <a:rPr lang="en-US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3205-4B42-A5F3-ACE06E0DA633}"/>
                </c:ext>
              </c:extLst>
            </c:dLbl>
            <c:dLbl>
              <c:idx val="1"/>
              <c:layout>
                <c:manualLayout>
                  <c:x val="2.1287137405006616E-2"/>
                  <c:y val="5.7570523891767415E-3"/>
                </c:manualLayout>
              </c:layout>
              <c:tx>
                <c:rich>
                  <a:bodyPr/>
                  <a:lstStyle/>
                  <a:p>
                    <a:fld id="{D8908B77-8AA6-4619-BCD6-854B5D7C78CF}" type="VALUE">
                      <a:rPr lang="en-US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3205-4B42-A5F3-ACE06E0DA63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ACFCBFD8-0AD6-42B8-9E9D-31813A18E7DC}" type="VALUE">
                      <a:rPr lang="en-US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3205-4B42-A5F3-ACE06E0DA63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54B202C2-7072-46EB-B8F5-1ACCE201D09A}" type="VALUE">
                      <a:rPr lang="en-US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3205-4B42-A5F3-ACE06E0DA6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рус</c:v>
                </c:pt>
                <c:pt idx="1">
                  <c:v>рум</c:v>
                </c:pt>
                <c:pt idx="2">
                  <c:v>мат</c:v>
                </c:pt>
                <c:pt idx="3">
                  <c:v>гаг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31.43</c:v>
                </c:pt>
                <c:pt idx="1">
                  <c:v>22.86</c:v>
                </c:pt>
                <c:pt idx="2">
                  <c:v>28.57</c:v>
                </c:pt>
                <c:pt idx="3">
                  <c:v>31.43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3205-4B42-A5F3-ACE06E0DA633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Столбец1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рус</c:v>
                </c:pt>
                <c:pt idx="1">
                  <c:v>рум</c:v>
                </c:pt>
                <c:pt idx="2">
                  <c:v>мат</c:v>
                </c:pt>
                <c:pt idx="3">
                  <c:v>гаг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A-3205-4B42-A5F3-ACE06E0DA63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48426015"/>
        <c:axId val="562255583"/>
      </c:barChart>
      <c:catAx>
        <c:axId val="5484260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ru-MD"/>
          </a:p>
        </c:txPr>
        <c:crossAx val="562255583"/>
        <c:crosses val="autoZero"/>
        <c:auto val="1"/>
        <c:lblAlgn val="ctr"/>
        <c:lblOffset val="100"/>
        <c:noMultiLvlLbl val="0"/>
      </c:catAx>
      <c:valAx>
        <c:axId val="56225558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48426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ayout>
        <c:manualLayout>
          <c:xMode val="edge"/>
          <c:yMode val="edge"/>
          <c:x val="0.31111369454802329"/>
          <c:y val="0.89951521083057717"/>
          <c:w val="0.36796241691509179"/>
          <c:h val="0.100484789169422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ru-MD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>
      <a:gsLst>
        <a:gs pos="0">
          <a:schemeClr val="accent1">
            <a:lumMod val="0"/>
            <a:lumOff val="100000"/>
          </a:schemeClr>
        </a:gs>
        <a:gs pos="35000">
          <a:schemeClr val="accent1">
            <a:lumMod val="0"/>
            <a:lumOff val="100000"/>
          </a:schemeClr>
        </a:gs>
        <a:gs pos="100000">
          <a:schemeClr val="accent1">
            <a:lumMod val="100000"/>
          </a:schemeClr>
        </a:gs>
      </a:gsLst>
      <a:path path="circle">
        <a:fillToRect l="50000" t="-80000" r="50000" b="180000"/>
      </a:path>
    </a:gradFill>
    <a:ln w="28575" cap="flat" cmpd="sng" algn="ctr">
      <a:solidFill>
        <a:srgbClr val="0070C0"/>
      </a:solidFill>
      <a:round/>
    </a:ln>
    <a:effectLst/>
  </c:spPr>
  <c:txPr>
    <a:bodyPr/>
    <a:lstStyle/>
    <a:p>
      <a:pPr>
        <a:defRPr/>
      </a:pPr>
      <a:endParaRPr lang="ru-MD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Гимназический цикл</a:t>
            </a:r>
            <a:endParaRPr lang="ru-MD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24704909639595135"/>
          <c:y val="5.820512094291310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MD"/>
        </a:p>
      </c:txPr>
    </c:title>
    <c:autoTitleDeleted val="0"/>
    <c:plotArea>
      <c:layout>
        <c:manualLayout>
          <c:layoutTarget val="inner"/>
          <c:xMode val="edge"/>
          <c:yMode val="edge"/>
          <c:x val="3.3015969850613572E-2"/>
          <c:y val="0.21453160987520303"/>
          <c:w val="0.93947072194054182"/>
          <c:h val="0.564036670825774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9-А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0012748678638014E-2"/>
                  <c:y val="1.332213015616264E-2"/>
                </c:manualLayout>
              </c:layout>
              <c:tx>
                <c:rich>
                  <a:bodyPr/>
                  <a:lstStyle/>
                  <a:p>
                    <a:fld id="{E852FC71-3886-40EF-840F-FF9AB37ADB62}" type="VALUE">
                      <a:rPr lang="en-US" sz="1600" b="1">
                        <a:solidFill>
                          <a:srgbClr val="FF0000"/>
                        </a:solidFill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D7ED-4B73-ADD1-5B9CB7AB9A2D}"/>
                </c:ext>
              </c:extLst>
            </c:dLbl>
            <c:dLbl>
              <c:idx val="1"/>
              <c:layout>
                <c:manualLayout>
                  <c:x val="-2.0669698222405952E-2"/>
                  <c:y val="1.9659239842726023E-2"/>
                </c:manualLayout>
              </c:layout>
              <c:tx>
                <c:rich>
                  <a:bodyPr/>
                  <a:lstStyle/>
                  <a:p>
                    <a:fld id="{EE265E3E-4EF7-4E94-9DFE-CAC2B02E6477}" type="VALUE">
                      <a:rPr lang="en-US" sz="1600" b="1">
                        <a:solidFill>
                          <a:srgbClr val="FF0000"/>
                        </a:solidFill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D7ED-4B73-ADD1-5B9CB7AB9A2D}"/>
                </c:ext>
              </c:extLst>
            </c:dLbl>
            <c:dLbl>
              <c:idx val="2"/>
              <c:layout>
                <c:manualLayout>
                  <c:x val="-1.6535758577924838E-2"/>
                  <c:y val="1.310615989515072E-2"/>
                </c:manualLayout>
              </c:layout>
              <c:tx>
                <c:rich>
                  <a:bodyPr/>
                  <a:lstStyle/>
                  <a:p>
                    <a:fld id="{E0711C5B-4500-4003-8787-2599B7F0FFAC}" type="VALUE">
                      <a:rPr lang="en-US" sz="1600" b="1">
                        <a:solidFill>
                          <a:srgbClr val="FF0000"/>
                        </a:solidFill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D7ED-4B73-ADD1-5B9CB7AB9A2D}"/>
                </c:ext>
              </c:extLst>
            </c:dLbl>
            <c:dLbl>
              <c:idx val="3"/>
              <c:layout>
                <c:manualLayout>
                  <c:x val="-1.6535758577924761E-2"/>
                  <c:y val="6.5530799475753002E-3"/>
                </c:manualLayout>
              </c:layout>
              <c:tx>
                <c:rich>
                  <a:bodyPr/>
                  <a:lstStyle/>
                  <a:p>
                    <a:fld id="{AB1B6B1F-3912-447A-9230-0B6F0636BE85}" type="VALUE">
                      <a:rPr lang="en-US" sz="1600" b="1">
                        <a:solidFill>
                          <a:srgbClr val="FF0000"/>
                        </a:solidFill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7ED-4B73-ADD1-5B9CB7AB9A2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рум.яз.</c:v>
                </c:pt>
                <c:pt idx="1">
                  <c:v>матем.</c:v>
                </c:pt>
                <c:pt idx="2">
                  <c:v>рус.яз.</c:v>
                </c:pt>
                <c:pt idx="3">
                  <c:v>история рум.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23.52</c:v>
                </c:pt>
                <c:pt idx="1">
                  <c:v>41.17</c:v>
                </c:pt>
                <c:pt idx="2">
                  <c:v>23.52</c:v>
                </c:pt>
                <c:pt idx="3">
                  <c:v>35.29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7ED-4B73-ADD1-5B9CB7AB9A2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9-Б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7205456800330737E-2"/>
                  <c:y val="-6.55307994757536E-3"/>
                </c:manualLayout>
              </c:layout>
              <c:tx>
                <c:rich>
                  <a:bodyPr/>
                  <a:lstStyle/>
                  <a:p>
                    <a:fld id="{A06F8B1F-3EAA-49B4-BC01-ECC7BB05577A}" type="VALUE">
                      <a:rPr lang="en-US" sz="1600" b="1">
                        <a:solidFill>
                          <a:srgbClr val="FF0000"/>
                        </a:solidFill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D7ED-4B73-ADD1-5B9CB7AB9A2D}"/>
                </c:ext>
              </c:extLst>
            </c:dLbl>
            <c:dLbl>
              <c:idx val="1"/>
              <c:layout>
                <c:manualLayout>
                  <c:x val="2.0669698222405952E-2"/>
                  <c:y val="6.55307994757536E-3"/>
                </c:manualLayout>
              </c:layout>
              <c:tx>
                <c:rich>
                  <a:bodyPr/>
                  <a:lstStyle/>
                  <a:p>
                    <a:fld id="{2692968C-A5F9-469C-8302-425A8D2223D2}" type="VALUE">
                      <a:rPr lang="en-US" sz="1400" b="1">
                        <a:solidFill>
                          <a:srgbClr val="FF0000"/>
                        </a:solidFill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D7ED-4B73-ADD1-5B9CB7AB9A2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A8751E0-2DCC-4BB8-9652-0624777C749E}" type="VALUE">
                      <a:rPr lang="en-US" sz="1600" b="1">
                        <a:solidFill>
                          <a:srgbClr val="FF0000"/>
                        </a:solidFill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D7ED-4B73-ADD1-5B9CB7AB9A2D}"/>
                </c:ext>
              </c:extLst>
            </c:dLbl>
            <c:dLbl>
              <c:idx val="3"/>
              <c:layout>
                <c:manualLayout>
                  <c:x val="0"/>
                  <c:y val="1.310615989515072E-2"/>
                </c:manualLayout>
              </c:layout>
              <c:tx>
                <c:rich>
                  <a:bodyPr/>
                  <a:lstStyle/>
                  <a:p>
                    <a:fld id="{0F7AD4B8-5EE7-485C-8D5D-828BB9437509}" type="VALUE">
                      <a:rPr lang="en-US" sz="1600" b="1">
                        <a:solidFill>
                          <a:srgbClr val="FF0000"/>
                        </a:solidFill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D7ED-4B73-ADD1-5B9CB7AB9A2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рум.яз.</c:v>
                </c:pt>
                <c:pt idx="1">
                  <c:v>матем.</c:v>
                </c:pt>
                <c:pt idx="2">
                  <c:v>рус.яз.</c:v>
                </c:pt>
                <c:pt idx="3">
                  <c:v>история рум.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26.31</c:v>
                </c:pt>
                <c:pt idx="1">
                  <c:v>47.36</c:v>
                </c:pt>
                <c:pt idx="2">
                  <c:v>36.840000000000003</c:v>
                </c:pt>
                <c:pt idx="3">
                  <c:v>47.36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7ED-4B73-ADD1-5B9CB7AB9A2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Столбец1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рум.яз.</c:v>
                </c:pt>
                <c:pt idx="1">
                  <c:v>матем.</c:v>
                </c:pt>
                <c:pt idx="2">
                  <c:v>рус.яз.</c:v>
                </c:pt>
                <c:pt idx="3">
                  <c:v>история рум.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A-D7ED-4B73-ADD1-5B9CB7AB9A2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03017359"/>
        <c:axId val="887273647"/>
      </c:barChart>
      <c:catAx>
        <c:axId val="4030173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ru-MD"/>
          </a:p>
        </c:txPr>
        <c:crossAx val="887273647"/>
        <c:crosses val="autoZero"/>
        <c:auto val="1"/>
        <c:lblAlgn val="ctr"/>
        <c:lblOffset val="100"/>
        <c:noMultiLvlLbl val="0"/>
      </c:catAx>
      <c:valAx>
        <c:axId val="887273647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4030173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ayout>
        <c:manualLayout>
          <c:xMode val="edge"/>
          <c:yMode val="edge"/>
          <c:x val="0.36087869598316741"/>
          <c:y val="0.90756041376228491"/>
          <c:w val="0.2731687058493103"/>
          <c:h val="9.2439586237715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ru-MD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>
      <a:gsLst>
        <a:gs pos="0">
          <a:schemeClr val="accent1">
            <a:lumMod val="0"/>
            <a:lumOff val="100000"/>
          </a:schemeClr>
        </a:gs>
        <a:gs pos="35000">
          <a:schemeClr val="accent1">
            <a:lumMod val="0"/>
            <a:lumOff val="100000"/>
          </a:schemeClr>
        </a:gs>
        <a:gs pos="100000">
          <a:schemeClr val="accent1">
            <a:lumMod val="100000"/>
          </a:schemeClr>
        </a:gs>
      </a:gsLst>
      <a:path path="circle">
        <a:fillToRect l="50000" t="-80000" r="50000" b="180000"/>
      </a:path>
    </a:gradFill>
    <a:ln w="28575" cap="flat" cmpd="sng" algn="ctr">
      <a:solidFill>
        <a:srgbClr val="0070C0"/>
      </a:solidFill>
      <a:round/>
    </a:ln>
    <a:effectLst/>
  </c:spPr>
  <c:txPr>
    <a:bodyPr/>
    <a:lstStyle/>
    <a:p>
      <a:pPr>
        <a:defRPr/>
      </a:pPr>
      <a:endParaRPr lang="ru-MD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r>
              <a:rPr lang="ru-MD" sz="2400">
                <a:solidFill>
                  <a:srgbClr val="002060"/>
                </a:solidFill>
              </a:rPr>
              <a:t>Сравнительный анализ по экзаменам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ru-MD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ср.балл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2"/>
                <c:pt idx="0">
                  <c:v>9-А</c:v>
                </c:pt>
                <c:pt idx="1">
                  <c:v>9-Б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6.69</c:v>
                </c:pt>
                <c:pt idx="1">
                  <c:v>7.14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78-4BF6-93EB-86B34D09A13E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кач.зн.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2"/>
                <c:pt idx="0">
                  <c:v>9-А</c:v>
                </c:pt>
                <c:pt idx="1">
                  <c:v>9-Б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30.88</c:v>
                </c:pt>
                <c:pt idx="1">
                  <c:v>39.47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78-4BF6-93EB-86B34D09A13E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Столбец1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2"/>
                <c:pt idx="0">
                  <c:v>9-А</c:v>
                </c:pt>
                <c:pt idx="1">
                  <c:v>9-Б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B678-4BF6-93EB-86B34D09A1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239034208"/>
        <c:axId val="1205099424"/>
      </c:barChart>
      <c:catAx>
        <c:axId val="1239034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ru-MD"/>
          </a:p>
        </c:txPr>
        <c:crossAx val="1205099424"/>
        <c:crosses val="autoZero"/>
        <c:auto val="1"/>
        <c:lblAlgn val="ctr"/>
        <c:lblOffset val="100"/>
        <c:noMultiLvlLbl val="0"/>
      </c:catAx>
      <c:valAx>
        <c:axId val="12050994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239034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ru-MD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MD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r>
              <a:rPr lang="ru-MD" sz="2400" dirty="0">
                <a:solidFill>
                  <a:srgbClr val="002060"/>
                </a:solidFill>
              </a:rPr>
              <a:t>Итоги за год по 9 классам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ru-MD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ср.балл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2"/>
                <c:pt idx="0">
                  <c:v>9-А</c:v>
                </c:pt>
                <c:pt idx="1">
                  <c:v>9-Б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7.04</c:v>
                </c:pt>
                <c:pt idx="1">
                  <c:v>7.55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D6-4410-9836-F24BC817963F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кач.зн.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2"/>
                <c:pt idx="0">
                  <c:v>9-А</c:v>
                </c:pt>
                <c:pt idx="1">
                  <c:v>9-Б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30.88</c:v>
                </c:pt>
                <c:pt idx="1">
                  <c:v>48.68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D6-4410-9836-F24BC817963F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Столбец1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2"/>
                <c:pt idx="0">
                  <c:v>9-А</c:v>
                </c:pt>
                <c:pt idx="1">
                  <c:v>9-Б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78D6-4410-9836-F24BC817963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91316544"/>
        <c:axId val="1194436160"/>
      </c:barChart>
      <c:catAx>
        <c:axId val="1191316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ru-MD"/>
          </a:p>
        </c:txPr>
        <c:crossAx val="1194436160"/>
        <c:crosses val="autoZero"/>
        <c:auto val="1"/>
        <c:lblAlgn val="ctr"/>
        <c:lblOffset val="100"/>
        <c:noMultiLvlLbl val="0"/>
      </c:catAx>
      <c:valAx>
        <c:axId val="1194436160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91316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ru-MD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MD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MD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Гимназический</a:t>
            </a:r>
            <a:r>
              <a:rPr lang="ru-MD" sz="2800" b="1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MD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цикл</a:t>
            </a:r>
          </a:p>
        </c:rich>
      </c:tx>
      <c:layout>
        <c:manualLayout>
          <c:xMode val="edge"/>
          <c:yMode val="edge"/>
          <c:x val="0.38129630496095407"/>
          <c:y val="3.38298603739393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MD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ср.балл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7.6</c:v>
                </c:pt>
                <c:pt idx="1">
                  <c:v>7.57</c:v>
                </c:pt>
                <c:pt idx="2">
                  <c:v>7.42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54-449C-9814-89D447D61B0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кач.зн.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24.31</c:v>
                </c:pt>
                <c:pt idx="1">
                  <c:v>26.74</c:v>
                </c:pt>
                <c:pt idx="2">
                  <c:v>18.18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54-449C-9814-89D447D61B0A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Столбец1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Лист1!$D$2:$D$5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2054-449C-9814-89D447D61B0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0934464"/>
        <c:axId val="1728332496"/>
      </c:barChart>
      <c:catAx>
        <c:axId val="180934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ru-MD"/>
          </a:p>
        </c:txPr>
        <c:crossAx val="1728332496"/>
        <c:crosses val="autoZero"/>
        <c:auto val="1"/>
        <c:lblAlgn val="ctr"/>
        <c:lblOffset val="100"/>
        <c:noMultiLvlLbl val="0"/>
      </c:catAx>
      <c:valAx>
        <c:axId val="172833249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809344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ru-MD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accent1">
            <a:lumMod val="0"/>
            <a:lumOff val="100000"/>
          </a:schemeClr>
        </a:gs>
        <a:gs pos="35000">
          <a:schemeClr val="accent1">
            <a:lumMod val="0"/>
            <a:lumOff val="100000"/>
          </a:schemeClr>
        </a:gs>
        <a:gs pos="100000">
          <a:schemeClr val="accent1">
            <a:lumMod val="100000"/>
          </a:schemeClr>
        </a:gs>
      </a:gsLst>
      <a:path path="circle">
        <a:fillToRect l="50000" t="-80000" r="50000" b="180000"/>
      </a:path>
      <a:tileRect/>
    </a:gradFill>
    <a:ln w="28575" cap="flat" cmpd="sng" algn="ctr">
      <a:solidFill>
        <a:srgbClr val="0070C0"/>
      </a:solidFill>
      <a:round/>
    </a:ln>
    <a:effectLst/>
  </c:spPr>
  <c:txPr>
    <a:bodyPr/>
    <a:lstStyle/>
    <a:p>
      <a:pPr>
        <a:defRPr/>
      </a:pPr>
      <a:endParaRPr lang="ru-MD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ln w="19050">
              <a:solidFill>
                <a:schemeClr val="bg1"/>
              </a:solidFill>
            </a:ln>
          </c:spPr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E20-4F36-B3FF-2A0C62EA5C4E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E20-4F36-B3FF-2A0C62EA5C4E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E20-4F36-B3FF-2A0C62EA5C4E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E20-4F36-B3FF-2A0C62EA5C4E}"/>
              </c:ext>
            </c:extLst>
          </c:dPt>
          <c:dLbls>
            <c:dLbl>
              <c:idx val="0"/>
              <c:layout>
                <c:manualLayout>
                  <c:x val="-3.4644210023887574E-2"/>
                  <c:y val="0.15034494712002738"/>
                </c:manualLayout>
              </c:layout>
              <c:tx>
                <c:rich>
                  <a:bodyPr/>
                  <a:lstStyle/>
                  <a:p>
                    <a:fld id="{19D5EF28-C585-44E8-BE45-DF955BDC7A60}" type="VALUE">
                      <a:rPr lang="en-US" sz="2000" b="1" i="1"/>
                      <a:pPr/>
                      <a:t>[ЗНАЧЕНИЕ]</a:t>
                    </a:fld>
                    <a:endParaRPr lang="ru-MD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E20-4F36-B3FF-2A0C62EA5C4E}"/>
                </c:ext>
              </c:extLst>
            </c:dLbl>
            <c:dLbl>
              <c:idx val="1"/>
              <c:layout>
                <c:manualLayout>
                  <c:x val="-0.106258944870323"/>
                  <c:y val="-0.23568816472438622"/>
                </c:manualLayout>
              </c:layout>
              <c:tx>
                <c:rich>
                  <a:bodyPr/>
                  <a:lstStyle/>
                  <a:p>
                    <a:fld id="{8E538994-8ABC-4909-9713-FA8F528649AD}" type="VALUE">
                      <a:rPr lang="en-US" sz="2000" b="1" i="1">
                        <a:solidFill>
                          <a:srgbClr val="002060"/>
                        </a:solidFill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E20-4F36-B3FF-2A0C62EA5C4E}"/>
                </c:ext>
              </c:extLst>
            </c:dLbl>
            <c:dLbl>
              <c:idx val="2"/>
              <c:layout>
                <c:manualLayout>
                  <c:x val="8.7471659908526039E-2"/>
                  <c:y val="0.16607720766529291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000" b="1" i="0" u="none" strike="noStrike" kern="1200" baseline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3D6238F3-CBC2-4FA8-99D2-10FA01E5C42F}" type="VALUE">
                      <a:rPr lang="en-US" sz="2000" b="1" i="1">
                        <a:solidFill>
                          <a:srgbClr val="002060"/>
                        </a:solidFill>
                      </a:rPr>
                      <a:pPr>
                        <a:defRPr sz="2000" b="1"/>
                      </a:pPr>
                      <a:t>[ЗНАЧЕНИЕ]</a:t>
                    </a:fld>
                    <a:endParaRPr lang="ru-MD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MD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E20-4F36-B3FF-2A0C62EA5C4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1 дид. кат.</c:v>
                </c:pt>
                <c:pt idx="1">
                  <c:v>2 дид.кат.</c:v>
                </c:pt>
                <c:pt idx="2">
                  <c:v>Без дид. кат.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</c:v>
                </c:pt>
                <c:pt idx="1">
                  <c:v>22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E20-4F36-B3FF-2A0C62EA5C4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4.5047460403841909E-2"/>
          <c:y val="0.90567823495790334"/>
          <c:w val="0.89999982451320448"/>
          <c:h val="9.43217650420966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ru-MD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MD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E6D-44E7-9245-87A1B5BA1616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E6D-44E7-9245-87A1B5BA1616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E6D-44E7-9245-87A1B5BA1616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E6D-44E7-9245-87A1B5BA1616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E6D-44E7-9245-87A1B5BA1616}"/>
              </c:ext>
            </c:extLst>
          </c:dPt>
          <c:dPt>
            <c:idx val="5"/>
            <c:bubble3D val="0"/>
            <c:explosion val="1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9E6D-44E7-9245-87A1B5BA1616}"/>
              </c:ext>
            </c:extLst>
          </c:dPt>
          <c:dLbls>
            <c:dLbl>
              <c:idx val="0"/>
              <c:layout>
                <c:manualLayout>
                  <c:x val="-1.0669135078583967E-2"/>
                  <c:y val="0.10220294029977393"/>
                </c:manualLayout>
              </c:layout>
              <c:tx>
                <c:rich>
                  <a:bodyPr/>
                  <a:lstStyle/>
                  <a:p>
                    <a:fld id="{A826B30A-CFD2-467E-856C-96482B9D93E7}" type="VALUE">
                      <a:rPr lang="en-US" sz="2000" b="1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E6D-44E7-9245-87A1B5BA1616}"/>
                </c:ext>
              </c:extLst>
            </c:dLbl>
            <c:dLbl>
              <c:idx val="1"/>
              <c:layout>
                <c:manualLayout>
                  <c:x val="-5.449285860132249E-2"/>
                  <c:y val="8.7825022863318919E-2"/>
                </c:manualLayout>
              </c:layout>
              <c:tx>
                <c:rich>
                  <a:bodyPr/>
                  <a:lstStyle/>
                  <a:p>
                    <a:fld id="{0428970B-E69A-416C-98AA-D89BC6C79522}" type="VALUE">
                      <a:rPr lang="en-US" sz="2000" b="1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E6D-44E7-9245-87A1B5BA1616}"/>
                </c:ext>
              </c:extLst>
            </c:dLbl>
            <c:dLbl>
              <c:idx val="2"/>
              <c:layout>
                <c:manualLayout>
                  <c:x val="-5.5624469326493987E-2"/>
                  <c:y val="2.0175060276022613E-2"/>
                </c:manualLayout>
              </c:layout>
              <c:tx>
                <c:rich>
                  <a:bodyPr/>
                  <a:lstStyle/>
                  <a:p>
                    <a:fld id="{0F8A456C-6357-43E7-83CC-7C19C270F62A}" type="VALUE">
                      <a:rPr lang="en-US" sz="2000" b="1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9E6D-44E7-9245-87A1B5BA1616}"/>
                </c:ext>
              </c:extLst>
            </c:dLbl>
            <c:dLbl>
              <c:idx val="3"/>
              <c:layout>
                <c:manualLayout>
                  <c:x val="-6.9273830762848737E-2"/>
                  <c:y val="-5.5518893415364753E-3"/>
                </c:manualLayout>
              </c:layout>
              <c:tx>
                <c:rich>
                  <a:bodyPr/>
                  <a:lstStyle/>
                  <a:p>
                    <a:fld id="{DDD5FC94-BC31-4F28-B270-045E5CEF7109}" type="VALUE">
                      <a:rPr lang="en-US" sz="2000" b="1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9E6D-44E7-9245-87A1B5BA1616}"/>
                </c:ext>
              </c:extLst>
            </c:dLbl>
            <c:dLbl>
              <c:idx val="4"/>
              <c:layout>
                <c:manualLayout>
                  <c:x val="-5.4883674519633732E-2"/>
                  <c:y val="-9.4886151064183577E-2"/>
                </c:manualLayout>
              </c:layout>
              <c:tx>
                <c:rich>
                  <a:bodyPr/>
                  <a:lstStyle/>
                  <a:p>
                    <a:fld id="{4CAB2FD5-AE08-4AF4-BA91-C1B3A2C3DA37}" type="VALUE">
                      <a:rPr lang="en-US" sz="1600" b="1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9E6D-44E7-9245-87A1B5BA1616}"/>
                </c:ext>
              </c:extLst>
            </c:dLbl>
            <c:dLbl>
              <c:idx val="5"/>
              <c:layout>
                <c:manualLayout>
                  <c:x val="8.0604905432710788E-2"/>
                  <c:y val="-4.3894974226804183E-2"/>
                </c:manualLayout>
              </c:layout>
              <c:tx>
                <c:rich>
                  <a:bodyPr/>
                  <a:lstStyle/>
                  <a:p>
                    <a:fld id="{1B6F49D5-1CB5-4613-B266-3E43BB013304}" type="VALUE">
                      <a:rPr lang="en-US" sz="2000" b="1">
                        <a:solidFill>
                          <a:srgbClr val="002060"/>
                        </a:solidFill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9E6D-44E7-9245-87A1B5BA161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Лист1!$A$2:$A$7</c:f>
              <c:strCache>
                <c:ptCount val="6"/>
                <c:pt idx="0">
                  <c:v>до 2 лет</c:v>
                </c:pt>
                <c:pt idx="1">
                  <c:v>2-5 лет</c:v>
                </c:pt>
                <c:pt idx="2">
                  <c:v>5- 10 лет</c:v>
                </c:pt>
                <c:pt idx="3">
                  <c:v>10-15 лет</c:v>
                </c:pt>
                <c:pt idx="4">
                  <c:v>15- 20 лет</c:v>
                </c:pt>
                <c:pt idx="5">
                  <c:v>20 и более</c:v>
                </c:pt>
              </c:strCache>
            </c:strRef>
          </c:cat>
          <c:val>
            <c:numRef>
              <c:f>Лист1!$B$2:$B$7</c:f>
              <c:numCache>
                <c:formatCode>General</c:formatCode>
                <c:ptCount val="6"/>
                <c:pt idx="0">
                  <c:v>1</c:v>
                </c:pt>
                <c:pt idx="1">
                  <c:v>5</c:v>
                </c:pt>
                <c:pt idx="2">
                  <c:v>1</c:v>
                </c:pt>
                <c:pt idx="3">
                  <c:v>3</c:v>
                </c:pt>
                <c:pt idx="4">
                  <c:v>4</c:v>
                </c:pt>
                <c:pt idx="5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E6D-44E7-9245-87A1B5BA1616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1618019512318054"/>
          <c:y val="0.81466580775882969"/>
          <c:w val="0.56036573282305469"/>
          <c:h val="0.1493794042437538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ru-MD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MD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2.1223818873590098E-2"/>
          <c:y val="4.6635125735826698E-2"/>
          <c:w val="0.95330759847810176"/>
          <c:h val="0.78776458319244369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1-место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delete val="1"/>
          </c:dLbls>
          <c:cat>
            <c:strRef>
              <c:f>Лист1!$A$2:$A$5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Итого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B3-45E8-8298-4F9E29AFE8E6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2-место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  <a:sp3d/>
          </c:spPr>
          <c:invertIfNegative val="0"/>
          <c:dLbls>
            <c:delete val="1"/>
          </c:dLbls>
          <c:cat>
            <c:strRef>
              <c:f>Лист1!$A$2:$A$5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Итого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B3-45E8-8298-4F9E29AFE8E6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3-место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  <a:sp3d/>
          </c:spPr>
          <c:invertIfNegative val="0"/>
          <c:dLbls>
            <c:delete val="1"/>
          </c:dLbls>
          <c:cat>
            <c:strRef>
              <c:f>Лист1!$A$2:$A$5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Итого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B3-45E8-8298-4F9E29AFE8E6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Итого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1.5629482787356437E-2"/>
                  <c:y val="-0.12342656232090611"/>
                </c:manualLayout>
              </c:layout>
              <c:tx>
                <c:rich>
                  <a:bodyPr/>
                  <a:lstStyle/>
                  <a:p>
                    <a:fld id="{8E6766AB-6D09-47D6-9B0B-7B2C189887F0}" type="VALUE">
                      <a:rPr lang="en-US" b="1">
                        <a:solidFill>
                          <a:srgbClr val="FF0000"/>
                        </a:solidFill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5EB3-45E8-8298-4F9E29AFE8E6}"/>
                </c:ext>
              </c:extLst>
            </c:dLbl>
            <c:dLbl>
              <c:idx val="1"/>
              <c:layout>
                <c:manualLayout>
                  <c:x val="1.1057827124460903E-2"/>
                  <c:y val="-0.13658025964915196"/>
                </c:manualLayout>
              </c:layout>
              <c:tx>
                <c:rich>
                  <a:bodyPr/>
                  <a:lstStyle/>
                  <a:p>
                    <a:fld id="{5C921F10-F488-404C-9CA7-2148DCC4076C}" type="VALUE">
                      <a:rPr lang="en-US" b="1">
                        <a:solidFill>
                          <a:srgbClr val="FF0000"/>
                        </a:solidFill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5EB3-45E8-8298-4F9E29AFE8E6}"/>
                </c:ext>
              </c:extLst>
            </c:dLbl>
            <c:dLbl>
              <c:idx val="2"/>
              <c:layout>
                <c:manualLayout>
                  <c:x val="8.7719992930132499E-3"/>
                  <c:y val="-0.1220072749267743"/>
                </c:manualLayout>
              </c:layout>
              <c:tx>
                <c:rich>
                  <a:bodyPr/>
                  <a:lstStyle/>
                  <a:p>
                    <a:fld id="{D3724D4A-7B2A-4C1B-BC6D-3F4CBCB5B38B}" type="VALUE">
                      <a:rPr lang="en-US" b="1">
                        <a:solidFill>
                          <a:srgbClr val="FF0000"/>
                        </a:solidFill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5EB3-45E8-8298-4F9E29AFE8E6}"/>
                </c:ext>
              </c:extLst>
            </c:dLbl>
            <c:dLbl>
              <c:idx val="3"/>
              <c:layout>
                <c:manualLayout>
                  <c:x val="8.7721792794565046E-3"/>
                  <c:y val="-0.23308006424251965"/>
                </c:manualLayout>
              </c:layout>
              <c:tx>
                <c:rich>
                  <a:bodyPr/>
                  <a:lstStyle/>
                  <a:p>
                    <a:fld id="{4B8B4FD4-117B-467C-94E2-805D308CA7C6}" type="VALUE">
                      <a:rPr lang="en-US" b="1">
                        <a:solidFill>
                          <a:srgbClr val="FF0000"/>
                        </a:solidFill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5EB3-45E8-8298-4F9E29AFE8E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M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Итого</c:v>
                </c:pt>
              </c:strCache>
            </c:strRef>
          </c:cat>
          <c:val>
            <c:numRef>
              <c:f>Лист1!$E$2:$E$5</c:f>
              <c:numCache>
                <c:formatCode>General</c:formatCode>
                <c:ptCount val="4"/>
                <c:pt idx="0">
                  <c:v>5</c:v>
                </c:pt>
                <c:pt idx="1">
                  <c:v>6</c:v>
                </c:pt>
                <c:pt idx="2">
                  <c:v>5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EB3-45E8-8298-4F9E29AFE8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97931135"/>
        <c:axId val="810408671"/>
        <c:axId val="0"/>
      </c:bar3DChart>
      <c:catAx>
        <c:axId val="11979311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ru-MD"/>
          </a:p>
        </c:txPr>
        <c:crossAx val="810408671"/>
        <c:crosses val="autoZero"/>
        <c:auto val="1"/>
        <c:lblAlgn val="ctr"/>
        <c:lblOffset val="100"/>
        <c:noMultiLvlLbl val="0"/>
      </c:catAx>
      <c:valAx>
        <c:axId val="81040867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979311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1">
        <a:lumMod val="20000"/>
        <a:lumOff val="80000"/>
      </a:schemeClr>
    </a:solidFill>
    <a:ln w="28575" cap="flat" cmpd="sng" algn="ctr">
      <a:solidFill>
        <a:srgbClr val="0070C0"/>
      </a:solidFill>
      <a:round/>
    </a:ln>
    <a:effectLst/>
  </c:spPr>
  <c:txPr>
    <a:bodyPr/>
    <a:lstStyle/>
    <a:p>
      <a:pPr>
        <a:defRPr/>
      </a:pPr>
      <a:endParaRPr lang="ru-MD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1">
                  <a:lumMod val="75000"/>
                </a:schemeClr>
              </a:contourClr>
            </a:sp3d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9BFFD77-7C02-48C2-9300-6BC1F0A1A777}" type="VALUE">
                      <a:rPr lang="en-US" sz="18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3D49-4295-B4DE-B87AFC1243D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8AD0F43-91BC-4BC9-B151-F542618F16C7}" type="VALUE">
                      <a:rPr lang="en-US" sz="18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3D49-4295-B4DE-B87AFC1243D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1D86BE85-68B6-46C5-A589-C4FC2AC27054}" type="VALUE">
                      <a:rPr lang="en-US" sz="18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3D49-4295-B4DE-B87AFC1243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D49-4295-B4DE-B87AFC1243DF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Столбец2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accent2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2"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4-3D49-4295-B4DE-B87AFC1243DF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Столбец1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accent3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3"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Лист1!$D$2:$D$5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5-3D49-4295-B4DE-B87AFC1243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shape val="box"/>
        <c:axId val="890702063"/>
        <c:axId val="888726511"/>
        <c:axId val="0"/>
      </c:bar3DChart>
      <c:catAx>
        <c:axId val="890702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cap="all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ru-MD"/>
          </a:p>
        </c:txPr>
        <c:crossAx val="888726511"/>
        <c:crosses val="autoZero"/>
        <c:auto val="1"/>
        <c:lblAlgn val="ctr"/>
        <c:lblOffset val="100"/>
        <c:noMultiLvlLbl val="0"/>
      </c:catAx>
      <c:valAx>
        <c:axId val="88872651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890702063"/>
        <c:crosses val="autoZero"/>
        <c:crossBetween val="between"/>
      </c:valAx>
      <c:sp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9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t="100000" r="100000"/>
          </a:path>
          <a:tileRect l="-100000" b="-100000"/>
        </a:gradFill>
        <a:ln w="28575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28575" cap="flat" cmpd="sng" algn="ctr">
      <a:solidFill>
        <a:srgbClr val="0070C0"/>
      </a:solidFill>
      <a:round/>
    </a:ln>
    <a:effectLst/>
  </c:spPr>
  <c:txPr>
    <a:bodyPr/>
    <a:lstStyle/>
    <a:p>
      <a:pPr>
        <a:defRPr/>
      </a:pPr>
      <a:endParaRPr lang="ru-MD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6773990089252"/>
          <c:y val="2.9949062756257999E-2"/>
          <c:w val="0.56469284790060548"/>
          <c:h val="0.87207986416735006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Столбец1</c:v>
                </c:pt>
              </c:strCache>
            </c:strRef>
          </c:tx>
          <c:spPr>
            <a:ln w="57150">
              <a:solidFill>
                <a:schemeClr val="accent1">
                  <a:lumMod val="60000"/>
                  <a:lumOff val="40000"/>
                </a:schemeClr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 w="57150">
                <a:solidFill>
                  <a:schemeClr val="accent1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4E6-4C0A-8AA3-824B558BB7A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57150">
                <a:solidFill>
                  <a:schemeClr val="accent1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4E6-4C0A-8AA3-824B558BB7A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57150">
                <a:solidFill>
                  <a:schemeClr val="accent1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4E6-4C0A-8AA3-824B558BB7A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57150">
                <a:solidFill>
                  <a:schemeClr val="accent1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14E6-4C0A-8AA3-824B558BB7AB}"/>
              </c:ext>
            </c:extLst>
          </c:dPt>
          <c:dLbls>
            <c:dLbl>
              <c:idx val="0"/>
              <c:layout>
                <c:manualLayout>
                  <c:x val="-0.15476214535449409"/>
                  <c:y val="6.6483400276932678E-3"/>
                </c:manualLayout>
              </c:layout>
              <c:tx>
                <c:rich>
                  <a:bodyPr/>
                  <a:lstStyle/>
                  <a:p>
                    <a:fld id="{81D5ECBE-481F-48F1-A9C5-4248E722095F}" type="VALUE">
                      <a:rPr lang="en-US" b="1">
                        <a:solidFill>
                          <a:srgbClr val="002060"/>
                        </a:solidFill>
                      </a:rPr>
                      <a:pPr/>
                      <a:t>[ЗНАЧЕНИЕ]</a:t>
                    </a:fld>
                    <a:endParaRPr lang="ru-MD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4E6-4C0A-8AA3-824B558BB7AB}"/>
                </c:ext>
              </c:extLst>
            </c:dLbl>
            <c:dLbl>
              <c:idx val="1"/>
              <c:layout>
                <c:manualLayout>
                  <c:x val="0.20772559472896462"/>
                  <c:y val="-5.1454099009412224E-2"/>
                </c:manualLayout>
              </c:layout>
              <c:tx>
                <c:rich>
                  <a:bodyPr/>
                  <a:lstStyle/>
                  <a:p>
                    <a:fld id="{FFD9D72D-9574-4F31-9519-7B62362F2463}" type="VALUE">
                      <a:rPr lang="en-US"/>
                      <a:pPr/>
                      <a:t>[ЗНАЧЕНИЕ]</a:t>
                    </a:fld>
                    <a:endParaRPr lang="ru-MD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14E6-4C0A-8AA3-824B558BB7A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ru-MD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</c:numCache>
            </c:numRef>
          </c:cat>
          <c:val>
            <c:numRef>
              <c:f>Лист1!$B$2:$B$5</c:f>
              <c:numCache>
                <c:formatCode>0.00%</c:formatCode>
                <c:ptCount val="4"/>
                <c:pt idx="0" formatCode="0%">
                  <c:v>0.74</c:v>
                </c:pt>
                <c:pt idx="1">
                  <c:v>0.80500000000000005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4E6-4C0A-8AA3-824B558BB7A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0.35555029459760568"/>
          <c:y val="0.91281258925311193"/>
          <c:w val="0.30561915219662633"/>
          <c:h val="8.657981171434665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ru-MD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MD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6270AD-93A2-4277-857E-86719B55ADF5}" type="doc">
      <dgm:prSet loTypeId="urn:microsoft.com/office/officeart/2005/8/layout/target3" loCatId="list" qsTypeId="urn:microsoft.com/office/officeart/2005/8/quickstyle/3d1" qsCatId="3D" csTypeId="urn:microsoft.com/office/officeart/2005/8/colors/accent3_2" csCatId="accent3" phldr="1"/>
      <dgm:spPr/>
      <dgm:t>
        <a:bodyPr/>
        <a:lstStyle/>
        <a:p>
          <a:endParaRPr lang="ru-RU"/>
        </a:p>
      </dgm:t>
    </dgm:pt>
    <dgm:pt modelId="{6AFF544F-C71E-4343-8FC9-B7A96F005C8D}">
      <dgm:prSet phldrT="[Текст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xfrm>
          <a:off x="3517900" y="0"/>
          <a:ext cx="11417300" cy="7035800"/>
        </a:xfrm>
        <a:prstGeom prst="rect">
          <a:avLst/>
        </a:prstGeom>
        <a:solidFill>
          <a:sysClr val="window" lastClr="FFFFFF"/>
        </a:solidFill>
        <a:ln w="25400" cap="flat" cmpd="sng" algn="ctr">
          <a:solidFill>
            <a:srgbClr val="9BBB59"/>
          </a:solidFill>
          <a:prstDash val="solid"/>
        </a:ln>
        <a:effectLst/>
        <a:scene3d>
          <a:camera prst="orthographicFront"/>
          <a:lightRig rig="flat" dir="t"/>
        </a:scene3d>
        <a:sp3d extrusionH="12700"/>
      </dgm:spPr>
      <dgm:t>
        <a:bodyPr/>
        <a:lstStyle/>
        <a:p>
          <a:pPr algn="l">
            <a:buNone/>
          </a:pPr>
          <a:r>
            <a:rPr lang="ru-RU" sz="2800" b="1" dirty="0">
              <a:solidFill>
                <a:srgbClr val="002060"/>
              </a:solidFill>
              <a:effectLst/>
              <a:latin typeface="Times New Roman" pitchFamily="18" charset="0"/>
              <a:ea typeface="+mn-ea"/>
              <a:cs typeface="Times New Roman" pitchFamily="18" charset="0"/>
            </a:rPr>
            <a:t>Повышение качества предоставляемых образовательных услуг</a:t>
          </a:r>
        </a:p>
      </dgm:t>
    </dgm:pt>
    <dgm:pt modelId="{361E5457-D6F0-408A-AA3C-71D585FD1D95}" type="parTrans" cxnId="{10804046-8D04-4F38-9003-A6120F1220F1}">
      <dgm:prSet/>
      <dgm:spPr/>
      <dgm:t>
        <a:bodyPr/>
        <a:lstStyle/>
        <a:p>
          <a:endParaRPr lang="ru-RU"/>
        </a:p>
      </dgm:t>
    </dgm:pt>
    <dgm:pt modelId="{1895D1DC-E011-477F-85A8-AB06C16F11D4}" type="sibTrans" cxnId="{10804046-8D04-4F38-9003-A6120F1220F1}">
      <dgm:prSet/>
      <dgm:spPr/>
      <dgm:t>
        <a:bodyPr/>
        <a:lstStyle/>
        <a:p>
          <a:endParaRPr lang="ru-RU"/>
        </a:p>
      </dgm:t>
    </dgm:pt>
    <dgm:pt modelId="{62B09D7C-48C2-48DD-A07F-4958EA06635A}">
      <dgm:prSet phldrT="[Текст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xfrm>
          <a:off x="3503628" y="2133610"/>
          <a:ext cx="11417300" cy="4573265"/>
        </a:xfrm>
        <a:prstGeom prst="rect">
          <a:avLst/>
        </a:prstGeom>
        <a:solidFill>
          <a:sysClr val="window" lastClr="FFFFFF"/>
        </a:solidFill>
        <a:ln w="25400" cap="flat" cmpd="sng" algn="ctr">
          <a:solidFill>
            <a:srgbClr val="9BBB59"/>
          </a:solidFill>
          <a:prstDash val="solid"/>
        </a:ln>
        <a:effectLst/>
        <a:scene3d>
          <a:camera prst="orthographicFront"/>
          <a:lightRig rig="flat" dir="t"/>
        </a:scene3d>
        <a:sp3d extrusionH="12700"/>
      </dgm:spPr>
      <dgm:t>
        <a:bodyPr/>
        <a:lstStyle/>
        <a:p>
          <a:pPr algn="l">
            <a:buNone/>
          </a:pPr>
          <a:r>
            <a:rPr lang="ru-RU" sz="2800" b="1" dirty="0">
              <a:solidFill>
                <a:srgbClr val="002060"/>
              </a:solidFill>
              <a:latin typeface="Times New Roman" pitchFamily="18" charset="0"/>
              <a:ea typeface="+mn-ea"/>
              <a:cs typeface="Times New Roman" pitchFamily="18" charset="0"/>
            </a:rPr>
            <a:t>Повышение имиджа гимназии села Томай</a:t>
          </a:r>
        </a:p>
      </dgm:t>
    </dgm:pt>
    <dgm:pt modelId="{90E337C8-C4EA-41E8-9E09-42068CD93980}" type="parTrans" cxnId="{B20FBF7B-907B-4BFA-BDFA-68EE07CC97B0}">
      <dgm:prSet/>
      <dgm:spPr/>
      <dgm:t>
        <a:bodyPr/>
        <a:lstStyle/>
        <a:p>
          <a:endParaRPr lang="ru-RU"/>
        </a:p>
      </dgm:t>
    </dgm:pt>
    <dgm:pt modelId="{3B176918-AB93-4DA9-A344-CEB4D5032153}" type="sibTrans" cxnId="{B20FBF7B-907B-4BFA-BDFA-68EE07CC97B0}">
      <dgm:prSet/>
      <dgm:spPr/>
      <dgm:t>
        <a:bodyPr/>
        <a:lstStyle/>
        <a:p>
          <a:endParaRPr lang="ru-RU"/>
        </a:p>
      </dgm:t>
    </dgm:pt>
    <dgm:pt modelId="{B5D8FCC1-A08E-46BB-B99E-BFAA1EE2BF4A}">
      <dgm:prSet custT="1"/>
      <dgm:spPr>
        <a:ln w="19050">
          <a:solidFill>
            <a:schemeClr val="accent6"/>
          </a:solidFill>
        </a:ln>
      </dgm:spPr>
      <dgm:t>
        <a:bodyPr/>
        <a:lstStyle/>
        <a:p>
          <a:pPr algn="l">
            <a:buNone/>
          </a:pPr>
          <a:r>
            <a:rPr lang="ru-RU" sz="2800" b="1" dirty="0">
              <a:solidFill>
                <a:srgbClr val="002060"/>
              </a:solidFill>
              <a:latin typeface="Times New Roman" pitchFamily="18" charset="0"/>
              <a:ea typeface="+mn-ea"/>
              <a:cs typeface="Times New Roman" pitchFamily="18" charset="0"/>
            </a:rPr>
            <a:t>Создание инновационной и безопасной образовательной среды, способствующей развитию личности</a:t>
          </a:r>
          <a:endParaRPr lang="ru-MD" sz="2800" b="1" dirty="0">
            <a:solidFill>
              <a:srgbClr val="002060"/>
            </a:solidFill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238E0D63-B9E3-43D4-B044-B005CA35BB69}" type="parTrans" cxnId="{C60ED660-925B-46E3-A2BA-F3F816F9AAB2}">
      <dgm:prSet/>
      <dgm:spPr/>
      <dgm:t>
        <a:bodyPr/>
        <a:lstStyle/>
        <a:p>
          <a:endParaRPr lang="ru-MD"/>
        </a:p>
      </dgm:t>
    </dgm:pt>
    <dgm:pt modelId="{A9F820DA-93B8-4166-A017-8E07173DF39C}" type="sibTrans" cxnId="{C60ED660-925B-46E3-A2BA-F3F816F9AAB2}">
      <dgm:prSet/>
      <dgm:spPr/>
      <dgm:t>
        <a:bodyPr/>
        <a:lstStyle/>
        <a:p>
          <a:endParaRPr lang="ru-MD"/>
        </a:p>
      </dgm:t>
    </dgm:pt>
    <dgm:pt modelId="{17EA7C57-74C8-4E3D-A5C6-1F02B05477CE}" type="pres">
      <dgm:prSet presAssocID="{F86270AD-93A2-4277-857E-86719B55ADF5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C4810C8C-EF88-45FE-A146-E49A4615BDEC}" type="pres">
      <dgm:prSet presAssocID="{6AFF544F-C71E-4343-8FC9-B7A96F005C8D}" presName="circle1" presStyleLbl="node1" presStyleIdx="0" presStyleCnt="3" custLinFactNeighborX="-1026" custLinFactNeighborY="769"/>
      <dgm:spPr>
        <a:xfrm>
          <a:off x="0" y="0"/>
          <a:ext cx="7035800" cy="7035800"/>
        </a:xfrm>
        <a:prstGeom prst="pie">
          <a:avLst>
            <a:gd name="adj1" fmla="val 5400000"/>
            <a:gd name="adj2" fmla="val 16200000"/>
          </a:avLst>
        </a:prstGeom>
        <a:solidFill>
          <a:srgbClr val="F0A318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</dgm:pt>
    <dgm:pt modelId="{837CC924-CCBE-4D04-AF24-3007A530442B}" type="pres">
      <dgm:prSet presAssocID="{6AFF544F-C71E-4343-8FC9-B7A96F005C8D}" presName="space" presStyleCnt="0"/>
      <dgm:spPr/>
    </dgm:pt>
    <dgm:pt modelId="{8E6C0D94-5875-44CF-A28D-873EC48E7B1E}" type="pres">
      <dgm:prSet presAssocID="{6AFF544F-C71E-4343-8FC9-B7A96F005C8D}" presName="rect1" presStyleLbl="alignAcc1" presStyleIdx="0" presStyleCnt="3" custScaleX="100000" custScaleY="100000" custLinFactNeighborX="-610" custLinFactNeighborY="513"/>
      <dgm:spPr/>
    </dgm:pt>
    <dgm:pt modelId="{D79C148C-B4AC-4AAF-B42D-AD38ED2AA460}" type="pres">
      <dgm:prSet presAssocID="{62B09D7C-48C2-48DD-A07F-4958EA06635A}" presName="vertSpace2" presStyleLbl="node1" presStyleIdx="0" presStyleCnt="3"/>
      <dgm:spPr/>
    </dgm:pt>
    <dgm:pt modelId="{7AD1AC3F-E35E-49D4-8605-3D6D112CD2B0}" type="pres">
      <dgm:prSet presAssocID="{62B09D7C-48C2-48DD-A07F-4958EA06635A}" presName="circle2" presStyleLbl="node1" presStyleIdx="1" presStyleCnt="3"/>
      <dgm:spPr>
        <a:xfrm>
          <a:off x="1231267" y="2110744"/>
          <a:ext cx="4573265" cy="4573265"/>
        </a:xfrm>
        <a:prstGeom prst="pie">
          <a:avLst>
            <a:gd name="adj1" fmla="val 5400000"/>
            <a:gd name="adj2" fmla="val 16200000"/>
          </a:avLst>
        </a:prstGeom>
        <a:solidFill>
          <a:srgbClr val="009999"/>
        </a:solidFill>
        <a:ln>
          <a:solidFill>
            <a:srgbClr val="009999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</dgm:pt>
    <dgm:pt modelId="{2E658D10-23E7-4833-A4EE-45A31ED86D3A}" type="pres">
      <dgm:prSet presAssocID="{62B09D7C-48C2-48DD-A07F-4958EA06635A}" presName="rect2" presStyleLbl="alignAcc1" presStyleIdx="1" presStyleCnt="3" custLinFactNeighborX="-125" custLinFactNeighborY="-290"/>
      <dgm:spPr/>
    </dgm:pt>
    <dgm:pt modelId="{E1DFC6D7-2746-4B14-8DD4-4B9EF53B114C}" type="pres">
      <dgm:prSet presAssocID="{B5D8FCC1-A08E-46BB-B99E-BFAA1EE2BF4A}" presName="vertSpace3" presStyleLbl="node1" presStyleIdx="1" presStyleCnt="3"/>
      <dgm:spPr/>
    </dgm:pt>
    <dgm:pt modelId="{2EE520F1-C916-4625-BD22-8BF688728CEF}" type="pres">
      <dgm:prSet presAssocID="{B5D8FCC1-A08E-46BB-B99E-BFAA1EE2BF4A}" presName="circle3" presStyleLbl="node1" presStyleIdx="2" presStyleCnt="3"/>
      <dgm:spPr>
        <a:ln>
          <a:solidFill>
            <a:srgbClr val="92D050"/>
          </a:solidFill>
        </a:ln>
      </dgm:spPr>
    </dgm:pt>
    <dgm:pt modelId="{7C5B590C-AAD3-47C5-8815-A882CDA6862C}" type="pres">
      <dgm:prSet presAssocID="{B5D8FCC1-A08E-46BB-B99E-BFAA1EE2BF4A}" presName="rect3" presStyleLbl="alignAcc1" presStyleIdx="2" presStyleCnt="3" custLinFactNeighborY="2540"/>
      <dgm:spPr/>
    </dgm:pt>
    <dgm:pt modelId="{6AA74212-70B6-4F0A-847B-1768FCAFCA6D}" type="pres">
      <dgm:prSet presAssocID="{6AFF544F-C71E-4343-8FC9-B7A96F005C8D}" presName="rect1ParTxNoCh" presStyleLbl="alignAcc1" presStyleIdx="2" presStyleCnt="3">
        <dgm:presLayoutVars>
          <dgm:chMax val="1"/>
          <dgm:bulletEnabled val="1"/>
        </dgm:presLayoutVars>
      </dgm:prSet>
      <dgm:spPr/>
    </dgm:pt>
    <dgm:pt modelId="{582EE34D-9E0D-4B79-A980-E4E32233C162}" type="pres">
      <dgm:prSet presAssocID="{62B09D7C-48C2-48DD-A07F-4958EA06635A}" presName="rect2ParTxNoCh" presStyleLbl="alignAcc1" presStyleIdx="2" presStyleCnt="3">
        <dgm:presLayoutVars>
          <dgm:chMax val="1"/>
          <dgm:bulletEnabled val="1"/>
        </dgm:presLayoutVars>
      </dgm:prSet>
      <dgm:spPr/>
    </dgm:pt>
    <dgm:pt modelId="{377F7373-EA49-4857-BEAF-F5CA8F486B90}" type="pres">
      <dgm:prSet presAssocID="{B5D8FCC1-A08E-46BB-B99E-BFAA1EE2BF4A}" presName="rect3ParTxNoCh" presStyleLbl="alignAcc1" presStyleIdx="2" presStyleCnt="3">
        <dgm:presLayoutVars>
          <dgm:chMax val="1"/>
          <dgm:bulletEnabled val="1"/>
        </dgm:presLayoutVars>
      </dgm:prSet>
      <dgm:spPr/>
    </dgm:pt>
  </dgm:ptLst>
  <dgm:cxnLst>
    <dgm:cxn modelId="{C60ED660-925B-46E3-A2BA-F3F816F9AAB2}" srcId="{F86270AD-93A2-4277-857E-86719B55ADF5}" destId="{B5D8FCC1-A08E-46BB-B99E-BFAA1EE2BF4A}" srcOrd="2" destOrd="0" parTransId="{238E0D63-B9E3-43D4-B044-B005CA35BB69}" sibTransId="{A9F820DA-93B8-4166-A017-8E07173DF39C}"/>
    <dgm:cxn modelId="{10804046-8D04-4F38-9003-A6120F1220F1}" srcId="{F86270AD-93A2-4277-857E-86719B55ADF5}" destId="{6AFF544F-C71E-4343-8FC9-B7A96F005C8D}" srcOrd="0" destOrd="0" parTransId="{361E5457-D6F0-408A-AA3C-71D585FD1D95}" sibTransId="{1895D1DC-E011-477F-85A8-AB06C16F11D4}"/>
    <dgm:cxn modelId="{ACD22871-024D-4C66-97BF-32F3EE9174A8}" type="presOf" srcId="{F86270AD-93A2-4277-857E-86719B55ADF5}" destId="{17EA7C57-74C8-4E3D-A5C6-1F02B05477CE}" srcOrd="0" destOrd="0" presId="urn:microsoft.com/office/officeart/2005/8/layout/target3"/>
    <dgm:cxn modelId="{1765DF51-8EF3-4A2F-B0AE-092BB7054EAF}" type="presOf" srcId="{62B09D7C-48C2-48DD-A07F-4958EA06635A}" destId="{2E658D10-23E7-4833-A4EE-45A31ED86D3A}" srcOrd="0" destOrd="0" presId="urn:microsoft.com/office/officeart/2005/8/layout/target3"/>
    <dgm:cxn modelId="{D3689058-3214-473E-B453-0566B7D36550}" type="presOf" srcId="{62B09D7C-48C2-48DD-A07F-4958EA06635A}" destId="{582EE34D-9E0D-4B79-A980-E4E32233C162}" srcOrd="1" destOrd="0" presId="urn:microsoft.com/office/officeart/2005/8/layout/target3"/>
    <dgm:cxn modelId="{B20FBF7B-907B-4BFA-BDFA-68EE07CC97B0}" srcId="{F86270AD-93A2-4277-857E-86719B55ADF5}" destId="{62B09D7C-48C2-48DD-A07F-4958EA06635A}" srcOrd="1" destOrd="0" parTransId="{90E337C8-C4EA-41E8-9E09-42068CD93980}" sibTransId="{3B176918-AB93-4DA9-A344-CEB4D5032153}"/>
    <dgm:cxn modelId="{1170D193-EE1D-4FF3-A664-677884BA9CA4}" type="presOf" srcId="{6AFF544F-C71E-4343-8FC9-B7A96F005C8D}" destId="{8E6C0D94-5875-44CF-A28D-873EC48E7B1E}" srcOrd="0" destOrd="0" presId="urn:microsoft.com/office/officeart/2005/8/layout/target3"/>
    <dgm:cxn modelId="{6584F6BB-E9CB-4330-A70A-8AFFCB021C1E}" type="presOf" srcId="{6AFF544F-C71E-4343-8FC9-B7A96F005C8D}" destId="{6AA74212-70B6-4F0A-847B-1768FCAFCA6D}" srcOrd="1" destOrd="0" presId="urn:microsoft.com/office/officeart/2005/8/layout/target3"/>
    <dgm:cxn modelId="{816F73DC-167B-4CD6-8530-51F48314BC36}" type="presOf" srcId="{B5D8FCC1-A08E-46BB-B99E-BFAA1EE2BF4A}" destId="{7C5B590C-AAD3-47C5-8815-A882CDA6862C}" srcOrd="0" destOrd="0" presId="urn:microsoft.com/office/officeart/2005/8/layout/target3"/>
    <dgm:cxn modelId="{8D1857F8-AFE2-48CF-89F1-6AB2F7D5AEA1}" type="presOf" srcId="{B5D8FCC1-A08E-46BB-B99E-BFAA1EE2BF4A}" destId="{377F7373-EA49-4857-BEAF-F5CA8F486B90}" srcOrd="1" destOrd="0" presId="urn:microsoft.com/office/officeart/2005/8/layout/target3"/>
    <dgm:cxn modelId="{FD787170-DD02-4586-B4E2-75FD0D621BA8}" type="presParOf" srcId="{17EA7C57-74C8-4E3D-A5C6-1F02B05477CE}" destId="{C4810C8C-EF88-45FE-A146-E49A4615BDEC}" srcOrd="0" destOrd="0" presId="urn:microsoft.com/office/officeart/2005/8/layout/target3"/>
    <dgm:cxn modelId="{5CD16D14-1D3D-4E4D-9F20-56BAA6053DDC}" type="presParOf" srcId="{17EA7C57-74C8-4E3D-A5C6-1F02B05477CE}" destId="{837CC924-CCBE-4D04-AF24-3007A530442B}" srcOrd="1" destOrd="0" presId="urn:microsoft.com/office/officeart/2005/8/layout/target3"/>
    <dgm:cxn modelId="{4CAA94AE-D081-4038-9690-75CC41957158}" type="presParOf" srcId="{17EA7C57-74C8-4E3D-A5C6-1F02B05477CE}" destId="{8E6C0D94-5875-44CF-A28D-873EC48E7B1E}" srcOrd="2" destOrd="0" presId="urn:microsoft.com/office/officeart/2005/8/layout/target3"/>
    <dgm:cxn modelId="{D171EB67-4C8A-4BDD-946B-476F5E9C47AD}" type="presParOf" srcId="{17EA7C57-74C8-4E3D-A5C6-1F02B05477CE}" destId="{D79C148C-B4AC-4AAF-B42D-AD38ED2AA460}" srcOrd="3" destOrd="0" presId="urn:microsoft.com/office/officeart/2005/8/layout/target3"/>
    <dgm:cxn modelId="{205385C5-1B0F-4A87-BADB-922AEDAA61C1}" type="presParOf" srcId="{17EA7C57-74C8-4E3D-A5C6-1F02B05477CE}" destId="{7AD1AC3F-E35E-49D4-8605-3D6D112CD2B0}" srcOrd="4" destOrd="0" presId="urn:microsoft.com/office/officeart/2005/8/layout/target3"/>
    <dgm:cxn modelId="{ADEC93D3-C9A4-4826-A2AD-EE2DC3AF28F9}" type="presParOf" srcId="{17EA7C57-74C8-4E3D-A5C6-1F02B05477CE}" destId="{2E658D10-23E7-4833-A4EE-45A31ED86D3A}" srcOrd="5" destOrd="0" presId="urn:microsoft.com/office/officeart/2005/8/layout/target3"/>
    <dgm:cxn modelId="{A031C3F4-14BC-479F-ADC2-6438313F12CC}" type="presParOf" srcId="{17EA7C57-74C8-4E3D-A5C6-1F02B05477CE}" destId="{E1DFC6D7-2746-4B14-8DD4-4B9EF53B114C}" srcOrd="6" destOrd="0" presId="urn:microsoft.com/office/officeart/2005/8/layout/target3"/>
    <dgm:cxn modelId="{2B84FF8F-9D5E-4063-939F-881BB784E0C8}" type="presParOf" srcId="{17EA7C57-74C8-4E3D-A5C6-1F02B05477CE}" destId="{2EE520F1-C916-4625-BD22-8BF688728CEF}" srcOrd="7" destOrd="0" presId="urn:microsoft.com/office/officeart/2005/8/layout/target3"/>
    <dgm:cxn modelId="{6FB956B8-3DD4-4139-8DFC-7767FBEE9AC1}" type="presParOf" srcId="{17EA7C57-74C8-4E3D-A5C6-1F02B05477CE}" destId="{7C5B590C-AAD3-47C5-8815-A882CDA6862C}" srcOrd="8" destOrd="0" presId="urn:microsoft.com/office/officeart/2005/8/layout/target3"/>
    <dgm:cxn modelId="{090F0453-471C-444A-B1C7-85E56AC9024A}" type="presParOf" srcId="{17EA7C57-74C8-4E3D-A5C6-1F02B05477CE}" destId="{6AA74212-70B6-4F0A-847B-1768FCAFCA6D}" srcOrd="9" destOrd="0" presId="urn:microsoft.com/office/officeart/2005/8/layout/target3"/>
    <dgm:cxn modelId="{4930D1D8-5227-4A05-B823-0B9F938AE662}" type="presParOf" srcId="{17EA7C57-74C8-4E3D-A5C6-1F02B05477CE}" destId="{582EE34D-9E0D-4B79-A980-E4E32233C162}" srcOrd="10" destOrd="0" presId="urn:microsoft.com/office/officeart/2005/8/layout/target3"/>
    <dgm:cxn modelId="{B8F77918-09F7-4305-A6D8-1A7A3D023260}" type="presParOf" srcId="{17EA7C57-74C8-4E3D-A5C6-1F02B05477CE}" destId="{377F7373-EA49-4857-BEAF-F5CA8F486B90}" srcOrd="11" destOrd="0" presId="urn:microsoft.com/office/officeart/2005/8/layout/target3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89E8B4-701A-4D84-A5F7-9DCABD3FF3CF}" type="doc">
      <dgm:prSet loTypeId="urn:microsoft.com/office/officeart/2005/8/layout/radial5" loCatId="cycl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3DD7391-048B-4749-BBBB-73075083C7A7}">
      <dgm:prSet phldrT="[Текст]" custT="1"/>
      <dgm:spPr/>
      <dgm:t>
        <a:bodyPr/>
        <a:lstStyle/>
        <a:p>
          <a:r>
            <a:rPr lang="ru-RU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Слабые показатели результативности на нац. выпускных экзаменах </a:t>
          </a:r>
        </a:p>
      </dgm:t>
    </dgm:pt>
    <dgm:pt modelId="{F3E16E44-FE90-4BDA-9ADD-141F8549CF7B}" type="parTrans" cxnId="{D35B45B6-C1DE-4C80-B6AB-F924C61FD9E7}">
      <dgm:prSet/>
      <dgm:spPr/>
      <dgm:t>
        <a:bodyPr/>
        <a:lstStyle/>
        <a:p>
          <a:endParaRPr lang="ru-RU"/>
        </a:p>
      </dgm:t>
    </dgm:pt>
    <dgm:pt modelId="{8F55B616-217D-42EC-939C-FC6662EEA768}" type="sibTrans" cxnId="{D35B45B6-C1DE-4C80-B6AB-F924C61FD9E7}">
      <dgm:prSet/>
      <dgm:spPr/>
      <dgm:t>
        <a:bodyPr/>
        <a:lstStyle/>
        <a:p>
          <a:endParaRPr lang="ru-RU"/>
        </a:p>
      </dgm:t>
    </dgm:pt>
    <dgm:pt modelId="{842EA890-D13F-4887-9B48-B0E389B88B2E}">
      <dgm:prSet phldrT="[Текст]" custT="1"/>
      <dgm:spPr/>
      <dgm:t>
        <a:bodyPr/>
        <a:lstStyle/>
        <a:p>
          <a:r>
            <a:rPr lang="ru-RU" sz="2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Отсутствие школьной формы снижает дисциплину и единство гимназии</a:t>
          </a:r>
        </a:p>
      </dgm:t>
    </dgm:pt>
    <dgm:pt modelId="{C8782F9E-926A-40FD-9C27-6668916E27DC}" type="parTrans" cxnId="{A3959483-96B3-4D39-8F53-F7F44EB41786}">
      <dgm:prSet/>
      <dgm:spPr/>
      <dgm:t>
        <a:bodyPr/>
        <a:lstStyle/>
        <a:p>
          <a:endParaRPr lang="ru-RU"/>
        </a:p>
      </dgm:t>
    </dgm:pt>
    <dgm:pt modelId="{DCDAE47C-6C35-46D8-92F3-54EF5CDC0F3F}" type="sibTrans" cxnId="{A3959483-96B3-4D39-8F53-F7F44EB41786}">
      <dgm:prSet/>
      <dgm:spPr/>
      <dgm:t>
        <a:bodyPr/>
        <a:lstStyle/>
        <a:p>
          <a:endParaRPr lang="ru-RU"/>
        </a:p>
      </dgm:t>
    </dgm:pt>
    <dgm:pt modelId="{233AE9A4-C4B6-4D2B-A735-5DBD164C16A3}">
      <dgm:prSet phldrT="[Текст]" custT="1"/>
      <dgm:spPr/>
      <dgm:t>
        <a:bodyPr/>
        <a:lstStyle/>
        <a:p>
          <a:r>
            <a:rPr lang="ru-RU" sz="2500" b="1" dirty="0">
              <a:latin typeface="Times New Roman" pitchFamily="18" charset="0"/>
              <a:cs typeface="Times New Roman" pitchFamily="18" charset="0"/>
            </a:rPr>
            <a:t>Недостаточная </a:t>
          </a:r>
          <a:r>
            <a:rPr lang="ru-RU" sz="25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Подгтовка</a:t>
          </a:r>
          <a:r>
            <a:rPr lang="ru-RU" sz="2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 будущих первоклассников затрудняет их быструю адаптацию к </a:t>
          </a:r>
          <a:r>
            <a:rPr lang="ru-RU" sz="2500" b="1" dirty="0">
              <a:latin typeface="Times New Roman" pitchFamily="18" charset="0"/>
              <a:cs typeface="Times New Roman" pitchFamily="18" charset="0"/>
            </a:rPr>
            <a:t>школе</a:t>
          </a:r>
        </a:p>
      </dgm:t>
    </dgm:pt>
    <dgm:pt modelId="{AE5E6D24-DE04-4489-8066-AFD85E9BF89A}" type="parTrans" cxnId="{F1E99D17-9E25-4DEB-9D20-DAB4225BF864}">
      <dgm:prSet/>
      <dgm:spPr/>
      <dgm:t>
        <a:bodyPr/>
        <a:lstStyle/>
        <a:p>
          <a:endParaRPr lang="ru-RU"/>
        </a:p>
      </dgm:t>
    </dgm:pt>
    <dgm:pt modelId="{1858786C-A58D-41B0-A3EB-5EC58BA1125A}" type="sibTrans" cxnId="{F1E99D17-9E25-4DEB-9D20-DAB4225BF864}">
      <dgm:prSet/>
      <dgm:spPr/>
      <dgm:t>
        <a:bodyPr/>
        <a:lstStyle/>
        <a:p>
          <a:endParaRPr lang="ru-RU"/>
        </a:p>
      </dgm:t>
    </dgm:pt>
    <dgm:pt modelId="{FE97E924-BA03-493D-92DE-EE8AF0F9E54E}">
      <dgm:prSet custT="1"/>
      <dgm:spPr/>
      <dgm:t>
        <a:bodyPr/>
        <a:lstStyle/>
        <a:p>
          <a:r>
            <a:rPr lang="ru-RU" sz="2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Недостаточная информированность родителей о деятельности УП</a:t>
          </a:r>
        </a:p>
      </dgm:t>
    </dgm:pt>
    <dgm:pt modelId="{460166B2-46AA-4656-836B-3EE4DE2FCD28}" type="parTrans" cxnId="{7934E527-7CC1-48DF-B648-2026899BAE8B}">
      <dgm:prSet/>
      <dgm:spPr/>
      <dgm:t>
        <a:bodyPr/>
        <a:lstStyle/>
        <a:p>
          <a:endParaRPr lang="ru-RU"/>
        </a:p>
      </dgm:t>
    </dgm:pt>
    <dgm:pt modelId="{50FE4FFB-23FF-4498-B0F7-DD4AB23B28FE}" type="sibTrans" cxnId="{7934E527-7CC1-48DF-B648-2026899BAE8B}">
      <dgm:prSet/>
      <dgm:spPr/>
      <dgm:t>
        <a:bodyPr/>
        <a:lstStyle/>
        <a:p>
          <a:endParaRPr lang="ru-RU"/>
        </a:p>
      </dgm:t>
    </dgm:pt>
    <dgm:pt modelId="{1C7B2180-BB0F-4347-8585-8C35CF7FE6E9}">
      <dgm:prSet custT="1"/>
      <dgm:spPr/>
      <dgm:t>
        <a:bodyPr/>
        <a:lstStyle/>
        <a:p>
          <a:r>
            <a:rPr lang="ru-RU" sz="2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Немотивированные пропуски уроков учащимися гимназии</a:t>
          </a:r>
        </a:p>
      </dgm:t>
    </dgm:pt>
    <dgm:pt modelId="{169AA80D-43A5-45D9-852E-648F736B3C77}" type="parTrans" cxnId="{1688A9F4-D2DA-440B-B315-B1BE4F2260C2}">
      <dgm:prSet/>
      <dgm:spPr/>
      <dgm:t>
        <a:bodyPr/>
        <a:lstStyle/>
        <a:p>
          <a:endParaRPr lang="ru-RU"/>
        </a:p>
      </dgm:t>
    </dgm:pt>
    <dgm:pt modelId="{A88E82C6-598F-42D5-B1C9-6CE640C5D51D}" type="sibTrans" cxnId="{1688A9F4-D2DA-440B-B315-B1BE4F2260C2}">
      <dgm:prSet/>
      <dgm:spPr/>
      <dgm:t>
        <a:bodyPr/>
        <a:lstStyle/>
        <a:p>
          <a:endParaRPr lang="ru-RU"/>
        </a:p>
      </dgm:t>
    </dgm:pt>
    <dgm:pt modelId="{844B14BC-63A1-42A1-B660-D6AF0783AD2A}">
      <dgm:prSet custT="1"/>
      <dgm:spPr/>
      <dgm:t>
        <a:bodyPr/>
        <a:lstStyle/>
        <a:p>
          <a:r>
            <a:rPr lang="ru-RU" sz="2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Недостаточная работа с родителями при определении детей с ООП</a:t>
          </a:r>
        </a:p>
      </dgm:t>
    </dgm:pt>
    <dgm:pt modelId="{8FC03331-7C56-4DD1-B1C6-C995C816A41E}" type="parTrans" cxnId="{4B297ADA-23FF-4796-8767-0ED9D576FB2C}">
      <dgm:prSet/>
      <dgm:spPr/>
      <dgm:t>
        <a:bodyPr/>
        <a:lstStyle/>
        <a:p>
          <a:endParaRPr lang="ru-RU"/>
        </a:p>
      </dgm:t>
    </dgm:pt>
    <dgm:pt modelId="{7E1852A7-514B-4510-8BDF-CFC312CA41BC}" type="sibTrans" cxnId="{4B297ADA-23FF-4796-8767-0ED9D576FB2C}">
      <dgm:prSet/>
      <dgm:spPr/>
      <dgm:t>
        <a:bodyPr/>
        <a:lstStyle/>
        <a:p>
          <a:endParaRPr lang="ru-RU"/>
        </a:p>
      </dgm:t>
    </dgm:pt>
    <dgm:pt modelId="{34EE6C1C-50A9-4416-AB38-BDFD0D67B3B5}">
      <dgm:prSet phldrT="[Текст]" custT="1"/>
      <dgm:spPr>
        <a:solidFill>
          <a:srgbClr val="FFC000"/>
        </a:solidFill>
      </dgm:spPr>
      <dgm:t>
        <a:bodyPr/>
        <a:lstStyle/>
        <a:p>
          <a:r>
            <a:rPr lang="en-US" sz="2600" b="1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V.</a:t>
          </a:r>
          <a:r>
            <a:rPr lang="ru-RU" sz="2600" b="1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1.</a:t>
          </a:r>
          <a:r>
            <a:rPr lang="en-US" sz="2600" b="1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 </a:t>
          </a:r>
          <a:r>
            <a:rPr lang="ru-RU" sz="2600" b="1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Повышение качества образовательного процесса</a:t>
          </a:r>
        </a:p>
      </dgm:t>
    </dgm:pt>
    <dgm:pt modelId="{DD18F64E-FAE7-40CD-A08A-43A6B8221455}" type="sibTrans" cxnId="{FCD062D3-A986-4F5E-A56F-175AF25E4DFE}">
      <dgm:prSet/>
      <dgm:spPr/>
      <dgm:t>
        <a:bodyPr/>
        <a:lstStyle/>
        <a:p>
          <a:endParaRPr lang="ru-RU"/>
        </a:p>
      </dgm:t>
    </dgm:pt>
    <dgm:pt modelId="{B5EC504A-F3E4-4AF8-B343-8C23CDB659CF}" type="parTrans" cxnId="{FCD062D3-A986-4F5E-A56F-175AF25E4DFE}">
      <dgm:prSet/>
      <dgm:spPr/>
      <dgm:t>
        <a:bodyPr/>
        <a:lstStyle/>
        <a:p>
          <a:endParaRPr lang="ru-RU"/>
        </a:p>
      </dgm:t>
    </dgm:pt>
    <dgm:pt modelId="{C223035E-4039-4E74-8877-29339A8D92CD}">
      <dgm:prSet/>
      <dgm:spPr/>
    </dgm:pt>
    <dgm:pt modelId="{3542ECDA-B506-4F86-BD27-ACA55D86C66A}" type="parTrans" cxnId="{DDDBCF76-87FF-4501-8CCF-55F27920E0CE}">
      <dgm:prSet/>
      <dgm:spPr/>
      <dgm:t>
        <a:bodyPr/>
        <a:lstStyle/>
        <a:p>
          <a:endParaRPr lang="ru-MD"/>
        </a:p>
      </dgm:t>
    </dgm:pt>
    <dgm:pt modelId="{8014D7DD-DC6E-423E-8CD3-9D6F9E177B09}" type="sibTrans" cxnId="{DDDBCF76-87FF-4501-8CCF-55F27920E0CE}">
      <dgm:prSet/>
      <dgm:spPr/>
      <dgm:t>
        <a:bodyPr/>
        <a:lstStyle/>
        <a:p>
          <a:endParaRPr lang="ru-MD"/>
        </a:p>
      </dgm:t>
    </dgm:pt>
    <dgm:pt modelId="{4A3EEB61-478C-4C11-B933-37B265D4B0BF}" type="pres">
      <dgm:prSet presAssocID="{1189E8B4-701A-4D84-A5F7-9DCABD3FF3CF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F9A0A59-AC55-488D-82C4-DB0D2C8A114A}" type="pres">
      <dgm:prSet presAssocID="{34EE6C1C-50A9-4416-AB38-BDFD0D67B3B5}" presName="centerShape" presStyleLbl="node0" presStyleIdx="0" presStyleCnt="1" custScaleX="227502" custScaleY="105269" custLinFactNeighborX="1033" custLinFactNeighborY="305"/>
      <dgm:spPr/>
    </dgm:pt>
    <dgm:pt modelId="{540DA81D-9C42-4E64-BAF5-26E2A13395FD}" type="pres">
      <dgm:prSet presAssocID="{F3E16E44-FE90-4BDA-9ADD-141F8549CF7B}" presName="parTrans" presStyleLbl="sibTrans2D1" presStyleIdx="0" presStyleCnt="6"/>
      <dgm:spPr/>
    </dgm:pt>
    <dgm:pt modelId="{21CDCF81-6926-412F-ADB1-508CBF98FF6F}" type="pres">
      <dgm:prSet presAssocID="{F3E16E44-FE90-4BDA-9ADD-141F8549CF7B}" presName="connectorText" presStyleLbl="sibTrans2D1" presStyleIdx="0" presStyleCnt="6"/>
      <dgm:spPr/>
    </dgm:pt>
    <dgm:pt modelId="{04816659-29DD-40F7-AB60-32F225A515C0}" type="pres">
      <dgm:prSet presAssocID="{23DD7391-048B-4749-BBBB-73075083C7A7}" presName="node" presStyleLbl="node1" presStyleIdx="0" presStyleCnt="6" custAng="0" custScaleX="242025" custScaleY="117863" custRadScaleRad="97354" custRadScaleInc="-1918">
        <dgm:presLayoutVars>
          <dgm:bulletEnabled val="1"/>
        </dgm:presLayoutVars>
      </dgm:prSet>
      <dgm:spPr/>
    </dgm:pt>
    <dgm:pt modelId="{25F1F844-8FCA-4877-A25D-D7EBA1E81EAD}" type="pres">
      <dgm:prSet presAssocID="{C8782F9E-926A-40FD-9C27-6668916E27DC}" presName="parTrans" presStyleLbl="sibTrans2D1" presStyleIdx="1" presStyleCnt="6" custAng="20529968" custLinFactNeighborX="-7260" custLinFactNeighborY="3806"/>
      <dgm:spPr/>
    </dgm:pt>
    <dgm:pt modelId="{E53896DC-CCE1-4280-A7D6-254127438791}" type="pres">
      <dgm:prSet presAssocID="{C8782F9E-926A-40FD-9C27-6668916E27DC}" presName="connectorText" presStyleLbl="sibTrans2D1" presStyleIdx="1" presStyleCnt="6"/>
      <dgm:spPr/>
    </dgm:pt>
    <dgm:pt modelId="{88434CE4-CDF8-4BCA-974B-0911D0AF72B4}" type="pres">
      <dgm:prSet presAssocID="{842EA890-D13F-4887-9B48-B0E389B88B2E}" presName="node" presStyleLbl="node1" presStyleIdx="1" presStyleCnt="6" custAng="0" custScaleX="229581" custScaleY="132190" custRadScaleRad="180115" custRadScaleInc="42598">
        <dgm:presLayoutVars>
          <dgm:bulletEnabled val="1"/>
        </dgm:presLayoutVars>
      </dgm:prSet>
      <dgm:spPr/>
    </dgm:pt>
    <dgm:pt modelId="{F23C29D8-48D8-41A0-B313-F8A6F494887E}" type="pres">
      <dgm:prSet presAssocID="{AE5E6D24-DE04-4489-8066-AFD85E9BF89A}" presName="parTrans" presStyleLbl="sibTrans2D1" presStyleIdx="2" presStyleCnt="6" custAng="650973" custScaleX="113463" custLinFactNeighborX="27047" custLinFactNeighborY="-32738"/>
      <dgm:spPr/>
    </dgm:pt>
    <dgm:pt modelId="{98CDF9B9-4BE3-43C0-B6A7-0219D101B4A4}" type="pres">
      <dgm:prSet presAssocID="{AE5E6D24-DE04-4489-8066-AFD85E9BF89A}" presName="connectorText" presStyleLbl="sibTrans2D1" presStyleIdx="2" presStyleCnt="6"/>
      <dgm:spPr/>
    </dgm:pt>
    <dgm:pt modelId="{D87C402F-CA5C-4865-84D1-1AB10ABA2DB6}" type="pres">
      <dgm:prSet presAssocID="{233AE9A4-C4B6-4D2B-A735-5DBD164C16A3}" presName="node" presStyleLbl="node1" presStyleIdx="2" presStyleCnt="6" custAng="0" custScaleX="238612" custScaleY="128434" custRadScaleRad="174614" custRadScaleInc="-38612">
        <dgm:presLayoutVars>
          <dgm:bulletEnabled val="1"/>
        </dgm:presLayoutVars>
      </dgm:prSet>
      <dgm:spPr/>
    </dgm:pt>
    <dgm:pt modelId="{94E9D99B-4A31-400D-903D-6769AEA51BEE}" type="pres">
      <dgm:prSet presAssocID="{8FC03331-7C56-4DD1-B1C6-C995C816A41E}" presName="parTrans" presStyleLbl="sibTrans2D1" presStyleIdx="3" presStyleCnt="6" custAng="636735"/>
      <dgm:spPr/>
    </dgm:pt>
    <dgm:pt modelId="{2DB617CC-F32D-4637-AF00-F96ECBC84F34}" type="pres">
      <dgm:prSet presAssocID="{8FC03331-7C56-4DD1-B1C6-C995C816A41E}" presName="connectorText" presStyleLbl="sibTrans2D1" presStyleIdx="3" presStyleCnt="6"/>
      <dgm:spPr/>
    </dgm:pt>
    <dgm:pt modelId="{A19E08A0-A167-492B-9E04-170DEEA77816}" type="pres">
      <dgm:prSet presAssocID="{844B14BC-63A1-42A1-B660-D6AF0783AD2A}" presName="node" presStyleLbl="node1" presStyleIdx="3" presStyleCnt="6" custScaleX="260966" custScaleY="114676" custRadScaleRad="97962" custRadScaleInc="-4152">
        <dgm:presLayoutVars>
          <dgm:bulletEnabled val="1"/>
        </dgm:presLayoutVars>
      </dgm:prSet>
      <dgm:spPr/>
    </dgm:pt>
    <dgm:pt modelId="{6016EB0C-60A7-4518-90C6-4DDB23577585}" type="pres">
      <dgm:prSet presAssocID="{169AA80D-43A5-45D9-852E-648F736B3C77}" presName="parTrans" presStyleLbl="sibTrans2D1" presStyleIdx="4" presStyleCnt="6" custAng="20603258"/>
      <dgm:spPr/>
    </dgm:pt>
    <dgm:pt modelId="{D4A593B5-0698-48A7-BB45-261E81E3CFF5}" type="pres">
      <dgm:prSet presAssocID="{169AA80D-43A5-45D9-852E-648F736B3C77}" presName="connectorText" presStyleLbl="sibTrans2D1" presStyleIdx="4" presStyleCnt="6"/>
      <dgm:spPr/>
    </dgm:pt>
    <dgm:pt modelId="{F1462AB4-A7EA-4882-A32A-B31069D49C01}" type="pres">
      <dgm:prSet presAssocID="{1C7B2180-BB0F-4347-8585-8C35CF7FE6E9}" presName="node" presStyleLbl="node1" presStyleIdx="4" presStyleCnt="6" custAng="0" custScaleX="231238" custScaleY="129024" custRadScaleRad="167442" custRadScaleInc="35509">
        <dgm:presLayoutVars>
          <dgm:bulletEnabled val="1"/>
        </dgm:presLayoutVars>
      </dgm:prSet>
      <dgm:spPr/>
    </dgm:pt>
    <dgm:pt modelId="{C450B022-6689-4BC4-AA94-1F3F42ACAE4B}" type="pres">
      <dgm:prSet presAssocID="{460166B2-46AA-4656-836B-3EE4DE2FCD28}" presName="parTrans" presStyleLbl="sibTrans2D1" presStyleIdx="5" presStyleCnt="6" custAng="326969"/>
      <dgm:spPr/>
    </dgm:pt>
    <dgm:pt modelId="{4F2C9ACC-454C-453D-A0FE-A15348961EE2}" type="pres">
      <dgm:prSet presAssocID="{460166B2-46AA-4656-836B-3EE4DE2FCD28}" presName="connectorText" presStyleLbl="sibTrans2D1" presStyleIdx="5" presStyleCnt="6"/>
      <dgm:spPr/>
    </dgm:pt>
    <dgm:pt modelId="{7AD8A55D-0B82-4A1E-9876-AFDEF6E88596}" type="pres">
      <dgm:prSet presAssocID="{FE97E924-BA03-493D-92DE-EE8AF0F9E54E}" presName="node" presStyleLbl="node1" presStyleIdx="5" presStyleCnt="6" custScaleX="225963" custScaleY="127171" custRadScaleRad="172126" custRadScaleInc="-40578">
        <dgm:presLayoutVars>
          <dgm:bulletEnabled val="1"/>
        </dgm:presLayoutVars>
      </dgm:prSet>
      <dgm:spPr/>
    </dgm:pt>
  </dgm:ptLst>
  <dgm:cxnLst>
    <dgm:cxn modelId="{B3362103-4BB4-4E41-B373-5F79309872FC}" type="presOf" srcId="{1189E8B4-701A-4D84-A5F7-9DCABD3FF3CF}" destId="{4A3EEB61-478C-4C11-B933-37B265D4B0BF}" srcOrd="0" destOrd="0" presId="urn:microsoft.com/office/officeart/2005/8/layout/radial5"/>
    <dgm:cxn modelId="{9DD9C50E-AB98-49AC-B40F-B1544A72FBE7}" type="presOf" srcId="{C8782F9E-926A-40FD-9C27-6668916E27DC}" destId="{25F1F844-8FCA-4877-A25D-D7EBA1E81EAD}" srcOrd="0" destOrd="0" presId="urn:microsoft.com/office/officeart/2005/8/layout/radial5"/>
    <dgm:cxn modelId="{F1E99D17-9E25-4DEB-9D20-DAB4225BF864}" srcId="{34EE6C1C-50A9-4416-AB38-BDFD0D67B3B5}" destId="{233AE9A4-C4B6-4D2B-A735-5DBD164C16A3}" srcOrd="2" destOrd="0" parTransId="{AE5E6D24-DE04-4489-8066-AFD85E9BF89A}" sibTransId="{1858786C-A58D-41B0-A3EB-5EC58BA1125A}"/>
    <dgm:cxn modelId="{AB0DB61B-FB21-43BF-A8AA-ECFC88AE968E}" type="presOf" srcId="{23DD7391-048B-4749-BBBB-73075083C7A7}" destId="{04816659-29DD-40F7-AB60-32F225A515C0}" srcOrd="0" destOrd="0" presId="urn:microsoft.com/office/officeart/2005/8/layout/radial5"/>
    <dgm:cxn modelId="{718D8B1F-1E3C-4342-902D-AED4738D0417}" type="presOf" srcId="{AE5E6D24-DE04-4489-8066-AFD85E9BF89A}" destId="{98CDF9B9-4BE3-43C0-B6A7-0219D101B4A4}" srcOrd="1" destOrd="0" presId="urn:microsoft.com/office/officeart/2005/8/layout/radial5"/>
    <dgm:cxn modelId="{7934E527-7CC1-48DF-B648-2026899BAE8B}" srcId="{34EE6C1C-50A9-4416-AB38-BDFD0D67B3B5}" destId="{FE97E924-BA03-493D-92DE-EE8AF0F9E54E}" srcOrd="5" destOrd="0" parTransId="{460166B2-46AA-4656-836B-3EE4DE2FCD28}" sibTransId="{50FE4FFB-23FF-4498-B0F7-DD4AB23B28FE}"/>
    <dgm:cxn modelId="{04689731-0764-4FFC-A6D4-5DD0C16806F2}" type="presOf" srcId="{169AA80D-43A5-45D9-852E-648F736B3C77}" destId="{D4A593B5-0698-48A7-BB45-261E81E3CFF5}" srcOrd="1" destOrd="0" presId="urn:microsoft.com/office/officeart/2005/8/layout/radial5"/>
    <dgm:cxn modelId="{3E696B34-DC61-474D-A971-3FFEE8E215B8}" type="presOf" srcId="{842EA890-D13F-4887-9B48-B0E389B88B2E}" destId="{88434CE4-CDF8-4BCA-974B-0911D0AF72B4}" srcOrd="0" destOrd="0" presId="urn:microsoft.com/office/officeart/2005/8/layout/radial5"/>
    <dgm:cxn modelId="{9498EB6B-F5BF-4895-88B9-845740EE26C0}" type="presOf" srcId="{460166B2-46AA-4656-836B-3EE4DE2FCD28}" destId="{C450B022-6689-4BC4-AA94-1F3F42ACAE4B}" srcOrd="0" destOrd="0" presId="urn:microsoft.com/office/officeart/2005/8/layout/radial5"/>
    <dgm:cxn modelId="{AC373D6E-622B-46C8-9A83-9C6B4AD92444}" type="presOf" srcId="{C8782F9E-926A-40FD-9C27-6668916E27DC}" destId="{E53896DC-CCE1-4280-A7D6-254127438791}" srcOrd="1" destOrd="0" presId="urn:microsoft.com/office/officeart/2005/8/layout/radial5"/>
    <dgm:cxn modelId="{77FA0752-3121-4FD5-823D-639F4636E981}" type="presOf" srcId="{1C7B2180-BB0F-4347-8585-8C35CF7FE6E9}" destId="{F1462AB4-A7EA-4882-A32A-B31069D49C01}" srcOrd="0" destOrd="0" presId="urn:microsoft.com/office/officeart/2005/8/layout/radial5"/>
    <dgm:cxn modelId="{DDDBCF76-87FF-4501-8CCF-55F27920E0CE}" srcId="{1189E8B4-701A-4D84-A5F7-9DCABD3FF3CF}" destId="{C223035E-4039-4E74-8877-29339A8D92CD}" srcOrd="1" destOrd="0" parTransId="{3542ECDA-B506-4F86-BD27-ACA55D86C66A}" sibTransId="{8014D7DD-DC6E-423E-8CD3-9D6F9E177B09}"/>
    <dgm:cxn modelId="{C03AA077-E66F-4937-ACEB-5729DD2EA687}" type="presOf" srcId="{34EE6C1C-50A9-4416-AB38-BDFD0D67B3B5}" destId="{BF9A0A59-AC55-488D-82C4-DB0D2C8A114A}" srcOrd="0" destOrd="0" presId="urn:microsoft.com/office/officeart/2005/8/layout/radial5"/>
    <dgm:cxn modelId="{33553978-62B5-4C14-B88B-B4965E4F6808}" type="presOf" srcId="{AE5E6D24-DE04-4489-8066-AFD85E9BF89A}" destId="{F23C29D8-48D8-41A0-B313-F8A6F494887E}" srcOrd="0" destOrd="0" presId="urn:microsoft.com/office/officeart/2005/8/layout/radial5"/>
    <dgm:cxn modelId="{A3959483-96B3-4D39-8F53-F7F44EB41786}" srcId="{34EE6C1C-50A9-4416-AB38-BDFD0D67B3B5}" destId="{842EA890-D13F-4887-9B48-B0E389B88B2E}" srcOrd="1" destOrd="0" parTransId="{C8782F9E-926A-40FD-9C27-6668916E27DC}" sibTransId="{DCDAE47C-6C35-46D8-92F3-54EF5CDC0F3F}"/>
    <dgm:cxn modelId="{BE929983-7087-4083-B88B-D08F72DBF00B}" type="presOf" srcId="{FE97E924-BA03-493D-92DE-EE8AF0F9E54E}" destId="{7AD8A55D-0B82-4A1E-9876-AFDEF6E88596}" srcOrd="0" destOrd="0" presId="urn:microsoft.com/office/officeart/2005/8/layout/radial5"/>
    <dgm:cxn modelId="{EF162B86-304C-4335-8F70-63A987ED0860}" type="presOf" srcId="{8FC03331-7C56-4DD1-B1C6-C995C816A41E}" destId="{2DB617CC-F32D-4637-AF00-F96ECBC84F34}" srcOrd="1" destOrd="0" presId="urn:microsoft.com/office/officeart/2005/8/layout/radial5"/>
    <dgm:cxn modelId="{72430D98-77AE-4357-A5AC-C3F3F9AF33FD}" type="presOf" srcId="{F3E16E44-FE90-4BDA-9ADD-141F8549CF7B}" destId="{540DA81D-9C42-4E64-BAF5-26E2A13395FD}" srcOrd="0" destOrd="0" presId="urn:microsoft.com/office/officeart/2005/8/layout/radial5"/>
    <dgm:cxn modelId="{E93EDBA5-A3C9-4429-B50B-8A1EE16FAE94}" type="presOf" srcId="{169AA80D-43A5-45D9-852E-648F736B3C77}" destId="{6016EB0C-60A7-4518-90C6-4DDB23577585}" srcOrd="0" destOrd="0" presId="urn:microsoft.com/office/officeart/2005/8/layout/radial5"/>
    <dgm:cxn modelId="{723FD5A9-6E79-4B82-9882-964A0AFB20C0}" type="presOf" srcId="{233AE9A4-C4B6-4D2B-A735-5DBD164C16A3}" destId="{D87C402F-CA5C-4865-84D1-1AB10ABA2DB6}" srcOrd="0" destOrd="0" presId="urn:microsoft.com/office/officeart/2005/8/layout/radial5"/>
    <dgm:cxn modelId="{D35B45B6-C1DE-4C80-B6AB-F924C61FD9E7}" srcId="{34EE6C1C-50A9-4416-AB38-BDFD0D67B3B5}" destId="{23DD7391-048B-4749-BBBB-73075083C7A7}" srcOrd="0" destOrd="0" parTransId="{F3E16E44-FE90-4BDA-9ADD-141F8549CF7B}" sibTransId="{8F55B616-217D-42EC-939C-FC6662EEA768}"/>
    <dgm:cxn modelId="{688AA2BE-6344-4A9A-8819-05728E6C3628}" type="presOf" srcId="{460166B2-46AA-4656-836B-3EE4DE2FCD28}" destId="{4F2C9ACC-454C-453D-A0FE-A15348961EE2}" srcOrd="1" destOrd="0" presId="urn:microsoft.com/office/officeart/2005/8/layout/radial5"/>
    <dgm:cxn modelId="{B8BE0CC9-817F-46AC-9927-E5FEE389C696}" type="presOf" srcId="{844B14BC-63A1-42A1-B660-D6AF0783AD2A}" destId="{A19E08A0-A167-492B-9E04-170DEEA77816}" srcOrd="0" destOrd="0" presId="urn:microsoft.com/office/officeart/2005/8/layout/radial5"/>
    <dgm:cxn modelId="{FCD062D3-A986-4F5E-A56F-175AF25E4DFE}" srcId="{1189E8B4-701A-4D84-A5F7-9DCABD3FF3CF}" destId="{34EE6C1C-50A9-4416-AB38-BDFD0D67B3B5}" srcOrd="0" destOrd="0" parTransId="{B5EC504A-F3E4-4AF8-B343-8C23CDB659CF}" sibTransId="{DD18F64E-FAE7-40CD-A08A-43A6B8221455}"/>
    <dgm:cxn modelId="{4B297ADA-23FF-4796-8767-0ED9D576FB2C}" srcId="{34EE6C1C-50A9-4416-AB38-BDFD0D67B3B5}" destId="{844B14BC-63A1-42A1-B660-D6AF0783AD2A}" srcOrd="3" destOrd="0" parTransId="{8FC03331-7C56-4DD1-B1C6-C995C816A41E}" sibTransId="{7E1852A7-514B-4510-8BDF-CFC312CA41BC}"/>
    <dgm:cxn modelId="{52D4E5DA-97FE-4649-8E46-9D5FCB8D90E5}" type="presOf" srcId="{8FC03331-7C56-4DD1-B1C6-C995C816A41E}" destId="{94E9D99B-4A31-400D-903D-6769AEA51BEE}" srcOrd="0" destOrd="0" presId="urn:microsoft.com/office/officeart/2005/8/layout/radial5"/>
    <dgm:cxn modelId="{7ACE5ADC-8D9A-4C96-B13D-028B77F6F5DC}" type="presOf" srcId="{F3E16E44-FE90-4BDA-9ADD-141F8549CF7B}" destId="{21CDCF81-6926-412F-ADB1-508CBF98FF6F}" srcOrd="1" destOrd="0" presId="urn:microsoft.com/office/officeart/2005/8/layout/radial5"/>
    <dgm:cxn modelId="{1688A9F4-D2DA-440B-B315-B1BE4F2260C2}" srcId="{34EE6C1C-50A9-4416-AB38-BDFD0D67B3B5}" destId="{1C7B2180-BB0F-4347-8585-8C35CF7FE6E9}" srcOrd="4" destOrd="0" parTransId="{169AA80D-43A5-45D9-852E-648F736B3C77}" sibTransId="{A88E82C6-598F-42D5-B1C9-6CE640C5D51D}"/>
    <dgm:cxn modelId="{63171D4D-0212-4DE9-8641-F4ADBED5B05F}" type="presParOf" srcId="{4A3EEB61-478C-4C11-B933-37B265D4B0BF}" destId="{BF9A0A59-AC55-488D-82C4-DB0D2C8A114A}" srcOrd="0" destOrd="0" presId="urn:microsoft.com/office/officeart/2005/8/layout/radial5"/>
    <dgm:cxn modelId="{B32EE0EC-0ED3-4775-A059-320EE67BCAD5}" type="presParOf" srcId="{4A3EEB61-478C-4C11-B933-37B265D4B0BF}" destId="{540DA81D-9C42-4E64-BAF5-26E2A13395FD}" srcOrd="1" destOrd="0" presId="urn:microsoft.com/office/officeart/2005/8/layout/radial5"/>
    <dgm:cxn modelId="{09522CEF-7250-4163-938B-9989B5C8A4E2}" type="presParOf" srcId="{540DA81D-9C42-4E64-BAF5-26E2A13395FD}" destId="{21CDCF81-6926-412F-ADB1-508CBF98FF6F}" srcOrd="0" destOrd="0" presId="urn:microsoft.com/office/officeart/2005/8/layout/radial5"/>
    <dgm:cxn modelId="{27084D39-3D38-4FEB-93DA-3DE39AD32FA0}" type="presParOf" srcId="{4A3EEB61-478C-4C11-B933-37B265D4B0BF}" destId="{04816659-29DD-40F7-AB60-32F225A515C0}" srcOrd="2" destOrd="0" presId="urn:microsoft.com/office/officeart/2005/8/layout/radial5"/>
    <dgm:cxn modelId="{25D53799-E24B-4667-8A97-CC2BE6FACE82}" type="presParOf" srcId="{4A3EEB61-478C-4C11-B933-37B265D4B0BF}" destId="{25F1F844-8FCA-4877-A25D-D7EBA1E81EAD}" srcOrd="3" destOrd="0" presId="urn:microsoft.com/office/officeart/2005/8/layout/radial5"/>
    <dgm:cxn modelId="{E6F8FE91-756B-42F5-9E4D-EB8172AA585B}" type="presParOf" srcId="{25F1F844-8FCA-4877-A25D-D7EBA1E81EAD}" destId="{E53896DC-CCE1-4280-A7D6-254127438791}" srcOrd="0" destOrd="0" presId="urn:microsoft.com/office/officeart/2005/8/layout/radial5"/>
    <dgm:cxn modelId="{C745DD0F-47E6-4BA8-AE11-EBCB01D7A09B}" type="presParOf" srcId="{4A3EEB61-478C-4C11-B933-37B265D4B0BF}" destId="{88434CE4-CDF8-4BCA-974B-0911D0AF72B4}" srcOrd="4" destOrd="0" presId="urn:microsoft.com/office/officeart/2005/8/layout/radial5"/>
    <dgm:cxn modelId="{112C4E31-27E6-4180-B908-CC976FE89E1B}" type="presParOf" srcId="{4A3EEB61-478C-4C11-B933-37B265D4B0BF}" destId="{F23C29D8-48D8-41A0-B313-F8A6F494887E}" srcOrd="5" destOrd="0" presId="urn:microsoft.com/office/officeart/2005/8/layout/radial5"/>
    <dgm:cxn modelId="{D5182ECF-2BD1-4373-AB30-B309D842DD84}" type="presParOf" srcId="{F23C29D8-48D8-41A0-B313-F8A6F494887E}" destId="{98CDF9B9-4BE3-43C0-B6A7-0219D101B4A4}" srcOrd="0" destOrd="0" presId="urn:microsoft.com/office/officeart/2005/8/layout/radial5"/>
    <dgm:cxn modelId="{2EEB378C-C287-4953-9171-007B7D860BD7}" type="presParOf" srcId="{4A3EEB61-478C-4C11-B933-37B265D4B0BF}" destId="{D87C402F-CA5C-4865-84D1-1AB10ABA2DB6}" srcOrd="6" destOrd="0" presId="urn:microsoft.com/office/officeart/2005/8/layout/radial5"/>
    <dgm:cxn modelId="{C9018B39-DD39-4FA7-AB97-67A84A850469}" type="presParOf" srcId="{4A3EEB61-478C-4C11-B933-37B265D4B0BF}" destId="{94E9D99B-4A31-400D-903D-6769AEA51BEE}" srcOrd="7" destOrd="0" presId="urn:microsoft.com/office/officeart/2005/8/layout/radial5"/>
    <dgm:cxn modelId="{607110BC-C9F5-4A63-B3B4-1DD248056905}" type="presParOf" srcId="{94E9D99B-4A31-400D-903D-6769AEA51BEE}" destId="{2DB617CC-F32D-4637-AF00-F96ECBC84F34}" srcOrd="0" destOrd="0" presId="urn:microsoft.com/office/officeart/2005/8/layout/radial5"/>
    <dgm:cxn modelId="{D66BCAEF-4874-4B37-A8BA-16D00BD6A643}" type="presParOf" srcId="{4A3EEB61-478C-4C11-B933-37B265D4B0BF}" destId="{A19E08A0-A167-492B-9E04-170DEEA77816}" srcOrd="8" destOrd="0" presId="urn:microsoft.com/office/officeart/2005/8/layout/radial5"/>
    <dgm:cxn modelId="{58B5B3A4-3A4C-4386-83CE-AB9DF792D6B6}" type="presParOf" srcId="{4A3EEB61-478C-4C11-B933-37B265D4B0BF}" destId="{6016EB0C-60A7-4518-90C6-4DDB23577585}" srcOrd="9" destOrd="0" presId="urn:microsoft.com/office/officeart/2005/8/layout/radial5"/>
    <dgm:cxn modelId="{9397BB85-F87E-4E0A-9113-83ECCE12DAAC}" type="presParOf" srcId="{6016EB0C-60A7-4518-90C6-4DDB23577585}" destId="{D4A593B5-0698-48A7-BB45-261E81E3CFF5}" srcOrd="0" destOrd="0" presId="urn:microsoft.com/office/officeart/2005/8/layout/radial5"/>
    <dgm:cxn modelId="{3FA6B558-301D-41E3-A23B-F639A70B9996}" type="presParOf" srcId="{4A3EEB61-478C-4C11-B933-37B265D4B0BF}" destId="{F1462AB4-A7EA-4882-A32A-B31069D49C01}" srcOrd="10" destOrd="0" presId="urn:microsoft.com/office/officeart/2005/8/layout/radial5"/>
    <dgm:cxn modelId="{E082FE80-6267-447D-BDBC-C1B34D7015C6}" type="presParOf" srcId="{4A3EEB61-478C-4C11-B933-37B265D4B0BF}" destId="{C450B022-6689-4BC4-AA94-1F3F42ACAE4B}" srcOrd="11" destOrd="0" presId="urn:microsoft.com/office/officeart/2005/8/layout/radial5"/>
    <dgm:cxn modelId="{437314CB-A70F-45C6-9CA8-88BADA6BFF77}" type="presParOf" srcId="{C450B022-6689-4BC4-AA94-1F3F42ACAE4B}" destId="{4F2C9ACC-454C-453D-A0FE-A15348961EE2}" srcOrd="0" destOrd="0" presId="urn:microsoft.com/office/officeart/2005/8/layout/radial5"/>
    <dgm:cxn modelId="{DCA4E8C5-DDE5-421C-85C0-87E2F0BB54BD}" type="presParOf" srcId="{4A3EEB61-478C-4C11-B933-37B265D4B0BF}" destId="{7AD8A55D-0B82-4A1E-9876-AFDEF6E88596}" srcOrd="12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189E8B4-701A-4D84-A5F7-9DCABD3FF3CF}" type="doc">
      <dgm:prSet loTypeId="urn:microsoft.com/office/officeart/2005/8/layout/radial5" loCatId="cycl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3DD7391-048B-4749-BBBB-73075083C7A7}">
      <dgm:prSet phldrT="[Текст]" custT="1"/>
      <dgm:spPr/>
      <dgm:t>
        <a:bodyPr/>
        <a:lstStyle/>
        <a:p>
          <a:r>
            <a:rPr lang="ru-RU" sz="2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Зрелый возрастной преподавательский состав</a:t>
          </a:r>
        </a:p>
      </dgm:t>
    </dgm:pt>
    <dgm:pt modelId="{F3E16E44-FE90-4BDA-9ADD-141F8549CF7B}" type="parTrans" cxnId="{D35B45B6-C1DE-4C80-B6AB-F924C61FD9E7}">
      <dgm:prSet/>
      <dgm:spPr/>
      <dgm:t>
        <a:bodyPr/>
        <a:lstStyle/>
        <a:p>
          <a:endParaRPr lang="ru-RU"/>
        </a:p>
      </dgm:t>
    </dgm:pt>
    <dgm:pt modelId="{8F55B616-217D-42EC-939C-FC6662EEA768}" type="sibTrans" cxnId="{D35B45B6-C1DE-4C80-B6AB-F924C61FD9E7}">
      <dgm:prSet/>
      <dgm:spPr/>
      <dgm:t>
        <a:bodyPr/>
        <a:lstStyle/>
        <a:p>
          <a:endParaRPr lang="ru-RU"/>
        </a:p>
      </dgm:t>
    </dgm:pt>
    <dgm:pt modelId="{842EA890-D13F-4887-9B48-B0E389B88B2E}">
      <dgm:prSet phldrT="[Текст]" custT="1"/>
      <dgm:spPr/>
      <dgm:t>
        <a:bodyPr/>
        <a:lstStyle/>
        <a:p>
          <a:r>
            <a:rPr lang="ru-RU" sz="2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Низкий процент педагогов с </a:t>
          </a:r>
        </a:p>
        <a:p>
          <a:r>
            <a:rPr lang="ru-RU" sz="2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1 дидактической степенью</a:t>
          </a:r>
        </a:p>
      </dgm:t>
    </dgm:pt>
    <dgm:pt modelId="{C8782F9E-926A-40FD-9C27-6668916E27DC}" type="parTrans" cxnId="{A3959483-96B3-4D39-8F53-F7F44EB41786}">
      <dgm:prSet/>
      <dgm:spPr/>
      <dgm:t>
        <a:bodyPr/>
        <a:lstStyle/>
        <a:p>
          <a:endParaRPr lang="ru-RU"/>
        </a:p>
      </dgm:t>
    </dgm:pt>
    <dgm:pt modelId="{DCDAE47C-6C35-46D8-92F3-54EF5CDC0F3F}" type="sibTrans" cxnId="{A3959483-96B3-4D39-8F53-F7F44EB41786}">
      <dgm:prSet/>
      <dgm:spPr/>
      <dgm:t>
        <a:bodyPr/>
        <a:lstStyle/>
        <a:p>
          <a:endParaRPr lang="ru-RU"/>
        </a:p>
      </dgm:t>
    </dgm:pt>
    <dgm:pt modelId="{FE97E924-BA03-493D-92DE-EE8AF0F9E54E}">
      <dgm:prSet custT="1"/>
      <dgm:spPr/>
      <dgm:t>
        <a:bodyPr/>
        <a:lstStyle/>
        <a:p>
          <a:r>
            <a:rPr lang="ru-RU" sz="2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Отсутствие эффективной системы наставничества для молодых педагогов</a:t>
          </a:r>
        </a:p>
      </dgm:t>
    </dgm:pt>
    <dgm:pt modelId="{460166B2-46AA-4656-836B-3EE4DE2FCD28}" type="parTrans" cxnId="{7934E527-7CC1-48DF-B648-2026899BAE8B}">
      <dgm:prSet/>
      <dgm:spPr/>
      <dgm:t>
        <a:bodyPr/>
        <a:lstStyle/>
        <a:p>
          <a:endParaRPr lang="ru-RU"/>
        </a:p>
      </dgm:t>
    </dgm:pt>
    <dgm:pt modelId="{50FE4FFB-23FF-4498-B0F7-DD4AB23B28FE}" type="sibTrans" cxnId="{7934E527-7CC1-48DF-B648-2026899BAE8B}">
      <dgm:prSet/>
      <dgm:spPr/>
      <dgm:t>
        <a:bodyPr/>
        <a:lstStyle/>
        <a:p>
          <a:endParaRPr lang="ru-RU"/>
        </a:p>
      </dgm:t>
    </dgm:pt>
    <dgm:pt modelId="{1C7B2180-BB0F-4347-8585-8C35CF7FE6E9}">
      <dgm:prSet custT="1"/>
      <dgm:spPr/>
      <dgm:t>
        <a:bodyPr/>
        <a:lstStyle/>
        <a:p>
          <a:r>
            <a:rPr lang="ru-RU" sz="2000" b="1" dirty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Нет прозрачности в оценке работы учителей</a:t>
          </a:r>
        </a:p>
      </dgm:t>
    </dgm:pt>
    <dgm:pt modelId="{169AA80D-43A5-45D9-852E-648F736B3C77}" type="parTrans" cxnId="{1688A9F4-D2DA-440B-B315-B1BE4F2260C2}">
      <dgm:prSet/>
      <dgm:spPr/>
      <dgm:t>
        <a:bodyPr/>
        <a:lstStyle/>
        <a:p>
          <a:endParaRPr lang="ru-RU"/>
        </a:p>
      </dgm:t>
    </dgm:pt>
    <dgm:pt modelId="{A88E82C6-598F-42D5-B1C9-6CE640C5D51D}" type="sibTrans" cxnId="{1688A9F4-D2DA-440B-B315-B1BE4F2260C2}">
      <dgm:prSet/>
      <dgm:spPr/>
      <dgm:t>
        <a:bodyPr/>
        <a:lstStyle/>
        <a:p>
          <a:endParaRPr lang="ru-RU"/>
        </a:p>
      </dgm:t>
    </dgm:pt>
    <dgm:pt modelId="{34EE6C1C-50A9-4416-AB38-BDFD0D67B3B5}">
      <dgm:prSet phldrT="[Текст]" custT="1"/>
      <dgm:spPr>
        <a:solidFill>
          <a:srgbClr val="FFC000"/>
        </a:solidFill>
      </dgm:spPr>
      <dgm:t>
        <a:bodyPr/>
        <a:lstStyle/>
        <a:p>
          <a:r>
            <a:rPr lang="en-US" sz="2600" b="1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V.</a:t>
          </a:r>
          <a:r>
            <a:rPr lang="ru-RU" sz="2600" b="1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2</a:t>
          </a:r>
          <a:r>
            <a:rPr lang="en-US" sz="2600" b="1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. </a:t>
          </a:r>
          <a:r>
            <a:rPr lang="ru-RU" sz="2600" b="1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Развитие кадрового потенциала</a:t>
          </a:r>
        </a:p>
      </dgm:t>
    </dgm:pt>
    <dgm:pt modelId="{DD18F64E-FAE7-40CD-A08A-43A6B8221455}" type="sibTrans" cxnId="{FCD062D3-A986-4F5E-A56F-175AF25E4DFE}">
      <dgm:prSet/>
      <dgm:spPr/>
      <dgm:t>
        <a:bodyPr/>
        <a:lstStyle/>
        <a:p>
          <a:endParaRPr lang="ru-RU"/>
        </a:p>
      </dgm:t>
    </dgm:pt>
    <dgm:pt modelId="{B5EC504A-F3E4-4AF8-B343-8C23CDB659CF}" type="parTrans" cxnId="{FCD062D3-A986-4F5E-A56F-175AF25E4DFE}">
      <dgm:prSet/>
      <dgm:spPr/>
      <dgm:t>
        <a:bodyPr/>
        <a:lstStyle/>
        <a:p>
          <a:endParaRPr lang="ru-RU"/>
        </a:p>
      </dgm:t>
    </dgm:pt>
    <dgm:pt modelId="{C223035E-4039-4E74-8877-29339A8D92CD}">
      <dgm:prSet/>
      <dgm:spPr/>
    </dgm:pt>
    <dgm:pt modelId="{3542ECDA-B506-4F86-BD27-ACA55D86C66A}" type="parTrans" cxnId="{DDDBCF76-87FF-4501-8CCF-55F27920E0CE}">
      <dgm:prSet/>
      <dgm:spPr/>
      <dgm:t>
        <a:bodyPr/>
        <a:lstStyle/>
        <a:p>
          <a:endParaRPr lang="ru-MD"/>
        </a:p>
      </dgm:t>
    </dgm:pt>
    <dgm:pt modelId="{8014D7DD-DC6E-423E-8CD3-9D6F9E177B09}" type="sibTrans" cxnId="{DDDBCF76-87FF-4501-8CCF-55F27920E0CE}">
      <dgm:prSet/>
      <dgm:spPr/>
      <dgm:t>
        <a:bodyPr/>
        <a:lstStyle/>
        <a:p>
          <a:endParaRPr lang="ru-MD"/>
        </a:p>
      </dgm:t>
    </dgm:pt>
    <dgm:pt modelId="{4A3EEB61-478C-4C11-B933-37B265D4B0BF}" type="pres">
      <dgm:prSet presAssocID="{1189E8B4-701A-4D84-A5F7-9DCABD3FF3CF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F9A0A59-AC55-488D-82C4-DB0D2C8A114A}" type="pres">
      <dgm:prSet presAssocID="{34EE6C1C-50A9-4416-AB38-BDFD0D67B3B5}" presName="centerShape" presStyleLbl="node0" presStyleIdx="0" presStyleCnt="1" custScaleX="227502" custScaleY="105269" custLinFactNeighborX="1033" custLinFactNeighborY="305"/>
      <dgm:spPr/>
    </dgm:pt>
    <dgm:pt modelId="{540DA81D-9C42-4E64-BAF5-26E2A13395FD}" type="pres">
      <dgm:prSet presAssocID="{F3E16E44-FE90-4BDA-9ADD-141F8549CF7B}" presName="parTrans" presStyleLbl="sibTrans2D1" presStyleIdx="0" presStyleCnt="4" custScaleX="136396"/>
      <dgm:spPr/>
    </dgm:pt>
    <dgm:pt modelId="{21CDCF81-6926-412F-ADB1-508CBF98FF6F}" type="pres">
      <dgm:prSet presAssocID="{F3E16E44-FE90-4BDA-9ADD-141F8549CF7B}" presName="connectorText" presStyleLbl="sibTrans2D1" presStyleIdx="0" presStyleCnt="4"/>
      <dgm:spPr/>
    </dgm:pt>
    <dgm:pt modelId="{04816659-29DD-40F7-AB60-32F225A515C0}" type="pres">
      <dgm:prSet presAssocID="{23DD7391-048B-4749-BBBB-73075083C7A7}" presName="node" presStyleLbl="node1" presStyleIdx="0" presStyleCnt="4" custAng="0" custScaleX="228768" custScaleY="120312">
        <dgm:presLayoutVars>
          <dgm:bulletEnabled val="1"/>
        </dgm:presLayoutVars>
      </dgm:prSet>
      <dgm:spPr/>
    </dgm:pt>
    <dgm:pt modelId="{25F1F844-8FCA-4877-A25D-D7EBA1E81EAD}" type="pres">
      <dgm:prSet presAssocID="{C8782F9E-926A-40FD-9C27-6668916E27DC}" presName="parTrans" presStyleLbl="sibTrans2D1" presStyleIdx="1" presStyleCnt="4" custAng="62900" custScaleX="120635" custLinFactNeighborX="27668" custLinFactNeighborY="-48936"/>
      <dgm:spPr/>
    </dgm:pt>
    <dgm:pt modelId="{E53896DC-CCE1-4280-A7D6-254127438791}" type="pres">
      <dgm:prSet presAssocID="{C8782F9E-926A-40FD-9C27-6668916E27DC}" presName="connectorText" presStyleLbl="sibTrans2D1" presStyleIdx="1" presStyleCnt="4"/>
      <dgm:spPr/>
    </dgm:pt>
    <dgm:pt modelId="{88434CE4-CDF8-4BCA-974B-0911D0AF72B4}" type="pres">
      <dgm:prSet presAssocID="{842EA890-D13F-4887-9B48-B0E389B88B2E}" presName="node" presStyleLbl="node1" presStyleIdx="1" presStyleCnt="4" custAng="0" custScaleX="225259" custScaleY="138957" custRadScaleRad="174361" custRadScaleInc="32237">
        <dgm:presLayoutVars>
          <dgm:bulletEnabled val="1"/>
        </dgm:presLayoutVars>
      </dgm:prSet>
      <dgm:spPr/>
    </dgm:pt>
    <dgm:pt modelId="{6016EB0C-60A7-4518-90C6-4DDB23577585}" type="pres">
      <dgm:prSet presAssocID="{169AA80D-43A5-45D9-852E-648F736B3C77}" presName="parTrans" presStyleLbl="sibTrans2D1" presStyleIdx="2" presStyleCnt="4" custAng="21560354" custScaleX="142820"/>
      <dgm:spPr/>
    </dgm:pt>
    <dgm:pt modelId="{D4A593B5-0698-48A7-BB45-261E81E3CFF5}" type="pres">
      <dgm:prSet presAssocID="{169AA80D-43A5-45D9-852E-648F736B3C77}" presName="connectorText" presStyleLbl="sibTrans2D1" presStyleIdx="2" presStyleCnt="4"/>
      <dgm:spPr/>
    </dgm:pt>
    <dgm:pt modelId="{F1462AB4-A7EA-4882-A32A-B31069D49C01}" type="pres">
      <dgm:prSet presAssocID="{1C7B2180-BB0F-4347-8585-8C35CF7FE6E9}" presName="node" presStyleLbl="node1" presStyleIdx="2" presStyleCnt="4" custAng="0" custScaleX="247008" custScaleY="127693" custRadScaleRad="100004" custRadScaleInc="-1171">
        <dgm:presLayoutVars>
          <dgm:bulletEnabled val="1"/>
        </dgm:presLayoutVars>
      </dgm:prSet>
      <dgm:spPr/>
    </dgm:pt>
    <dgm:pt modelId="{C450B022-6689-4BC4-AA94-1F3F42ACAE4B}" type="pres">
      <dgm:prSet presAssocID="{460166B2-46AA-4656-836B-3EE4DE2FCD28}" presName="parTrans" presStyleLbl="sibTrans2D1" presStyleIdx="3" presStyleCnt="4" custAng="1776266" custScaleX="188928" custScaleY="106255" custLinFactNeighborX="330" custLinFactNeighborY="-12449"/>
      <dgm:spPr/>
    </dgm:pt>
    <dgm:pt modelId="{4F2C9ACC-454C-453D-A0FE-A15348961EE2}" type="pres">
      <dgm:prSet presAssocID="{460166B2-46AA-4656-836B-3EE4DE2FCD28}" presName="connectorText" presStyleLbl="sibTrans2D1" presStyleIdx="3" presStyleCnt="4"/>
      <dgm:spPr/>
    </dgm:pt>
    <dgm:pt modelId="{7AD8A55D-0B82-4A1E-9876-AFDEF6E88596}" type="pres">
      <dgm:prSet presAssocID="{FE97E924-BA03-493D-92DE-EE8AF0F9E54E}" presName="node" presStyleLbl="node1" presStyleIdx="3" presStyleCnt="4" custScaleX="229688" custScaleY="135504" custRadScaleRad="168061" custRadScaleInc="21510">
        <dgm:presLayoutVars>
          <dgm:bulletEnabled val="1"/>
        </dgm:presLayoutVars>
      </dgm:prSet>
      <dgm:spPr/>
    </dgm:pt>
  </dgm:ptLst>
  <dgm:cxnLst>
    <dgm:cxn modelId="{B3362103-4BB4-4E41-B373-5F79309872FC}" type="presOf" srcId="{1189E8B4-701A-4D84-A5F7-9DCABD3FF3CF}" destId="{4A3EEB61-478C-4C11-B933-37B265D4B0BF}" srcOrd="0" destOrd="0" presId="urn:microsoft.com/office/officeart/2005/8/layout/radial5"/>
    <dgm:cxn modelId="{9DD9C50E-AB98-49AC-B40F-B1544A72FBE7}" type="presOf" srcId="{C8782F9E-926A-40FD-9C27-6668916E27DC}" destId="{25F1F844-8FCA-4877-A25D-D7EBA1E81EAD}" srcOrd="0" destOrd="0" presId="urn:microsoft.com/office/officeart/2005/8/layout/radial5"/>
    <dgm:cxn modelId="{AB0DB61B-FB21-43BF-A8AA-ECFC88AE968E}" type="presOf" srcId="{23DD7391-048B-4749-BBBB-73075083C7A7}" destId="{04816659-29DD-40F7-AB60-32F225A515C0}" srcOrd="0" destOrd="0" presId="urn:microsoft.com/office/officeart/2005/8/layout/radial5"/>
    <dgm:cxn modelId="{7934E527-7CC1-48DF-B648-2026899BAE8B}" srcId="{34EE6C1C-50A9-4416-AB38-BDFD0D67B3B5}" destId="{FE97E924-BA03-493D-92DE-EE8AF0F9E54E}" srcOrd="3" destOrd="0" parTransId="{460166B2-46AA-4656-836B-3EE4DE2FCD28}" sibTransId="{50FE4FFB-23FF-4498-B0F7-DD4AB23B28FE}"/>
    <dgm:cxn modelId="{04689731-0764-4FFC-A6D4-5DD0C16806F2}" type="presOf" srcId="{169AA80D-43A5-45D9-852E-648F736B3C77}" destId="{D4A593B5-0698-48A7-BB45-261E81E3CFF5}" srcOrd="1" destOrd="0" presId="urn:microsoft.com/office/officeart/2005/8/layout/radial5"/>
    <dgm:cxn modelId="{3E696B34-DC61-474D-A971-3FFEE8E215B8}" type="presOf" srcId="{842EA890-D13F-4887-9B48-B0E389B88B2E}" destId="{88434CE4-CDF8-4BCA-974B-0911D0AF72B4}" srcOrd="0" destOrd="0" presId="urn:microsoft.com/office/officeart/2005/8/layout/radial5"/>
    <dgm:cxn modelId="{9498EB6B-F5BF-4895-88B9-845740EE26C0}" type="presOf" srcId="{460166B2-46AA-4656-836B-3EE4DE2FCD28}" destId="{C450B022-6689-4BC4-AA94-1F3F42ACAE4B}" srcOrd="0" destOrd="0" presId="urn:microsoft.com/office/officeart/2005/8/layout/radial5"/>
    <dgm:cxn modelId="{AC373D6E-622B-46C8-9A83-9C6B4AD92444}" type="presOf" srcId="{C8782F9E-926A-40FD-9C27-6668916E27DC}" destId="{E53896DC-CCE1-4280-A7D6-254127438791}" srcOrd="1" destOrd="0" presId="urn:microsoft.com/office/officeart/2005/8/layout/radial5"/>
    <dgm:cxn modelId="{77FA0752-3121-4FD5-823D-639F4636E981}" type="presOf" srcId="{1C7B2180-BB0F-4347-8585-8C35CF7FE6E9}" destId="{F1462AB4-A7EA-4882-A32A-B31069D49C01}" srcOrd="0" destOrd="0" presId="urn:microsoft.com/office/officeart/2005/8/layout/radial5"/>
    <dgm:cxn modelId="{DDDBCF76-87FF-4501-8CCF-55F27920E0CE}" srcId="{1189E8B4-701A-4D84-A5F7-9DCABD3FF3CF}" destId="{C223035E-4039-4E74-8877-29339A8D92CD}" srcOrd="1" destOrd="0" parTransId="{3542ECDA-B506-4F86-BD27-ACA55D86C66A}" sibTransId="{8014D7DD-DC6E-423E-8CD3-9D6F9E177B09}"/>
    <dgm:cxn modelId="{C03AA077-E66F-4937-ACEB-5729DD2EA687}" type="presOf" srcId="{34EE6C1C-50A9-4416-AB38-BDFD0D67B3B5}" destId="{BF9A0A59-AC55-488D-82C4-DB0D2C8A114A}" srcOrd="0" destOrd="0" presId="urn:microsoft.com/office/officeart/2005/8/layout/radial5"/>
    <dgm:cxn modelId="{A3959483-96B3-4D39-8F53-F7F44EB41786}" srcId="{34EE6C1C-50A9-4416-AB38-BDFD0D67B3B5}" destId="{842EA890-D13F-4887-9B48-B0E389B88B2E}" srcOrd="1" destOrd="0" parTransId="{C8782F9E-926A-40FD-9C27-6668916E27DC}" sibTransId="{DCDAE47C-6C35-46D8-92F3-54EF5CDC0F3F}"/>
    <dgm:cxn modelId="{BE929983-7087-4083-B88B-D08F72DBF00B}" type="presOf" srcId="{FE97E924-BA03-493D-92DE-EE8AF0F9E54E}" destId="{7AD8A55D-0B82-4A1E-9876-AFDEF6E88596}" srcOrd="0" destOrd="0" presId="urn:microsoft.com/office/officeart/2005/8/layout/radial5"/>
    <dgm:cxn modelId="{72430D98-77AE-4357-A5AC-C3F3F9AF33FD}" type="presOf" srcId="{F3E16E44-FE90-4BDA-9ADD-141F8549CF7B}" destId="{540DA81D-9C42-4E64-BAF5-26E2A13395FD}" srcOrd="0" destOrd="0" presId="urn:microsoft.com/office/officeart/2005/8/layout/radial5"/>
    <dgm:cxn modelId="{E93EDBA5-A3C9-4429-B50B-8A1EE16FAE94}" type="presOf" srcId="{169AA80D-43A5-45D9-852E-648F736B3C77}" destId="{6016EB0C-60A7-4518-90C6-4DDB23577585}" srcOrd="0" destOrd="0" presId="urn:microsoft.com/office/officeart/2005/8/layout/radial5"/>
    <dgm:cxn modelId="{D35B45B6-C1DE-4C80-B6AB-F924C61FD9E7}" srcId="{34EE6C1C-50A9-4416-AB38-BDFD0D67B3B5}" destId="{23DD7391-048B-4749-BBBB-73075083C7A7}" srcOrd="0" destOrd="0" parTransId="{F3E16E44-FE90-4BDA-9ADD-141F8549CF7B}" sibTransId="{8F55B616-217D-42EC-939C-FC6662EEA768}"/>
    <dgm:cxn modelId="{688AA2BE-6344-4A9A-8819-05728E6C3628}" type="presOf" srcId="{460166B2-46AA-4656-836B-3EE4DE2FCD28}" destId="{4F2C9ACC-454C-453D-A0FE-A15348961EE2}" srcOrd="1" destOrd="0" presId="urn:microsoft.com/office/officeart/2005/8/layout/radial5"/>
    <dgm:cxn modelId="{FCD062D3-A986-4F5E-A56F-175AF25E4DFE}" srcId="{1189E8B4-701A-4D84-A5F7-9DCABD3FF3CF}" destId="{34EE6C1C-50A9-4416-AB38-BDFD0D67B3B5}" srcOrd="0" destOrd="0" parTransId="{B5EC504A-F3E4-4AF8-B343-8C23CDB659CF}" sibTransId="{DD18F64E-FAE7-40CD-A08A-43A6B8221455}"/>
    <dgm:cxn modelId="{7ACE5ADC-8D9A-4C96-B13D-028B77F6F5DC}" type="presOf" srcId="{F3E16E44-FE90-4BDA-9ADD-141F8549CF7B}" destId="{21CDCF81-6926-412F-ADB1-508CBF98FF6F}" srcOrd="1" destOrd="0" presId="urn:microsoft.com/office/officeart/2005/8/layout/radial5"/>
    <dgm:cxn modelId="{1688A9F4-D2DA-440B-B315-B1BE4F2260C2}" srcId="{34EE6C1C-50A9-4416-AB38-BDFD0D67B3B5}" destId="{1C7B2180-BB0F-4347-8585-8C35CF7FE6E9}" srcOrd="2" destOrd="0" parTransId="{169AA80D-43A5-45D9-852E-648F736B3C77}" sibTransId="{A88E82C6-598F-42D5-B1C9-6CE640C5D51D}"/>
    <dgm:cxn modelId="{63171D4D-0212-4DE9-8641-F4ADBED5B05F}" type="presParOf" srcId="{4A3EEB61-478C-4C11-B933-37B265D4B0BF}" destId="{BF9A0A59-AC55-488D-82C4-DB0D2C8A114A}" srcOrd="0" destOrd="0" presId="urn:microsoft.com/office/officeart/2005/8/layout/radial5"/>
    <dgm:cxn modelId="{B32EE0EC-0ED3-4775-A059-320EE67BCAD5}" type="presParOf" srcId="{4A3EEB61-478C-4C11-B933-37B265D4B0BF}" destId="{540DA81D-9C42-4E64-BAF5-26E2A13395FD}" srcOrd="1" destOrd="0" presId="urn:microsoft.com/office/officeart/2005/8/layout/radial5"/>
    <dgm:cxn modelId="{09522CEF-7250-4163-938B-9989B5C8A4E2}" type="presParOf" srcId="{540DA81D-9C42-4E64-BAF5-26E2A13395FD}" destId="{21CDCF81-6926-412F-ADB1-508CBF98FF6F}" srcOrd="0" destOrd="0" presId="urn:microsoft.com/office/officeart/2005/8/layout/radial5"/>
    <dgm:cxn modelId="{27084D39-3D38-4FEB-93DA-3DE39AD32FA0}" type="presParOf" srcId="{4A3EEB61-478C-4C11-B933-37B265D4B0BF}" destId="{04816659-29DD-40F7-AB60-32F225A515C0}" srcOrd="2" destOrd="0" presId="urn:microsoft.com/office/officeart/2005/8/layout/radial5"/>
    <dgm:cxn modelId="{25D53799-E24B-4667-8A97-CC2BE6FACE82}" type="presParOf" srcId="{4A3EEB61-478C-4C11-B933-37B265D4B0BF}" destId="{25F1F844-8FCA-4877-A25D-D7EBA1E81EAD}" srcOrd="3" destOrd="0" presId="urn:microsoft.com/office/officeart/2005/8/layout/radial5"/>
    <dgm:cxn modelId="{E6F8FE91-756B-42F5-9E4D-EB8172AA585B}" type="presParOf" srcId="{25F1F844-8FCA-4877-A25D-D7EBA1E81EAD}" destId="{E53896DC-CCE1-4280-A7D6-254127438791}" srcOrd="0" destOrd="0" presId="urn:microsoft.com/office/officeart/2005/8/layout/radial5"/>
    <dgm:cxn modelId="{C745DD0F-47E6-4BA8-AE11-EBCB01D7A09B}" type="presParOf" srcId="{4A3EEB61-478C-4C11-B933-37B265D4B0BF}" destId="{88434CE4-CDF8-4BCA-974B-0911D0AF72B4}" srcOrd="4" destOrd="0" presId="urn:microsoft.com/office/officeart/2005/8/layout/radial5"/>
    <dgm:cxn modelId="{58B5B3A4-3A4C-4386-83CE-AB9DF792D6B6}" type="presParOf" srcId="{4A3EEB61-478C-4C11-B933-37B265D4B0BF}" destId="{6016EB0C-60A7-4518-90C6-4DDB23577585}" srcOrd="5" destOrd="0" presId="urn:microsoft.com/office/officeart/2005/8/layout/radial5"/>
    <dgm:cxn modelId="{9397BB85-F87E-4E0A-9113-83ECCE12DAAC}" type="presParOf" srcId="{6016EB0C-60A7-4518-90C6-4DDB23577585}" destId="{D4A593B5-0698-48A7-BB45-261E81E3CFF5}" srcOrd="0" destOrd="0" presId="urn:microsoft.com/office/officeart/2005/8/layout/radial5"/>
    <dgm:cxn modelId="{3FA6B558-301D-41E3-A23B-F639A70B9996}" type="presParOf" srcId="{4A3EEB61-478C-4C11-B933-37B265D4B0BF}" destId="{F1462AB4-A7EA-4882-A32A-B31069D49C01}" srcOrd="6" destOrd="0" presId="urn:microsoft.com/office/officeart/2005/8/layout/radial5"/>
    <dgm:cxn modelId="{E082FE80-6267-447D-BDBC-C1B34D7015C6}" type="presParOf" srcId="{4A3EEB61-478C-4C11-B933-37B265D4B0BF}" destId="{C450B022-6689-4BC4-AA94-1F3F42ACAE4B}" srcOrd="7" destOrd="0" presId="urn:microsoft.com/office/officeart/2005/8/layout/radial5"/>
    <dgm:cxn modelId="{437314CB-A70F-45C6-9CA8-88BADA6BFF77}" type="presParOf" srcId="{C450B022-6689-4BC4-AA94-1F3F42ACAE4B}" destId="{4F2C9ACC-454C-453D-A0FE-A15348961EE2}" srcOrd="0" destOrd="0" presId="urn:microsoft.com/office/officeart/2005/8/layout/radial5"/>
    <dgm:cxn modelId="{DCA4E8C5-DDE5-421C-85C0-87E2F0BB54BD}" type="presParOf" srcId="{4A3EEB61-478C-4C11-B933-37B265D4B0BF}" destId="{7AD8A55D-0B82-4A1E-9876-AFDEF6E88596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189E8B4-701A-4D84-A5F7-9DCABD3FF3CF}" type="doc">
      <dgm:prSet loTypeId="urn:microsoft.com/office/officeart/2005/8/layout/radial5" loCatId="cycl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3DD7391-048B-4749-BBBB-73075083C7A7}">
      <dgm:prSet phldrT="[Текст]" custT="1"/>
      <dgm:spPr/>
      <dgm:t>
        <a:bodyPr/>
        <a:lstStyle/>
        <a:p>
          <a:r>
            <a:rPr lang="ru-RU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Недостаточная интеграция межпредметных связей в учебные программы</a:t>
          </a:r>
        </a:p>
      </dgm:t>
    </dgm:pt>
    <dgm:pt modelId="{F3E16E44-FE90-4BDA-9ADD-141F8549CF7B}" type="parTrans" cxnId="{D35B45B6-C1DE-4C80-B6AB-F924C61FD9E7}">
      <dgm:prSet/>
      <dgm:spPr/>
      <dgm:t>
        <a:bodyPr/>
        <a:lstStyle/>
        <a:p>
          <a:endParaRPr lang="ru-RU"/>
        </a:p>
      </dgm:t>
    </dgm:pt>
    <dgm:pt modelId="{8F55B616-217D-42EC-939C-FC6662EEA768}" type="sibTrans" cxnId="{D35B45B6-C1DE-4C80-B6AB-F924C61FD9E7}">
      <dgm:prSet/>
      <dgm:spPr/>
      <dgm:t>
        <a:bodyPr/>
        <a:lstStyle/>
        <a:p>
          <a:endParaRPr lang="ru-RU"/>
        </a:p>
      </dgm:t>
    </dgm:pt>
    <dgm:pt modelId="{842EA890-D13F-4887-9B48-B0E389B88B2E}">
      <dgm:prSet phldrT="[Текст]" custT="1"/>
      <dgm:spPr/>
      <dgm:t>
        <a:bodyPr/>
        <a:lstStyle/>
        <a:p>
          <a:r>
            <a:rPr lang="ru-RU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Недостаточное внимание к развитию критического мышления</a:t>
          </a:r>
        </a:p>
      </dgm:t>
    </dgm:pt>
    <dgm:pt modelId="{C8782F9E-926A-40FD-9C27-6668916E27DC}" type="parTrans" cxnId="{A3959483-96B3-4D39-8F53-F7F44EB41786}">
      <dgm:prSet/>
      <dgm:spPr/>
      <dgm:t>
        <a:bodyPr/>
        <a:lstStyle/>
        <a:p>
          <a:endParaRPr lang="ru-RU"/>
        </a:p>
      </dgm:t>
    </dgm:pt>
    <dgm:pt modelId="{DCDAE47C-6C35-46D8-92F3-54EF5CDC0F3F}" type="sibTrans" cxnId="{A3959483-96B3-4D39-8F53-F7F44EB41786}">
      <dgm:prSet/>
      <dgm:spPr/>
      <dgm:t>
        <a:bodyPr/>
        <a:lstStyle/>
        <a:p>
          <a:endParaRPr lang="ru-RU"/>
        </a:p>
      </dgm:t>
    </dgm:pt>
    <dgm:pt modelId="{FE97E924-BA03-493D-92DE-EE8AF0F9E54E}">
      <dgm:prSet custT="1"/>
      <dgm:spPr/>
      <dgm:t>
        <a:bodyPr/>
        <a:lstStyle/>
        <a:p>
          <a:r>
            <a:rPr lang="ru-RU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Недостаточная мотивация педагогов в  разработке  </a:t>
          </a:r>
          <a:r>
            <a:rPr lang="ru-RU" sz="22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куррикулума</a:t>
          </a:r>
          <a:endParaRPr lang="ru-RU" sz="22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cs typeface="Times New Roman" pitchFamily="18" charset="0"/>
          </a:endParaRPr>
        </a:p>
      </dgm:t>
    </dgm:pt>
    <dgm:pt modelId="{460166B2-46AA-4656-836B-3EE4DE2FCD28}" type="parTrans" cxnId="{7934E527-7CC1-48DF-B648-2026899BAE8B}">
      <dgm:prSet/>
      <dgm:spPr/>
      <dgm:t>
        <a:bodyPr/>
        <a:lstStyle/>
        <a:p>
          <a:endParaRPr lang="ru-RU"/>
        </a:p>
      </dgm:t>
    </dgm:pt>
    <dgm:pt modelId="{50FE4FFB-23FF-4498-B0F7-DD4AB23B28FE}" type="sibTrans" cxnId="{7934E527-7CC1-48DF-B648-2026899BAE8B}">
      <dgm:prSet/>
      <dgm:spPr/>
      <dgm:t>
        <a:bodyPr/>
        <a:lstStyle/>
        <a:p>
          <a:endParaRPr lang="ru-RU"/>
        </a:p>
      </dgm:t>
    </dgm:pt>
    <dgm:pt modelId="{34EE6C1C-50A9-4416-AB38-BDFD0D67B3B5}">
      <dgm:prSet phldrT="[Текст]" custT="1"/>
      <dgm:spPr>
        <a:solidFill>
          <a:srgbClr val="FFC000"/>
        </a:solidFill>
      </dgm:spPr>
      <dgm:t>
        <a:bodyPr/>
        <a:lstStyle/>
        <a:p>
          <a:r>
            <a:rPr lang="en-US" sz="2400" b="1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V.</a:t>
          </a:r>
          <a:r>
            <a:rPr lang="ru-RU" sz="2400" b="1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3. Совершенствование </a:t>
          </a:r>
          <a:r>
            <a:rPr lang="ru-RU" sz="2400" b="1" i="0" dirty="0" err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куррикулярной</a:t>
          </a:r>
          <a:r>
            <a:rPr lang="ru-RU" sz="2400" b="1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 политики</a:t>
          </a:r>
        </a:p>
      </dgm:t>
    </dgm:pt>
    <dgm:pt modelId="{DD18F64E-FAE7-40CD-A08A-43A6B8221455}" type="sibTrans" cxnId="{FCD062D3-A986-4F5E-A56F-175AF25E4DFE}">
      <dgm:prSet/>
      <dgm:spPr/>
      <dgm:t>
        <a:bodyPr/>
        <a:lstStyle/>
        <a:p>
          <a:endParaRPr lang="ru-RU"/>
        </a:p>
      </dgm:t>
    </dgm:pt>
    <dgm:pt modelId="{B5EC504A-F3E4-4AF8-B343-8C23CDB659CF}" type="parTrans" cxnId="{FCD062D3-A986-4F5E-A56F-175AF25E4DFE}">
      <dgm:prSet/>
      <dgm:spPr/>
      <dgm:t>
        <a:bodyPr/>
        <a:lstStyle/>
        <a:p>
          <a:endParaRPr lang="ru-RU"/>
        </a:p>
      </dgm:t>
    </dgm:pt>
    <dgm:pt modelId="{C223035E-4039-4E74-8877-29339A8D92CD}">
      <dgm:prSet/>
      <dgm:spPr/>
    </dgm:pt>
    <dgm:pt modelId="{3542ECDA-B506-4F86-BD27-ACA55D86C66A}" type="parTrans" cxnId="{DDDBCF76-87FF-4501-8CCF-55F27920E0CE}">
      <dgm:prSet/>
      <dgm:spPr/>
      <dgm:t>
        <a:bodyPr/>
        <a:lstStyle/>
        <a:p>
          <a:endParaRPr lang="ru-MD"/>
        </a:p>
      </dgm:t>
    </dgm:pt>
    <dgm:pt modelId="{8014D7DD-DC6E-423E-8CD3-9D6F9E177B09}" type="sibTrans" cxnId="{DDDBCF76-87FF-4501-8CCF-55F27920E0CE}">
      <dgm:prSet/>
      <dgm:spPr/>
      <dgm:t>
        <a:bodyPr/>
        <a:lstStyle/>
        <a:p>
          <a:endParaRPr lang="ru-MD"/>
        </a:p>
      </dgm:t>
    </dgm:pt>
    <dgm:pt modelId="{4A3EEB61-478C-4C11-B933-37B265D4B0BF}" type="pres">
      <dgm:prSet presAssocID="{1189E8B4-701A-4D84-A5F7-9DCABD3FF3CF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F9A0A59-AC55-488D-82C4-DB0D2C8A114A}" type="pres">
      <dgm:prSet presAssocID="{34EE6C1C-50A9-4416-AB38-BDFD0D67B3B5}" presName="centerShape" presStyleLbl="node0" presStyleIdx="0" presStyleCnt="1" custScaleX="211292" custScaleY="105975" custLinFactNeighborX="1351" custLinFactNeighborY="-537"/>
      <dgm:spPr/>
    </dgm:pt>
    <dgm:pt modelId="{540DA81D-9C42-4E64-BAF5-26E2A13395FD}" type="pres">
      <dgm:prSet presAssocID="{F3E16E44-FE90-4BDA-9ADD-141F8549CF7B}" presName="parTrans" presStyleLbl="sibTrans2D1" presStyleIdx="0" presStyleCnt="3" custScaleX="172849" custScaleY="61391" custLinFactNeighborX="75032" custLinFactNeighborY="1474"/>
      <dgm:spPr/>
    </dgm:pt>
    <dgm:pt modelId="{21CDCF81-6926-412F-ADB1-508CBF98FF6F}" type="pres">
      <dgm:prSet presAssocID="{F3E16E44-FE90-4BDA-9ADD-141F8549CF7B}" presName="connectorText" presStyleLbl="sibTrans2D1" presStyleIdx="0" presStyleCnt="3"/>
      <dgm:spPr/>
    </dgm:pt>
    <dgm:pt modelId="{04816659-29DD-40F7-AB60-32F225A515C0}" type="pres">
      <dgm:prSet presAssocID="{23DD7391-048B-4749-BBBB-73075083C7A7}" presName="node" presStyleLbl="node1" presStyleIdx="0" presStyleCnt="3" custAng="0" custScaleX="197406" custScaleY="106537" custRadScaleRad="91811" custRadScaleInc="12326">
        <dgm:presLayoutVars>
          <dgm:bulletEnabled val="1"/>
        </dgm:presLayoutVars>
      </dgm:prSet>
      <dgm:spPr/>
    </dgm:pt>
    <dgm:pt modelId="{25F1F844-8FCA-4877-A25D-D7EBA1E81EAD}" type="pres">
      <dgm:prSet presAssocID="{C8782F9E-926A-40FD-9C27-6668916E27DC}" presName="parTrans" presStyleLbl="sibTrans2D1" presStyleIdx="1" presStyleCnt="3" custAng="62900" custScaleX="177326" custScaleY="63876" custLinFactX="29645" custLinFactNeighborX="100000" custLinFactNeighborY="-33318"/>
      <dgm:spPr/>
    </dgm:pt>
    <dgm:pt modelId="{E53896DC-CCE1-4280-A7D6-254127438791}" type="pres">
      <dgm:prSet presAssocID="{C8782F9E-926A-40FD-9C27-6668916E27DC}" presName="connectorText" presStyleLbl="sibTrans2D1" presStyleIdx="1" presStyleCnt="3"/>
      <dgm:spPr/>
    </dgm:pt>
    <dgm:pt modelId="{88434CE4-CDF8-4BCA-974B-0911D0AF72B4}" type="pres">
      <dgm:prSet presAssocID="{842EA890-D13F-4887-9B48-B0E389B88B2E}" presName="node" presStyleLbl="node1" presStyleIdx="1" presStyleCnt="3" custAng="0" custScaleX="181802" custScaleY="108059" custRadScaleRad="141164" custRadScaleInc="-18719">
        <dgm:presLayoutVars>
          <dgm:bulletEnabled val="1"/>
        </dgm:presLayoutVars>
      </dgm:prSet>
      <dgm:spPr/>
    </dgm:pt>
    <dgm:pt modelId="{C450B022-6689-4BC4-AA94-1F3F42ACAE4B}" type="pres">
      <dgm:prSet presAssocID="{460166B2-46AA-4656-836B-3EE4DE2FCD28}" presName="parTrans" presStyleLbl="sibTrans2D1" presStyleIdx="2" presStyleCnt="3" custAng="1776266" custScaleX="175571" custScaleY="59678" custLinFactNeighborX="17888" custLinFactNeighborY="-14111"/>
      <dgm:spPr/>
    </dgm:pt>
    <dgm:pt modelId="{4F2C9ACC-454C-453D-A0FE-A15348961EE2}" type="pres">
      <dgm:prSet presAssocID="{460166B2-46AA-4656-836B-3EE4DE2FCD28}" presName="connectorText" presStyleLbl="sibTrans2D1" presStyleIdx="2" presStyleCnt="3"/>
      <dgm:spPr/>
    </dgm:pt>
    <dgm:pt modelId="{7AD8A55D-0B82-4A1E-9876-AFDEF6E88596}" type="pres">
      <dgm:prSet presAssocID="{FE97E924-BA03-493D-92DE-EE8AF0F9E54E}" presName="node" presStyleLbl="node1" presStyleIdx="2" presStyleCnt="3" custScaleX="186366" custScaleY="105165" custRadScaleRad="145252" custRadScaleInc="78216">
        <dgm:presLayoutVars>
          <dgm:bulletEnabled val="1"/>
        </dgm:presLayoutVars>
      </dgm:prSet>
      <dgm:spPr/>
    </dgm:pt>
  </dgm:ptLst>
  <dgm:cxnLst>
    <dgm:cxn modelId="{B3362103-4BB4-4E41-B373-5F79309872FC}" type="presOf" srcId="{1189E8B4-701A-4D84-A5F7-9DCABD3FF3CF}" destId="{4A3EEB61-478C-4C11-B933-37B265D4B0BF}" srcOrd="0" destOrd="0" presId="urn:microsoft.com/office/officeart/2005/8/layout/radial5"/>
    <dgm:cxn modelId="{9DD9C50E-AB98-49AC-B40F-B1544A72FBE7}" type="presOf" srcId="{C8782F9E-926A-40FD-9C27-6668916E27DC}" destId="{25F1F844-8FCA-4877-A25D-D7EBA1E81EAD}" srcOrd="0" destOrd="0" presId="urn:microsoft.com/office/officeart/2005/8/layout/radial5"/>
    <dgm:cxn modelId="{AB0DB61B-FB21-43BF-A8AA-ECFC88AE968E}" type="presOf" srcId="{23DD7391-048B-4749-BBBB-73075083C7A7}" destId="{04816659-29DD-40F7-AB60-32F225A515C0}" srcOrd="0" destOrd="0" presId="urn:microsoft.com/office/officeart/2005/8/layout/radial5"/>
    <dgm:cxn modelId="{7934E527-7CC1-48DF-B648-2026899BAE8B}" srcId="{34EE6C1C-50A9-4416-AB38-BDFD0D67B3B5}" destId="{FE97E924-BA03-493D-92DE-EE8AF0F9E54E}" srcOrd="2" destOrd="0" parTransId="{460166B2-46AA-4656-836B-3EE4DE2FCD28}" sibTransId="{50FE4FFB-23FF-4498-B0F7-DD4AB23B28FE}"/>
    <dgm:cxn modelId="{3E696B34-DC61-474D-A971-3FFEE8E215B8}" type="presOf" srcId="{842EA890-D13F-4887-9B48-B0E389B88B2E}" destId="{88434CE4-CDF8-4BCA-974B-0911D0AF72B4}" srcOrd="0" destOrd="0" presId="urn:microsoft.com/office/officeart/2005/8/layout/radial5"/>
    <dgm:cxn modelId="{9498EB6B-F5BF-4895-88B9-845740EE26C0}" type="presOf" srcId="{460166B2-46AA-4656-836B-3EE4DE2FCD28}" destId="{C450B022-6689-4BC4-AA94-1F3F42ACAE4B}" srcOrd="0" destOrd="0" presId="urn:microsoft.com/office/officeart/2005/8/layout/radial5"/>
    <dgm:cxn modelId="{AC373D6E-622B-46C8-9A83-9C6B4AD92444}" type="presOf" srcId="{C8782F9E-926A-40FD-9C27-6668916E27DC}" destId="{E53896DC-CCE1-4280-A7D6-254127438791}" srcOrd="1" destOrd="0" presId="urn:microsoft.com/office/officeart/2005/8/layout/radial5"/>
    <dgm:cxn modelId="{DDDBCF76-87FF-4501-8CCF-55F27920E0CE}" srcId="{1189E8B4-701A-4D84-A5F7-9DCABD3FF3CF}" destId="{C223035E-4039-4E74-8877-29339A8D92CD}" srcOrd="1" destOrd="0" parTransId="{3542ECDA-B506-4F86-BD27-ACA55D86C66A}" sibTransId="{8014D7DD-DC6E-423E-8CD3-9D6F9E177B09}"/>
    <dgm:cxn modelId="{C03AA077-E66F-4937-ACEB-5729DD2EA687}" type="presOf" srcId="{34EE6C1C-50A9-4416-AB38-BDFD0D67B3B5}" destId="{BF9A0A59-AC55-488D-82C4-DB0D2C8A114A}" srcOrd="0" destOrd="0" presId="urn:microsoft.com/office/officeart/2005/8/layout/radial5"/>
    <dgm:cxn modelId="{A3959483-96B3-4D39-8F53-F7F44EB41786}" srcId="{34EE6C1C-50A9-4416-AB38-BDFD0D67B3B5}" destId="{842EA890-D13F-4887-9B48-B0E389B88B2E}" srcOrd="1" destOrd="0" parTransId="{C8782F9E-926A-40FD-9C27-6668916E27DC}" sibTransId="{DCDAE47C-6C35-46D8-92F3-54EF5CDC0F3F}"/>
    <dgm:cxn modelId="{BE929983-7087-4083-B88B-D08F72DBF00B}" type="presOf" srcId="{FE97E924-BA03-493D-92DE-EE8AF0F9E54E}" destId="{7AD8A55D-0B82-4A1E-9876-AFDEF6E88596}" srcOrd="0" destOrd="0" presId="urn:microsoft.com/office/officeart/2005/8/layout/radial5"/>
    <dgm:cxn modelId="{72430D98-77AE-4357-A5AC-C3F3F9AF33FD}" type="presOf" srcId="{F3E16E44-FE90-4BDA-9ADD-141F8549CF7B}" destId="{540DA81D-9C42-4E64-BAF5-26E2A13395FD}" srcOrd="0" destOrd="0" presId="urn:microsoft.com/office/officeart/2005/8/layout/radial5"/>
    <dgm:cxn modelId="{D35B45B6-C1DE-4C80-B6AB-F924C61FD9E7}" srcId="{34EE6C1C-50A9-4416-AB38-BDFD0D67B3B5}" destId="{23DD7391-048B-4749-BBBB-73075083C7A7}" srcOrd="0" destOrd="0" parTransId="{F3E16E44-FE90-4BDA-9ADD-141F8549CF7B}" sibTransId="{8F55B616-217D-42EC-939C-FC6662EEA768}"/>
    <dgm:cxn modelId="{688AA2BE-6344-4A9A-8819-05728E6C3628}" type="presOf" srcId="{460166B2-46AA-4656-836B-3EE4DE2FCD28}" destId="{4F2C9ACC-454C-453D-A0FE-A15348961EE2}" srcOrd="1" destOrd="0" presId="urn:microsoft.com/office/officeart/2005/8/layout/radial5"/>
    <dgm:cxn modelId="{FCD062D3-A986-4F5E-A56F-175AF25E4DFE}" srcId="{1189E8B4-701A-4D84-A5F7-9DCABD3FF3CF}" destId="{34EE6C1C-50A9-4416-AB38-BDFD0D67B3B5}" srcOrd="0" destOrd="0" parTransId="{B5EC504A-F3E4-4AF8-B343-8C23CDB659CF}" sibTransId="{DD18F64E-FAE7-40CD-A08A-43A6B8221455}"/>
    <dgm:cxn modelId="{7ACE5ADC-8D9A-4C96-B13D-028B77F6F5DC}" type="presOf" srcId="{F3E16E44-FE90-4BDA-9ADD-141F8549CF7B}" destId="{21CDCF81-6926-412F-ADB1-508CBF98FF6F}" srcOrd="1" destOrd="0" presId="urn:microsoft.com/office/officeart/2005/8/layout/radial5"/>
    <dgm:cxn modelId="{63171D4D-0212-4DE9-8641-F4ADBED5B05F}" type="presParOf" srcId="{4A3EEB61-478C-4C11-B933-37B265D4B0BF}" destId="{BF9A0A59-AC55-488D-82C4-DB0D2C8A114A}" srcOrd="0" destOrd="0" presId="urn:microsoft.com/office/officeart/2005/8/layout/radial5"/>
    <dgm:cxn modelId="{B32EE0EC-0ED3-4775-A059-320EE67BCAD5}" type="presParOf" srcId="{4A3EEB61-478C-4C11-B933-37B265D4B0BF}" destId="{540DA81D-9C42-4E64-BAF5-26E2A13395FD}" srcOrd="1" destOrd="0" presId="urn:microsoft.com/office/officeart/2005/8/layout/radial5"/>
    <dgm:cxn modelId="{09522CEF-7250-4163-938B-9989B5C8A4E2}" type="presParOf" srcId="{540DA81D-9C42-4E64-BAF5-26E2A13395FD}" destId="{21CDCF81-6926-412F-ADB1-508CBF98FF6F}" srcOrd="0" destOrd="0" presId="urn:microsoft.com/office/officeart/2005/8/layout/radial5"/>
    <dgm:cxn modelId="{27084D39-3D38-4FEB-93DA-3DE39AD32FA0}" type="presParOf" srcId="{4A3EEB61-478C-4C11-B933-37B265D4B0BF}" destId="{04816659-29DD-40F7-AB60-32F225A515C0}" srcOrd="2" destOrd="0" presId="urn:microsoft.com/office/officeart/2005/8/layout/radial5"/>
    <dgm:cxn modelId="{25D53799-E24B-4667-8A97-CC2BE6FACE82}" type="presParOf" srcId="{4A3EEB61-478C-4C11-B933-37B265D4B0BF}" destId="{25F1F844-8FCA-4877-A25D-D7EBA1E81EAD}" srcOrd="3" destOrd="0" presId="urn:microsoft.com/office/officeart/2005/8/layout/radial5"/>
    <dgm:cxn modelId="{E6F8FE91-756B-42F5-9E4D-EB8172AA585B}" type="presParOf" srcId="{25F1F844-8FCA-4877-A25D-D7EBA1E81EAD}" destId="{E53896DC-CCE1-4280-A7D6-254127438791}" srcOrd="0" destOrd="0" presId="urn:microsoft.com/office/officeart/2005/8/layout/radial5"/>
    <dgm:cxn modelId="{C745DD0F-47E6-4BA8-AE11-EBCB01D7A09B}" type="presParOf" srcId="{4A3EEB61-478C-4C11-B933-37B265D4B0BF}" destId="{88434CE4-CDF8-4BCA-974B-0911D0AF72B4}" srcOrd="4" destOrd="0" presId="urn:microsoft.com/office/officeart/2005/8/layout/radial5"/>
    <dgm:cxn modelId="{E082FE80-6267-447D-BDBC-C1B34D7015C6}" type="presParOf" srcId="{4A3EEB61-478C-4C11-B933-37B265D4B0BF}" destId="{C450B022-6689-4BC4-AA94-1F3F42ACAE4B}" srcOrd="5" destOrd="0" presId="urn:microsoft.com/office/officeart/2005/8/layout/radial5"/>
    <dgm:cxn modelId="{437314CB-A70F-45C6-9CA8-88BADA6BFF77}" type="presParOf" srcId="{C450B022-6689-4BC4-AA94-1F3F42ACAE4B}" destId="{4F2C9ACC-454C-453D-A0FE-A15348961EE2}" srcOrd="0" destOrd="0" presId="urn:microsoft.com/office/officeart/2005/8/layout/radial5"/>
    <dgm:cxn modelId="{DCA4E8C5-DDE5-421C-85C0-87E2F0BB54BD}" type="presParOf" srcId="{4A3EEB61-478C-4C11-B933-37B265D4B0BF}" destId="{7AD8A55D-0B82-4A1E-9876-AFDEF6E88596}" srcOrd="6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189E8B4-701A-4D84-A5F7-9DCABD3FF3CF}" type="doc">
      <dgm:prSet loTypeId="urn:microsoft.com/office/officeart/2005/8/layout/radial5" loCatId="cycl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3DD7391-048B-4749-BBBB-73075083C7A7}">
      <dgm:prSet phldrT="[Текст]" custT="1"/>
      <dgm:spPr/>
      <dgm:t>
        <a:bodyPr/>
        <a:lstStyle/>
        <a:p>
          <a:r>
            <a:rPr lang="ru-RU" sz="2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Отсутствие эффективного сотрудничества с сообществом</a:t>
          </a:r>
        </a:p>
      </dgm:t>
    </dgm:pt>
    <dgm:pt modelId="{F3E16E44-FE90-4BDA-9ADD-141F8549CF7B}" type="parTrans" cxnId="{D35B45B6-C1DE-4C80-B6AB-F924C61FD9E7}">
      <dgm:prSet/>
      <dgm:spPr/>
      <dgm:t>
        <a:bodyPr/>
        <a:lstStyle/>
        <a:p>
          <a:endParaRPr lang="ru-RU"/>
        </a:p>
      </dgm:t>
    </dgm:pt>
    <dgm:pt modelId="{8F55B616-217D-42EC-939C-FC6662EEA768}" type="sibTrans" cxnId="{D35B45B6-C1DE-4C80-B6AB-F924C61FD9E7}">
      <dgm:prSet/>
      <dgm:spPr/>
      <dgm:t>
        <a:bodyPr/>
        <a:lstStyle/>
        <a:p>
          <a:endParaRPr lang="ru-RU"/>
        </a:p>
      </dgm:t>
    </dgm:pt>
    <dgm:pt modelId="{842EA890-D13F-4887-9B48-B0E389B88B2E}">
      <dgm:prSet phldrT="[Текст]" custT="1"/>
      <dgm:spPr/>
      <dgm:t>
        <a:bodyPr/>
        <a:lstStyle/>
        <a:p>
          <a:r>
            <a:rPr lang="ru-RU" sz="2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Отсутствие   сотрудничества с выпускниками УЗ</a:t>
          </a:r>
        </a:p>
      </dgm:t>
    </dgm:pt>
    <dgm:pt modelId="{C8782F9E-926A-40FD-9C27-6668916E27DC}" type="parTrans" cxnId="{A3959483-96B3-4D39-8F53-F7F44EB41786}">
      <dgm:prSet/>
      <dgm:spPr/>
      <dgm:t>
        <a:bodyPr/>
        <a:lstStyle/>
        <a:p>
          <a:endParaRPr lang="ru-RU"/>
        </a:p>
      </dgm:t>
    </dgm:pt>
    <dgm:pt modelId="{DCDAE47C-6C35-46D8-92F3-54EF5CDC0F3F}" type="sibTrans" cxnId="{A3959483-96B3-4D39-8F53-F7F44EB41786}">
      <dgm:prSet/>
      <dgm:spPr/>
      <dgm:t>
        <a:bodyPr/>
        <a:lstStyle/>
        <a:p>
          <a:endParaRPr lang="ru-RU"/>
        </a:p>
      </dgm:t>
    </dgm:pt>
    <dgm:pt modelId="{FE97E924-BA03-493D-92DE-EE8AF0F9E54E}">
      <dgm:prSet custT="1"/>
      <dgm:spPr/>
      <dgm:t>
        <a:bodyPr/>
        <a:lstStyle/>
        <a:p>
          <a:r>
            <a:rPr lang="ru-RU" sz="2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Пассивное привлечение учительского сообщество в управление УЗ</a:t>
          </a:r>
        </a:p>
      </dgm:t>
    </dgm:pt>
    <dgm:pt modelId="{460166B2-46AA-4656-836B-3EE4DE2FCD28}" type="parTrans" cxnId="{7934E527-7CC1-48DF-B648-2026899BAE8B}">
      <dgm:prSet/>
      <dgm:spPr/>
      <dgm:t>
        <a:bodyPr/>
        <a:lstStyle/>
        <a:p>
          <a:endParaRPr lang="ru-RU"/>
        </a:p>
      </dgm:t>
    </dgm:pt>
    <dgm:pt modelId="{50FE4FFB-23FF-4498-B0F7-DD4AB23B28FE}" type="sibTrans" cxnId="{7934E527-7CC1-48DF-B648-2026899BAE8B}">
      <dgm:prSet/>
      <dgm:spPr/>
      <dgm:t>
        <a:bodyPr/>
        <a:lstStyle/>
        <a:p>
          <a:endParaRPr lang="ru-RU"/>
        </a:p>
      </dgm:t>
    </dgm:pt>
    <dgm:pt modelId="{34EE6C1C-50A9-4416-AB38-BDFD0D67B3B5}">
      <dgm:prSet phldrT="[Текст]" custT="1"/>
      <dgm:spPr>
        <a:solidFill>
          <a:srgbClr val="FFC000"/>
        </a:solidFill>
      </dgm:spPr>
      <dgm:t>
        <a:bodyPr/>
        <a:lstStyle/>
        <a:p>
          <a:r>
            <a:rPr lang="en-US" sz="2400" b="1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V.</a:t>
          </a:r>
          <a:r>
            <a:rPr lang="ru-RU" sz="2400" b="1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4. Развитие партнёрских отношений с сообществом </a:t>
          </a:r>
        </a:p>
      </dgm:t>
    </dgm:pt>
    <dgm:pt modelId="{DD18F64E-FAE7-40CD-A08A-43A6B8221455}" type="sibTrans" cxnId="{FCD062D3-A986-4F5E-A56F-175AF25E4DFE}">
      <dgm:prSet/>
      <dgm:spPr/>
      <dgm:t>
        <a:bodyPr/>
        <a:lstStyle/>
        <a:p>
          <a:endParaRPr lang="ru-RU"/>
        </a:p>
      </dgm:t>
    </dgm:pt>
    <dgm:pt modelId="{B5EC504A-F3E4-4AF8-B343-8C23CDB659CF}" type="parTrans" cxnId="{FCD062D3-A986-4F5E-A56F-175AF25E4DFE}">
      <dgm:prSet/>
      <dgm:spPr/>
      <dgm:t>
        <a:bodyPr/>
        <a:lstStyle/>
        <a:p>
          <a:endParaRPr lang="ru-RU"/>
        </a:p>
      </dgm:t>
    </dgm:pt>
    <dgm:pt modelId="{C223035E-4039-4E74-8877-29339A8D92CD}">
      <dgm:prSet/>
      <dgm:spPr/>
    </dgm:pt>
    <dgm:pt modelId="{3542ECDA-B506-4F86-BD27-ACA55D86C66A}" type="parTrans" cxnId="{DDDBCF76-87FF-4501-8CCF-55F27920E0CE}">
      <dgm:prSet/>
      <dgm:spPr/>
      <dgm:t>
        <a:bodyPr/>
        <a:lstStyle/>
        <a:p>
          <a:endParaRPr lang="ru-MD"/>
        </a:p>
      </dgm:t>
    </dgm:pt>
    <dgm:pt modelId="{8014D7DD-DC6E-423E-8CD3-9D6F9E177B09}" type="sibTrans" cxnId="{DDDBCF76-87FF-4501-8CCF-55F27920E0CE}">
      <dgm:prSet/>
      <dgm:spPr/>
      <dgm:t>
        <a:bodyPr/>
        <a:lstStyle/>
        <a:p>
          <a:endParaRPr lang="ru-MD"/>
        </a:p>
      </dgm:t>
    </dgm:pt>
    <dgm:pt modelId="{4A3EEB61-478C-4C11-B933-37B265D4B0BF}" type="pres">
      <dgm:prSet presAssocID="{1189E8B4-701A-4D84-A5F7-9DCABD3FF3CF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F9A0A59-AC55-488D-82C4-DB0D2C8A114A}" type="pres">
      <dgm:prSet presAssocID="{34EE6C1C-50A9-4416-AB38-BDFD0D67B3B5}" presName="centerShape" presStyleLbl="node0" presStyleIdx="0" presStyleCnt="1" custScaleX="211292" custScaleY="105975" custLinFactNeighborX="1351" custLinFactNeighborY="-537"/>
      <dgm:spPr/>
    </dgm:pt>
    <dgm:pt modelId="{540DA81D-9C42-4E64-BAF5-26E2A13395FD}" type="pres">
      <dgm:prSet presAssocID="{F3E16E44-FE90-4BDA-9ADD-141F8549CF7B}" presName="parTrans" presStyleLbl="sibTrans2D1" presStyleIdx="0" presStyleCnt="3" custScaleX="172849" custScaleY="61391" custLinFactNeighborX="75032" custLinFactNeighborY="1474"/>
      <dgm:spPr/>
    </dgm:pt>
    <dgm:pt modelId="{21CDCF81-6926-412F-ADB1-508CBF98FF6F}" type="pres">
      <dgm:prSet presAssocID="{F3E16E44-FE90-4BDA-9ADD-141F8549CF7B}" presName="connectorText" presStyleLbl="sibTrans2D1" presStyleIdx="0" presStyleCnt="3"/>
      <dgm:spPr/>
    </dgm:pt>
    <dgm:pt modelId="{04816659-29DD-40F7-AB60-32F225A515C0}" type="pres">
      <dgm:prSet presAssocID="{23DD7391-048B-4749-BBBB-73075083C7A7}" presName="node" presStyleLbl="node1" presStyleIdx="0" presStyleCnt="3" custAng="0" custScaleX="197406" custScaleY="106537" custRadScaleRad="91811" custRadScaleInc="12326">
        <dgm:presLayoutVars>
          <dgm:bulletEnabled val="1"/>
        </dgm:presLayoutVars>
      </dgm:prSet>
      <dgm:spPr/>
    </dgm:pt>
    <dgm:pt modelId="{25F1F844-8FCA-4877-A25D-D7EBA1E81EAD}" type="pres">
      <dgm:prSet presAssocID="{C8782F9E-926A-40FD-9C27-6668916E27DC}" presName="parTrans" presStyleLbl="sibTrans2D1" presStyleIdx="1" presStyleCnt="3" custAng="62900" custScaleX="177326" custScaleY="63876" custLinFactX="29645" custLinFactNeighborX="100000" custLinFactNeighborY="-33318"/>
      <dgm:spPr/>
    </dgm:pt>
    <dgm:pt modelId="{E53896DC-CCE1-4280-A7D6-254127438791}" type="pres">
      <dgm:prSet presAssocID="{C8782F9E-926A-40FD-9C27-6668916E27DC}" presName="connectorText" presStyleLbl="sibTrans2D1" presStyleIdx="1" presStyleCnt="3"/>
      <dgm:spPr/>
    </dgm:pt>
    <dgm:pt modelId="{88434CE4-CDF8-4BCA-974B-0911D0AF72B4}" type="pres">
      <dgm:prSet presAssocID="{842EA890-D13F-4887-9B48-B0E389B88B2E}" presName="node" presStyleLbl="node1" presStyleIdx="1" presStyleCnt="3" custAng="0" custScaleX="181802" custScaleY="108059" custRadScaleRad="141164" custRadScaleInc="-18719">
        <dgm:presLayoutVars>
          <dgm:bulletEnabled val="1"/>
        </dgm:presLayoutVars>
      </dgm:prSet>
      <dgm:spPr/>
    </dgm:pt>
    <dgm:pt modelId="{C450B022-6689-4BC4-AA94-1F3F42ACAE4B}" type="pres">
      <dgm:prSet presAssocID="{460166B2-46AA-4656-836B-3EE4DE2FCD28}" presName="parTrans" presStyleLbl="sibTrans2D1" presStyleIdx="2" presStyleCnt="3" custAng="1776266" custScaleX="175571" custScaleY="59678" custLinFactNeighborX="17888" custLinFactNeighborY="-14111"/>
      <dgm:spPr/>
    </dgm:pt>
    <dgm:pt modelId="{4F2C9ACC-454C-453D-A0FE-A15348961EE2}" type="pres">
      <dgm:prSet presAssocID="{460166B2-46AA-4656-836B-3EE4DE2FCD28}" presName="connectorText" presStyleLbl="sibTrans2D1" presStyleIdx="2" presStyleCnt="3"/>
      <dgm:spPr/>
    </dgm:pt>
    <dgm:pt modelId="{7AD8A55D-0B82-4A1E-9876-AFDEF6E88596}" type="pres">
      <dgm:prSet presAssocID="{FE97E924-BA03-493D-92DE-EE8AF0F9E54E}" presName="node" presStyleLbl="node1" presStyleIdx="2" presStyleCnt="3" custScaleX="186366" custScaleY="105165" custRadScaleRad="143166" custRadScaleInc="80144">
        <dgm:presLayoutVars>
          <dgm:bulletEnabled val="1"/>
        </dgm:presLayoutVars>
      </dgm:prSet>
      <dgm:spPr/>
    </dgm:pt>
  </dgm:ptLst>
  <dgm:cxnLst>
    <dgm:cxn modelId="{B3362103-4BB4-4E41-B373-5F79309872FC}" type="presOf" srcId="{1189E8B4-701A-4D84-A5F7-9DCABD3FF3CF}" destId="{4A3EEB61-478C-4C11-B933-37B265D4B0BF}" srcOrd="0" destOrd="0" presId="urn:microsoft.com/office/officeart/2005/8/layout/radial5"/>
    <dgm:cxn modelId="{9DD9C50E-AB98-49AC-B40F-B1544A72FBE7}" type="presOf" srcId="{C8782F9E-926A-40FD-9C27-6668916E27DC}" destId="{25F1F844-8FCA-4877-A25D-D7EBA1E81EAD}" srcOrd="0" destOrd="0" presId="urn:microsoft.com/office/officeart/2005/8/layout/radial5"/>
    <dgm:cxn modelId="{AB0DB61B-FB21-43BF-A8AA-ECFC88AE968E}" type="presOf" srcId="{23DD7391-048B-4749-BBBB-73075083C7A7}" destId="{04816659-29DD-40F7-AB60-32F225A515C0}" srcOrd="0" destOrd="0" presId="urn:microsoft.com/office/officeart/2005/8/layout/radial5"/>
    <dgm:cxn modelId="{7934E527-7CC1-48DF-B648-2026899BAE8B}" srcId="{34EE6C1C-50A9-4416-AB38-BDFD0D67B3B5}" destId="{FE97E924-BA03-493D-92DE-EE8AF0F9E54E}" srcOrd="2" destOrd="0" parTransId="{460166B2-46AA-4656-836B-3EE4DE2FCD28}" sibTransId="{50FE4FFB-23FF-4498-B0F7-DD4AB23B28FE}"/>
    <dgm:cxn modelId="{3E696B34-DC61-474D-A971-3FFEE8E215B8}" type="presOf" srcId="{842EA890-D13F-4887-9B48-B0E389B88B2E}" destId="{88434CE4-CDF8-4BCA-974B-0911D0AF72B4}" srcOrd="0" destOrd="0" presId="urn:microsoft.com/office/officeart/2005/8/layout/radial5"/>
    <dgm:cxn modelId="{9498EB6B-F5BF-4895-88B9-845740EE26C0}" type="presOf" srcId="{460166B2-46AA-4656-836B-3EE4DE2FCD28}" destId="{C450B022-6689-4BC4-AA94-1F3F42ACAE4B}" srcOrd="0" destOrd="0" presId="urn:microsoft.com/office/officeart/2005/8/layout/radial5"/>
    <dgm:cxn modelId="{AC373D6E-622B-46C8-9A83-9C6B4AD92444}" type="presOf" srcId="{C8782F9E-926A-40FD-9C27-6668916E27DC}" destId="{E53896DC-CCE1-4280-A7D6-254127438791}" srcOrd="1" destOrd="0" presId="urn:microsoft.com/office/officeart/2005/8/layout/radial5"/>
    <dgm:cxn modelId="{DDDBCF76-87FF-4501-8CCF-55F27920E0CE}" srcId="{1189E8B4-701A-4D84-A5F7-9DCABD3FF3CF}" destId="{C223035E-4039-4E74-8877-29339A8D92CD}" srcOrd="1" destOrd="0" parTransId="{3542ECDA-B506-4F86-BD27-ACA55D86C66A}" sibTransId="{8014D7DD-DC6E-423E-8CD3-9D6F9E177B09}"/>
    <dgm:cxn modelId="{C03AA077-E66F-4937-ACEB-5729DD2EA687}" type="presOf" srcId="{34EE6C1C-50A9-4416-AB38-BDFD0D67B3B5}" destId="{BF9A0A59-AC55-488D-82C4-DB0D2C8A114A}" srcOrd="0" destOrd="0" presId="urn:microsoft.com/office/officeart/2005/8/layout/radial5"/>
    <dgm:cxn modelId="{A3959483-96B3-4D39-8F53-F7F44EB41786}" srcId="{34EE6C1C-50A9-4416-AB38-BDFD0D67B3B5}" destId="{842EA890-D13F-4887-9B48-B0E389B88B2E}" srcOrd="1" destOrd="0" parTransId="{C8782F9E-926A-40FD-9C27-6668916E27DC}" sibTransId="{DCDAE47C-6C35-46D8-92F3-54EF5CDC0F3F}"/>
    <dgm:cxn modelId="{BE929983-7087-4083-B88B-D08F72DBF00B}" type="presOf" srcId="{FE97E924-BA03-493D-92DE-EE8AF0F9E54E}" destId="{7AD8A55D-0B82-4A1E-9876-AFDEF6E88596}" srcOrd="0" destOrd="0" presId="urn:microsoft.com/office/officeart/2005/8/layout/radial5"/>
    <dgm:cxn modelId="{72430D98-77AE-4357-A5AC-C3F3F9AF33FD}" type="presOf" srcId="{F3E16E44-FE90-4BDA-9ADD-141F8549CF7B}" destId="{540DA81D-9C42-4E64-BAF5-26E2A13395FD}" srcOrd="0" destOrd="0" presId="urn:microsoft.com/office/officeart/2005/8/layout/radial5"/>
    <dgm:cxn modelId="{D35B45B6-C1DE-4C80-B6AB-F924C61FD9E7}" srcId="{34EE6C1C-50A9-4416-AB38-BDFD0D67B3B5}" destId="{23DD7391-048B-4749-BBBB-73075083C7A7}" srcOrd="0" destOrd="0" parTransId="{F3E16E44-FE90-4BDA-9ADD-141F8549CF7B}" sibTransId="{8F55B616-217D-42EC-939C-FC6662EEA768}"/>
    <dgm:cxn modelId="{688AA2BE-6344-4A9A-8819-05728E6C3628}" type="presOf" srcId="{460166B2-46AA-4656-836B-3EE4DE2FCD28}" destId="{4F2C9ACC-454C-453D-A0FE-A15348961EE2}" srcOrd="1" destOrd="0" presId="urn:microsoft.com/office/officeart/2005/8/layout/radial5"/>
    <dgm:cxn modelId="{FCD062D3-A986-4F5E-A56F-175AF25E4DFE}" srcId="{1189E8B4-701A-4D84-A5F7-9DCABD3FF3CF}" destId="{34EE6C1C-50A9-4416-AB38-BDFD0D67B3B5}" srcOrd="0" destOrd="0" parTransId="{B5EC504A-F3E4-4AF8-B343-8C23CDB659CF}" sibTransId="{DD18F64E-FAE7-40CD-A08A-43A6B8221455}"/>
    <dgm:cxn modelId="{7ACE5ADC-8D9A-4C96-B13D-028B77F6F5DC}" type="presOf" srcId="{F3E16E44-FE90-4BDA-9ADD-141F8549CF7B}" destId="{21CDCF81-6926-412F-ADB1-508CBF98FF6F}" srcOrd="1" destOrd="0" presId="urn:microsoft.com/office/officeart/2005/8/layout/radial5"/>
    <dgm:cxn modelId="{63171D4D-0212-4DE9-8641-F4ADBED5B05F}" type="presParOf" srcId="{4A3EEB61-478C-4C11-B933-37B265D4B0BF}" destId="{BF9A0A59-AC55-488D-82C4-DB0D2C8A114A}" srcOrd="0" destOrd="0" presId="urn:microsoft.com/office/officeart/2005/8/layout/radial5"/>
    <dgm:cxn modelId="{B32EE0EC-0ED3-4775-A059-320EE67BCAD5}" type="presParOf" srcId="{4A3EEB61-478C-4C11-B933-37B265D4B0BF}" destId="{540DA81D-9C42-4E64-BAF5-26E2A13395FD}" srcOrd="1" destOrd="0" presId="urn:microsoft.com/office/officeart/2005/8/layout/radial5"/>
    <dgm:cxn modelId="{09522CEF-7250-4163-938B-9989B5C8A4E2}" type="presParOf" srcId="{540DA81D-9C42-4E64-BAF5-26E2A13395FD}" destId="{21CDCF81-6926-412F-ADB1-508CBF98FF6F}" srcOrd="0" destOrd="0" presId="urn:microsoft.com/office/officeart/2005/8/layout/radial5"/>
    <dgm:cxn modelId="{27084D39-3D38-4FEB-93DA-3DE39AD32FA0}" type="presParOf" srcId="{4A3EEB61-478C-4C11-B933-37B265D4B0BF}" destId="{04816659-29DD-40F7-AB60-32F225A515C0}" srcOrd="2" destOrd="0" presId="urn:microsoft.com/office/officeart/2005/8/layout/radial5"/>
    <dgm:cxn modelId="{25D53799-E24B-4667-8A97-CC2BE6FACE82}" type="presParOf" srcId="{4A3EEB61-478C-4C11-B933-37B265D4B0BF}" destId="{25F1F844-8FCA-4877-A25D-D7EBA1E81EAD}" srcOrd="3" destOrd="0" presId="urn:microsoft.com/office/officeart/2005/8/layout/radial5"/>
    <dgm:cxn modelId="{E6F8FE91-756B-42F5-9E4D-EB8172AA585B}" type="presParOf" srcId="{25F1F844-8FCA-4877-A25D-D7EBA1E81EAD}" destId="{E53896DC-CCE1-4280-A7D6-254127438791}" srcOrd="0" destOrd="0" presId="urn:microsoft.com/office/officeart/2005/8/layout/radial5"/>
    <dgm:cxn modelId="{C745DD0F-47E6-4BA8-AE11-EBCB01D7A09B}" type="presParOf" srcId="{4A3EEB61-478C-4C11-B933-37B265D4B0BF}" destId="{88434CE4-CDF8-4BCA-974B-0911D0AF72B4}" srcOrd="4" destOrd="0" presId="urn:microsoft.com/office/officeart/2005/8/layout/radial5"/>
    <dgm:cxn modelId="{E082FE80-6267-447D-BDBC-C1B34D7015C6}" type="presParOf" srcId="{4A3EEB61-478C-4C11-B933-37B265D4B0BF}" destId="{C450B022-6689-4BC4-AA94-1F3F42ACAE4B}" srcOrd="5" destOrd="0" presId="urn:microsoft.com/office/officeart/2005/8/layout/radial5"/>
    <dgm:cxn modelId="{437314CB-A70F-45C6-9CA8-88BADA6BFF77}" type="presParOf" srcId="{C450B022-6689-4BC4-AA94-1F3F42ACAE4B}" destId="{4F2C9ACC-454C-453D-A0FE-A15348961EE2}" srcOrd="0" destOrd="0" presId="urn:microsoft.com/office/officeart/2005/8/layout/radial5"/>
    <dgm:cxn modelId="{DCA4E8C5-DDE5-421C-85C0-87E2F0BB54BD}" type="presParOf" srcId="{4A3EEB61-478C-4C11-B933-37B265D4B0BF}" destId="{7AD8A55D-0B82-4A1E-9876-AFDEF6E88596}" srcOrd="6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189E8B4-701A-4D84-A5F7-9DCABD3FF3CF}" type="doc">
      <dgm:prSet loTypeId="urn:microsoft.com/office/officeart/2005/8/layout/radial5" loCatId="cycl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3DD7391-048B-4749-BBBB-73075083C7A7}">
      <dgm:prSet phldrT="[Текст]" custT="1"/>
      <dgm:spPr/>
      <dgm:t>
        <a:bodyPr/>
        <a:lstStyle/>
        <a:p>
          <a:r>
            <a:rPr lang="ru-RU" sz="2500" b="1" dirty="0" err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Недосточное</a:t>
          </a:r>
          <a:r>
            <a:rPr lang="ru-RU" sz="2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 материально-техническое обеспечение внеклассных мероприятий</a:t>
          </a:r>
        </a:p>
      </dgm:t>
    </dgm:pt>
    <dgm:pt modelId="{F3E16E44-FE90-4BDA-9ADD-141F8549CF7B}" type="parTrans" cxnId="{D35B45B6-C1DE-4C80-B6AB-F924C61FD9E7}">
      <dgm:prSet/>
      <dgm:spPr/>
      <dgm:t>
        <a:bodyPr/>
        <a:lstStyle/>
        <a:p>
          <a:endParaRPr lang="ru-RU"/>
        </a:p>
      </dgm:t>
    </dgm:pt>
    <dgm:pt modelId="{8F55B616-217D-42EC-939C-FC6662EEA768}" type="sibTrans" cxnId="{D35B45B6-C1DE-4C80-B6AB-F924C61FD9E7}">
      <dgm:prSet/>
      <dgm:spPr/>
      <dgm:t>
        <a:bodyPr/>
        <a:lstStyle/>
        <a:p>
          <a:endParaRPr lang="ru-RU"/>
        </a:p>
      </dgm:t>
    </dgm:pt>
    <dgm:pt modelId="{842EA890-D13F-4887-9B48-B0E389B88B2E}">
      <dgm:prSet phldrT="[Текст]" custT="1"/>
      <dgm:spPr/>
      <dgm:t>
        <a:bodyPr/>
        <a:lstStyle/>
        <a:p>
          <a:r>
            <a:rPr lang="ru-RU" sz="2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Отсутствие практики изучения интересов учащихся</a:t>
          </a:r>
        </a:p>
      </dgm:t>
    </dgm:pt>
    <dgm:pt modelId="{C8782F9E-926A-40FD-9C27-6668916E27DC}" type="parTrans" cxnId="{A3959483-96B3-4D39-8F53-F7F44EB41786}">
      <dgm:prSet/>
      <dgm:spPr/>
      <dgm:t>
        <a:bodyPr/>
        <a:lstStyle/>
        <a:p>
          <a:endParaRPr lang="ru-RU"/>
        </a:p>
      </dgm:t>
    </dgm:pt>
    <dgm:pt modelId="{DCDAE47C-6C35-46D8-92F3-54EF5CDC0F3F}" type="sibTrans" cxnId="{A3959483-96B3-4D39-8F53-F7F44EB41786}">
      <dgm:prSet/>
      <dgm:spPr/>
      <dgm:t>
        <a:bodyPr/>
        <a:lstStyle/>
        <a:p>
          <a:endParaRPr lang="ru-RU"/>
        </a:p>
      </dgm:t>
    </dgm:pt>
    <dgm:pt modelId="{FE97E924-BA03-493D-92DE-EE8AF0F9E54E}">
      <dgm:prSet custT="1"/>
      <dgm:spPr/>
      <dgm:t>
        <a:bodyPr/>
        <a:lstStyle/>
        <a:p>
          <a:r>
            <a:rPr lang="ru-RU" sz="2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Недостаточная мотивация педагогов и </a:t>
          </a:r>
          <a:r>
            <a:rPr lang="ru-RU" sz="25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учащ-ся</a:t>
          </a:r>
          <a:r>
            <a:rPr lang="ru-RU" sz="2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 к участию во внеклассных мероприятиях</a:t>
          </a:r>
        </a:p>
      </dgm:t>
    </dgm:pt>
    <dgm:pt modelId="{460166B2-46AA-4656-836B-3EE4DE2FCD28}" type="parTrans" cxnId="{7934E527-7CC1-48DF-B648-2026899BAE8B}">
      <dgm:prSet/>
      <dgm:spPr/>
      <dgm:t>
        <a:bodyPr/>
        <a:lstStyle/>
        <a:p>
          <a:endParaRPr lang="ru-RU"/>
        </a:p>
      </dgm:t>
    </dgm:pt>
    <dgm:pt modelId="{50FE4FFB-23FF-4498-B0F7-DD4AB23B28FE}" type="sibTrans" cxnId="{7934E527-7CC1-48DF-B648-2026899BAE8B}">
      <dgm:prSet/>
      <dgm:spPr/>
      <dgm:t>
        <a:bodyPr/>
        <a:lstStyle/>
        <a:p>
          <a:endParaRPr lang="ru-RU"/>
        </a:p>
      </dgm:t>
    </dgm:pt>
    <dgm:pt modelId="{34EE6C1C-50A9-4416-AB38-BDFD0D67B3B5}">
      <dgm:prSet phldrT="[Текст]" custT="1"/>
      <dgm:spPr>
        <a:solidFill>
          <a:srgbClr val="FFC000"/>
        </a:solidFill>
      </dgm:spPr>
      <dgm:t>
        <a:bodyPr/>
        <a:lstStyle/>
        <a:p>
          <a:r>
            <a:rPr lang="en-US" sz="2400" b="1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V.</a:t>
          </a:r>
          <a:r>
            <a:rPr lang="ru-RU" sz="2400" b="1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5. Поддержка и развитие внеклассной деятельности</a:t>
          </a:r>
        </a:p>
      </dgm:t>
    </dgm:pt>
    <dgm:pt modelId="{DD18F64E-FAE7-40CD-A08A-43A6B8221455}" type="sibTrans" cxnId="{FCD062D3-A986-4F5E-A56F-175AF25E4DFE}">
      <dgm:prSet/>
      <dgm:spPr/>
      <dgm:t>
        <a:bodyPr/>
        <a:lstStyle/>
        <a:p>
          <a:endParaRPr lang="ru-RU"/>
        </a:p>
      </dgm:t>
    </dgm:pt>
    <dgm:pt modelId="{B5EC504A-F3E4-4AF8-B343-8C23CDB659CF}" type="parTrans" cxnId="{FCD062D3-A986-4F5E-A56F-175AF25E4DFE}">
      <dgm:prSet/>
      <dgm:spPr/>
      <dgm:t>
        <a:bodyPr/>
        <a:lstStyle/>
        <a:p>
          <a:endParaRPr lang="ru-RU"/>
        </a:p>
      </dgm:t>
    </dgm:pt>
    <dgm:pt modelId="{C223035E-4039-4E74-8877-29339A8D92CD}">
      <dgm:prSet/>
      <dgm:spPr/>
    </dgm:pt>
    <dgm:pt modelId="{3542ECDA-B506-4F86-BD27-ACA55D86C66A}" type="parTrans" cxnId="{DDDBCF76-87FF-4501-8CCF-55F27920E0CE}">
      <dgm:prSet/>
      <dgm:spPr/>
      <dgm:t>
        <a:bodyPr/>
        <a:lstStyle/>
        <a:p>
          <a:endParaRPr lang="ru-MD"/>
        </a:p>
      </dgm:t>
    </dgm:pt>
    <dgm:pt modelId="{8014D7DD-DC6E-423E-8CD3-9D6F9E177B09}" type="sibTrans" cxnId="{DDDBCF76-87FF-4501-8CCF-55F27920E0CE}">
      <dgm:prSet/>
      <dgm:spPr/>
      <dgm:t>
        <a:bodyPr/>
        <a:lstStyle/>
        <a:p>
          <a:endParaRPr lang="ru-MD"/>
        </a:p>
      </dgm:t>
    </dgm:pt>
    <dgm:pt modelId="{4A3EEB61-478C-4C11-B933-37B265D4B0BF}" type="pres">
      <dgm:prSet presAssocID="{1189E8B4-701A-4D84-A5F7-9DCABD3FF3CF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F9A0A59-AC55-488D-82C4-DB0D2C8A114A}" type="pres">
      <dgm:prSet presAssocID="{34EE6C1C-50A9-4416-AB38-BDFD0D67B3B5}" presName="centerShape" presStyleLbl="node0" presStyleIdx="0" presStyleCnt="1" custScaleX="193256" custScaleY="108578" custLinFactNeighborX="1351" custLinFactNeighborY="-537"/>
      <dgm:spPr/>
    </dgm:pt>
    <dgm:pt modelId="{540DA81D-9C42-4E64-BAF5-26E2A13395FD}" type="pres">
      <dgm:prSet presAssocID="{F3E16E44-FE90-4BDA-9ADD-141F8549CF7B}" presName="parTrans" presStyleLbl="sibTrans2D1" presStyleIdx="0" presStyleCnt="3" custScaleX="172849" custScaleY="61391" custLinFactNeighborX="75032" custLinFactNeighborY="1474"/>
      <dgm:spPr/>
    </dgm:pt>
    <dgm:pt modelId="{21CDCF81-6926-412F-ADB1-508CBF98FF6F}" type="pres">
      <dgm:prSet presAssocID="{F3E16E44-FE90-4BDA-9ADD-141F8549CF7B}" presName="connectorText" presStyleLbl="sibTrans2D1" presStyleIdx="0" presStyleCnt="3"/>
      <dgm:spPr/>
    </dgm:pt>
    <dgm:pt modelId="{04816659-29DD-40F7-AB60-32F225A515C0}" type="pres">
      <dgm:prSet presAssocID="{23DD7391-048B-4749-BBBB-73075083C7A7}" presName="node" presStyleLbl="node1" presStyleIdx="0" presStyleCnt="3" custAng="0" custScaleX="206183" custScaleY="106537" custRadScaleRad="91811" custRadScaleInc="12326">
        <dgm:presLayoutVars>
          <dgm:bulletEnabled val="1"/>
        </dgm:presLayoutVars>
      </dgm:prSet>
      <dgm:spPr/>
    </dgm:pt>
    <dgm:pt modelId="{25F1F844-8FCA-4877-A25D-D7EBA1E81EAD}" type="pres">
      <dgm:prSet presAssocID="{C8782F9E-926A-40FD-9C27-6668916E27DC}" presName="parTrans" presStyleLbl="sibTrans2D1" presStyleIdx="1" presStyleCnt="3" custAng="62900" custScaleX="173789" custScaleY="63876" custLinFactNeighborX="99917" custLinFactNeighborY="-34780"/>
      <dgm:spPr/>
    </dgm:pt>
    <dgm:pt modelId="{E53896DC-CCE1-4280-A7D6-254127438791}" type="pres">
      <dgm:prSet presAssocID="{C8782F9E-926A-40FD-9C27-6668916E27DC}" presName="connectorText" presStyleLbl="sibTrans2D1" presStyleIdx="1" presStyleCnt="3"/>
      <dgm:spPr/>
    </dgm:pt>
    <dgm:pt modelId="{88434CE4-CDF8-4BCA-974B-0911D0AF72B4}" type="pres">
      <dgm:prSet presAssocID="{842EA890-D13F-4887-9B48-B0E389B88B2E}" presName="node" presStyleLbl="node1" presStyleIdx="1" presStyleCnt="3" custAng="0" custScaleX="190456" custScaleY="108059" custRadScaleRad="141500" custRadScaleInc="-18796">
        <dgm:presLayoutVars>
          <dgm:bulletEnabled val="1"/>
        </dgm:presLayoutVars>
      </dgm:prSet>
      <dgm:spPr/>
    </dgm:pt>
    <dgm:pt modelId="{C450B022-6689-4BC4-AA94-1F3F42ACAE4B}" type="pres">
      <dgm:prSet presAssocID="{460166B2-46AA-4656-836B-3EE4DE2FCD28}" presName="parTrans" presStyleLbl="sibTrans2D1" presStyleIdx="2" presStyleCnt="3" custAng="1776266" custScaleX="147242" custScaleY="59678" custLinFactNeighborX="17888" custLinFactNeighborY="-14111"/>
      <dgm:spPr/>
    </dgm:pt>
    <dgm:pt modelId="{4F2C9ACC-454C-453D-A0FE-A15348961EE2}" type="pres">
      <dgm:prSet presAssocID="{460166B2-46AA-4656-836B-3EE4DE2FCD28}" presName="connectorText" presStyleLbl="sibTrans2D1" presStyleIdx="2" presStyleCnt="3"/>
      <dgm:spPr/>
    </dgm:pt>
    <dgm:pt modelId="{7AD8A55D-0B82-4A1E-9876-AFDEF6E88596}" type="pres">
      <dgm:prSet presAssocID="{FE97E924-BA03-493D-92DE-EE8AF0F9E54E}" presName="node" presStyleLbl="node1" presStyleIdx="2" presStyleCnt="3" custScaleX="186366" custScaleY="116700" custRadScaleRad="140920" custRadScaleInc="80135">
        <dgm:presLayoutVars>
          <dgm:bulletEnabled val="1"/>
        </dgm:presLayoutVars>
      </dgm:prSet>
      <dgm:spPr/>
    </dgm:pt>
  </dgm:ptLst>
  <dgm:cxnLst>
    <dgm:cxn modelId="{B3362103-4BB4-4E41-B373-5F79309872FC}" type="presOf" srcId="{1189E8B4-701A-4D84-A5F7-9DCABD3FF3CF}" destId="{4A3EEB61-478C-4C11-B933-37B265D4B0BF}" srcOrd="0" destOrd="0" presId="urn:microsoft.com/office/officeart/2005/8/layout/radial5"/>
    <dgm:cxn modelId="{9DD9C50E-AB98-49AC-B40F-B1544A72FBE7}" type="presOf" srcId="{C8782F9E-926A-40FD-9C27-6668916E27DC}" destId="{25F1F844-8FCA-4877-A25D-D7EBA1E81EAD}" srcOrd="0" destOrd="0" presId="urn:microsoft.com/office/officeart/2005/8/layout/radial5"/>
    <dgm:cxn modelId="{AB0DB61B-FB21-43BF-A8AA-ECFC88AE968E}" type="presOf" srcId="{23DD7391-048B-4749-BBBB-73075083C7A7}" destId="{04816659-29DD-40F7-AB60-32F225A515C0}" srcOrd="0" destOrd="0" presId="urn:microsoft.com/office/officeart/2005/8/layout/radial5"/>
    <dgm:cxn modelId="{7934E527-7CC1-48DF-B648-2026899BAE8B}" srcId="{34EE6C1C-50A9-4416-AB38-BDFD0D67B3B5}" destId="{FE97E924-BA03-493D-92DE-EE8AF0F9E54E}" srcOrd="2" destOrd="0" parTransId="{460166B2-46AA-4656-836B-3EE4DE2FCD28}" sibTransId="{50FE4FFB-23FF-4498-B0F7-DD4AB23B28FE}"/>
    <dgm:cxn modelId="{3E696B34-DC61-474D-A971-3FFEE8E215B8}" type="presOf" srcId="{842EA890-D13F-4887-9B48-B0E389B88B2E}" destId="{88434CE4-CDF8-4BCA-974B-0911D0AF72B4}" srcOrd="0" destOrd="0" presId="urn:microsoft.com/office/officeart/2005/8/layout/radial5"/>
    <dgm:cxn modelId="{9498EB6B-F5BF-4895-88B9-845740EE26C0}" type="presOf" srcId="{460166B2-46AA-4656-836B-3EE4DE2FCD28}" destId="{C450B022-6689-4BC4-AA94-1F3F42ACAE4B}" srcOrd="0" destOrd="0" presId="urn:microsoft.com/office/officeart/2005/8/layout/radial5"/>
    <dgm:cxn modelId="{AC373D6E-622B-46C8-9A83-9C6B4AD92444}" type="presOf" srcId="{C8782F9E-926A-40FD-9C27-6668916E27DC}" destId="{E53896DC-CCE1-4280-A7D6-254127438791}" srcOrd="1" destOrd="0" presId="urn:microsoft.com/office/officeart/2005/8/layout/radial5"/>
    <dgm:cxn modelId="{DDDBCF76-87FF-4501-8CCF-55F27920E0CE}" srcId="{1189E8B4-701A-4D84-A5F7-9DCABD3FF3CF}" destId="{C223035E-4039-4E74-8877-29339A8D92CD}" srcOrd="1" destOrd="0" parTransId="{3542ECDA-B506-4F86-BD27-ACA55D86C66A}" sibTransId="{8014D7DD-DC6E-423E-8CD3-9D6F9E177B09}"/>
    <dgm:cxn modelId="{C03AA077-E66F-4937-ACEB-5729DD2EA687}" type="presOf" srcId="{34EE6C1C-50A9-4416-AB38-BDFD0D67B3B5}" destId="{BF9A0A59-AC55-488D-82C4-DB0D2C8A114A}" srcOrd="0" destOrd="0" presId="urn:microsoft.com/office/officeart/2005/8/layout/radial5"/>
    <dgm:cxn modelId="{A3959483-96B3-4D39-8F53-F7F44EB41786}" srcId="{34EE6C1C-50A9-4416-AB38-BDFD0D67B3B5}" destId="{842EA890-D13F-4887-9B48-B0E389B88B2E}" srcOrd="1" destOrd="0" parTransId="{C8782F9E-926A-40FD-9C27-6668916E27DC}" sibTransId="{DCDAE47C-6C35-46D8-92F3-54EF5CDC0F3F}"/>
    <dgm:cxn modelId="{BE929983-7087-4083-B88B-D08F72DBF00B}" type="presOf" srcId="{FE97E924-BA03-493D-92DE-EE8AF0F9E54E}" destId="{7AD8A55D-0B82-4A1E-9876-AFDEF6E88596}" srcOrd="0" destOrd="0" presId="urn:microsoft.com/office/officeart/2005/8/layout/radial5"/>
    <dgm:cxn modelId="{72430D98-77AE-4357-A5AC-C3F3F9AF33FD}" type="presOf" srcId="{F3E16E44-FE90-4BDA-9ADD-141F8549CF7B}" destId="{540DA81D-9C42-4E64-BAF5-26E2A13395FD}" srcOrd="0" destOrd="0" presId="urn:microsoft.com/office/officeart/2005/8/layout/radial5"/>
    <dgm:cxn modelId="{D35B45B6-C1DE-4C80-B6AB-F924C61FD9E7}" srcId="{34EE6C1C-50A9-4416-AB38-BDFD0D67B3B5}" destId="{23DD7391-048B-4749-BBBB-73075083C7A7}" srcOrd="0" destOrd="0" parTransId="{F3E16E44-FE90-4BDA-9ADD-141F8549CF7B}" sibTransId="{8F55B616-217D-42EC-939C-FC6662EEA768}"/>
    <dgm:cxn modelId="{688AA2BE-6344-4A9A-8819-05728E6C3628}" type="presOf" srcId="{460166B2-46AA-4656-836B-3EE4DE2FCD28}" destId="{4F2C9ACC-454C-453D-A0FE-A15348961EE2}" srcOrd="1" destOrd="0" presId="urn:microsoft.com/office/officeart/2005/8/layout/radial5"/>
    <dgm:cxn modelId="{FCD062D3-A986-4F5E-A56F-175AF25E4DFE}" srcId="{1189E8B4-701A-4D84-A5F7-9DCABD3FF3CF}" destId="{34EE6C1C-50A9-4416-AB38-BDFD0D67B3B5}" srcOrd="0" destOrd="0" parTransId="{B5EC504A-F3E4-4AF8-B343-8C23CDB659CF}" sibTransId="{DD18F64E-FAE7-40CD-A08A-43A6B8221455}"/>
    <dgm:cxn modelId="{7ACE5ADC-8D9A-4C96-B13D-028B77F6F5DC}" type="presOf" srcId="{F3E16E44-FE90-4BDA-9ADD-141F8549CF7B}" destId="{21CDCF81-6926-412F-ADB1-508CBF98FF6F}" srcOrd="1" destOrd="0" presId="urn:microsoft.com/office/officeart/2005/8/layout/radial5"/>
    <dgm:cxn modelId="{63171D4D-0212-4DE9-8641-F4ADBED5B05F}" type="presParOf" srcId="{4A3EEB61-478C-4C11-B933-37B265D4B0BF}" destId="{BF9A0A59-AC55-488D-82C4-DB0D2C8A114A}" srcOrd="0" destOrd="0" presId="urn:microsoft.com/office/officeart/2005/8/layout/radial5"/>
    <dgm:cxn modelId="{B32EE0EC-0ED3-4775-A059-320EE67BCAD5}" type="presParOf" srcId="{4A3EEB61-478C-4C11-B933-37B265D4B0BF}" destId="{540DA81D-9C42-4E64-BAF5-26E2A13395FD}" srcOrd="1" destOrd="0" presId="urn:microsoft.com/office/officeart/2005/8/layout/radial5"/>
    <dgm:cxn modelId="{09522CEF-7250-4163-938B-9989B5C8A4E2}" type="presParOf" srcId="{540DA81D-9C42-4E64-BAF5-26E2A13395FD}" destId="{21CDCF81-6926-412F-ADB1-508CBF98FF6F}" srcOrd="0" destOrd="0" presId="urn:microsoft.com/office/officeart/2005/8/layout/radial5"/>
    <dgm:cxn modelId="{27084D39-3D38-4FEB-93DA-3DE39AD32FA0}" type="presParOf" srcId="{4A3EEB61-478C-4C11-B933-37B265D4B0BF}" destId="{04816659-29DD-40F7-AB60-32F225A515C0}" srcOrd="2" destOrd="0" presId="urn:microsoft.com/office/officeart/2005/8/layout/radial5"/>
    <dgm:cxn modelId="{25D53799-E24B-4667-8A97-CC2BE6FACE82}" type="presParOf" srcId="{4A3EEB61-478C-4C11-B933-37B265D4B0BF}" destId="{25F1F844-8FCA-4877-A25D-D7EBA1E81EAD}" srcOrd="3" destOrd="0" presId="urn:microsoft.com/office/officeart/2005/8/layout/radial5"/>
    <dgm:cxn modelId="{E6F8FE91-756B-42F5-9E4D-EB8172AA585B}" type="presParOf" srcId="{25F1F844-8FCA-4877-A25D-D7EBA1E81EAD}" destId="{E53896DC-CCE1-4280-A7D6-254127438791}" srcOrd="0" destOrd="0" presId="urn:microsoft.com/office/officeart/2005/8/layout/radial5"/>
    <dgm:cxn modelId="{C745DD0F-47E6-4BA8-AE11-EBCB01D7A09B}" type="presParOf" srcId="{4A3EEB61-478C-4C11-B933-37B265D4B0BF}" destId="{88434CE4-CDF8-4BCA-974B-0911D0AF72B4}" srcOrd="4" destOrd="0" presId="urn:microsoft.com/office/officeart/2005/8/layout/radial5"/>
    <dgm:cxn modelId="{E082FE80-6267-447D-BDBC-C1B34D7015C6}" type="presParOf" srcId="{4A3EEB61-478C-4C11-B933-37B265D4B0BF}" destId="{C450B022-6689-4BC4-AA94-1F3F42ACAE4B}" srcOrd="5" destOrd="0" presId="urn:microsoft.com/office/officeart/2005/8/layout/radial5"/>
    <dgm:cxn modelId="{437314CB-A70F-45C6-9CA8-88BADA6BFF77}" type="presParOf" srcId="{C450B022-6689-4BC4-AA94-1F3F42ACAE4B}" destId="{4F2C9ACC-454C-453D-A0FE-A15348961EE2}" srcOrd="0" destOrd="0" presId="urn:microsoft.com/office/officeart/2005/8/layout/radial5"/>
    <dgm:cxn modelId="{DCA4E8C5-DDE5-421C-85C0-87E2F0BB54BD}" type="presParOf" srcId="{4A3EEB61-478C-4C11-B933-37B265D4B0BF}" destId="{7AD8A55D-0B82-4A1E-9876-AFDEF6E88596}" srcOrd="6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189E8B4-701A-4D84-A5F7-9DCABD3FF3CF}" type="doc">
      <dgm:prSet loTypeId="urn:microsoft.com/office/officeart/2005/8/layout/radial5" loCatId="cycl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3DD7391-048B-4749-BBBB-73075083C7A7}">
      <dgm:prSet phldrT="[Текст]" custT="1"/>
      <dgm:spPr/>
      <dgm:t>
        <a:bodyPr/>
        <a:lstStyle/>
        <a:p>
          <a:r>
            <a:rPr lang="ru-RU" sz="2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Отсутствие современной мебели согласно санитарным нормам</a:t>
          </a:r>
        </a:p>
      </dgm:t>
    </dgm:pt>
    <dgm:pt modelId="{F3E16E44-FE90-4BDA-9ADD-141F8549CF7B}" type="parTrans" cxnId="{D35B45B6-C1DE-4C80-B6AB-F924C61FD9E7}">
      <dgm:prSet/>
      <dgm:spPr/>
      <dgm:t>
        <a:bodyPr/>
        <a:lstStyle/>
        <a:p>
          <a:endParaRPr lang="ru-RU"/>
        </a:p>
      </dgm:t>
    </dgm:pt>
    <dgm:pt modelId="{8F55B616-217D-42EC-939C-FC6662EEA768}" type="sibTrans" cxnId="{D35B45B6-C1DE-4C80-B6AB-F924C61FD9E7}">
      <dgm:prSet/>
      <dgm:spPr/>
      <dgm:t>
        <a:bodyPr/>
        <a:lstStyle/>
        <a:p>
          <a:endParaRPr lang="ru-RU"/>
        </a:p>
      </dgm:t>
    </dgm:pt>
    <dgm:pt modelId="{842EA890-D13F-4887-9B48-B0E389B88B2E}">
      <dgm:prSet phldrT="[Текст]" custT="1"/>
      <dgm:spPr/>
      <dgm:t>
        <a:bodyPr/>
        <a:lstStyle/>
        <a:p>
          <a:r>
            <a:rPr lang="ru-RU" sz="2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Отсутствие ограждения угрожает безопасности школы</a:t>
          </a:r>
        </a:p>
      </dgm:t>
    </dgm:pt>
    <dgm:pt modelId="{C8782F9E-926A-40FD-9C27-6668916E27DC}" type="parTrans" cxnId="{A3959483-96B3-4D39-8F53-F7F44EB41786}">
      <dgm:prSet/>
      <dgm:spPr/>
      <dgm:t>
        <a:bodyPr/>
        <a:lstStyle/>
        <a:p>
          <a:endParaRPr lang="ru-RU"/>
        </a:p>
      </dgm:t>
    </dgm:pt>
    <dgm:pt modelId="{DCDAE47C-6C35-46D8-92F3-54EF5CDC0F3F}" type="sibTrans" cxnId="{A3959483-96B3-4D39-8F53-F7F44EB41786}">
      <dgm:prSet/>
      <dgm:spPr/>
      <dgm:t>
        <a:bodyPr/>
        <a:lstStyle/>
        <a:p>
          <a:endParaRPr lang="ru-RU"/>
        </a:p>
      </dgm:t>
    </dgm:pt>
    <dgm:pt modelId="{FE97E924-BA03-493D-92DE-EE8AF0F9E54E}">
      <dgm:prSet custT="1"/>
      <dgm:spPr/>
      <dgm:t>
        <a:bodyPr/>
        <a:lstStyle/>
        <a:p>
          <a:r>
            <a:rPr lang="ru-RU" sz="2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Отсутствие современной безопасной электропроводки </a:t>
          </a:r>
        </a:p>
      </dgm:t>
    </dgm:pt>
    <dgm:pt modelId="{460166B2-46AA-4656-836B-3EE4DE2FCD28}" type="parTrans" cxnId="{7934E527-7CC1-48DF-B648-2026899BAE8B}">
      <dgm:prSet/>
      <dgm:spPr/>
      <dgm:t>
        <a:bodyPr/>
        <a:lstStyle/>
        <a:p>
          <a:endParaRPr lang="ru-RU"/>
        </a:p>
      </dgm:t>
    </dgm:pt>
    <dgm:pt modelId="{50FE4FFB-23FF-4498-B0F7-DD4AB23B28FE}" type="sibTrans" cxnId="{7934E527-7CC1-48DF-B648-2026899BAE8B}">
      <dgm:prSet/>
      <dgm:spPr/>
      <dgm:t>
        <a:bodyPr/>
        <a:lstStyle/>
        <a:p>
          <a:endParaRPr lang="ru-RU"/>
        </a:p>
      </dgm:t>
    </dgm:pt>
    <dgm:pt modelId="{34EE6C1C-50A9-4416-AB38-BDFD0D67B3B5}">
      <dgm:prSet phldrT="[Текст]" custT="1"/>
      <dgm:spPr>
        <a:solidFill>
          <a:srgbClr val="FFC000"/>
        </a:solidFill>
      </dgm:spPr>
      <dgm:t>
        <a:bodyPr/>
        <a:lstStyle/>
        <a:p>
          <a:r>
            <a:rPr lang="en-US" sz="2400" b="1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V.</a:t>
          </a:r>
          <a:r>
            <a:rPr lang="ru-RU" sz="2400" b="1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6. Укрепление материально-технической базы и финансовой устойчивости</a:t>
          </a:r>
        </a:p>
      </dgm:t>
    </dgm:pt>
    <dgm:pt modelId="{DD18F64E-FAE7-40CD-A08A-43A6B8221455}" type="sibTrans" cxnId="{FCD062D3-A986-4F5E-A56F-175AF25E4DFE}">
      <dgm:prSet/>
      <dgm:spPr/>
      <dgm:t>
        <a:bodyPr/>
        <a:lstStyle/>
        <a:p>
          <a:endParaRPr lang="ru-RU"/>
        </a:p>
      </dgm:t>
    </dgm:pt>
    <dgm:pt modelId="{B5EC504A-F3E4-4AF8-B343-8C23CDB659CF}" type="parTrans" cxnId="{FCD062D3-A986-4F5E-A56F-175AF25E4DFE}">
      <dgm:prSet/>
      <dgm:spPr/>
      <dgm:t>
        <a:bodyPr/>
        <a:lstStyle/>
        <a:p>
          <a:endParaRPr lang="ru-RU"/>
        </a:p>
      </dgm:t>
    </dgm:pt>
    <dgm:pt modelId="{C223035E-4039-4E74-8877-29339A8D92CD}">
      <dgm:prSet/>
      <dgm:spPr/>
    </dgm:pt>
    <dgm:pt modelId="{3542ECDA-B506-4F86-BD27-ACA55D86C66A}" type="parTrans" cxnId="{DDDBCF76-87FF-4501-8CCF-55F27920E0CE}">
      <dgm:prSet/>
      <dgm:spPr/>
      <dgm:t>
        <a:bodyPr/>
        <a:lstStyle/>
        <a:p>
          <a:endParaRPr lang="ru-MD"/>
        </a:p>
      </dgm:t>
    </dgm:pt>
    <dgm:pt modelId="{8014D7DD-DC6E-423E-8CD3-9D6F9E177B09}" type="sibTrans" cxnId="{DDDBCF76-87FF-4501-8CCF-55F27920E0CE}">
      <dgm:prSet/>
      <dgm:spPr/>
      <dgm:t>
        <a:bodyPr/>
        <a:lstStyle/>
        <a:p>
          <a:endParaRPr lang="ru-MD"/>
        </a:p>
      </dgm:t>
    </dgm:pt>
    <dgm:pt modelId="{59EB29EF-3769-4FA3-90F8-DA2F3F3F9215}">
      <dgm:prSet custScaleX="186366" custScaleY="116700" custRadScaleRad="141031" custRadScaleInc="81124"/>
      <dgm:spPr/>
    </dgm:pt>
    <dgm:pt modelId="{1CB7F573-0D67-46A2-955D-AF87596F5F1C}" type="parTrans" cxnId="{43BDEC0C-2127-4A23-9016-C22FF553E46A}">
      <dgm:prSet custAng="1776266" custScaleX="147242" custScaleY="59678" custLinFactNeighborX="17888" custLinFactNeighborY="-14111"/>
      <dgm:spPr/>
      <dgm:t>
        <a:bodyPr/>
        <a:lstStyle/>
        <a:p>
          <a:endParaRPr lang="ru-MD"/>
        </a:p>
      </dgm:t>
    </dgm:pt>
    <dgm:pt modelId="{6B3930AC-A8A4-42D5-BC50-84CAC7CEBF90}" type="sibTrans" cxnId="{43BDEC0C-2127-4A23-9016-C22FF553E46A}">
      <dgm:prSet/>
      <dgm:spPr/>
      <dgm:t>
        <a:bodyPr/>
        <a:lstStyle/>
        <a:p>
          <a:endParaRPr lang="ru-MD"/>
        </a:p>
      </dgm:t>
    </dgm:pt>
    <dgm:pt modelId="{E91E17F2-1F4F-4770-B58E-2F26E2B48B39}">
      <dgm:prSet custScaleX="186366" custScaleY="116700" custRadScaleRad="141031" custRadScaleInc="81124"/>
      <dgm:spPr/>
    </dgm:pt>
    <dgm:pt modelId="{944817C6-BCD2-42DA-B417-5A08649D113F}" type="parTrans" cxnId="{33ECCB1B-0973-448A-A53E-C142A9D63EB2}">
      <dgm:prSet custAng="1776266" custScaleX="147242" custScaleY="59678" custLinFactNeighborX="17888" custLinFactNeighborY="-14111"/>
      <dgm:spPr/>
      <dgm:t>
        <a:bodyPr/>
        <a:lstStyle/>
        <a:p>
          <a:endParaRPr lang="ru-MD"/>
        </a:p>
      </dgm:t>
    </dgm:pt>
    <dgm:pt modelId="{54387A1C-6915-4474-B918-ACD3A4E830CC}" type="sibTrans" cxnId="{33ECCB1B-0973-448A-A53E-C142A9D63EB2}">
      <dgm:prSet/>
      <dgm:spPr/>
      <dgm:t>
        <a:bodyPr/>
        <a:lstStyle/>
        <a:p>
          <a:endParaRPr lang="ru-MD"/>
        </a:p>
      </dgm:t>
    </dgm:pt>
    <dgm:pt modelId="{4A3EEB61-478C-4C11-B933-37B265D4B0BF}" type="pres">
      <dgm:prSet presAssocID="{1189E8B4-701A-4D84-A5F7-9DCABD3FF3CF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F9A0A59-AC55-488D-82C4-DB0D2C8A114A}" type="pres">
      <dgm:prSet presAssocID="{34EE6C1C-50A9-4416-AB38-BDFD0D67B3B5}" presName="centerShape" presStyleLbl="node0" presStyleIdx="0" presStyleCnt="1" custScaleX="193256" custScaleY="108578" custLinFactNeighborX="1351" custLinFactNeighborY="-537"/>
      <dgm:spPr/>
    </dgm:pt>
    <dgm:pt modelId="{540DA81D-9C42-4E64-BAF5-26E2A13395FD}" type="pres">
      <dgm:prSet presAssocID="{F3E16E44-FE90-4BDA-9ADD-141F8549CF7B}" presName="parTrans" presStyleLbl="sibTrans2D1" presStyleIdx="0" presStyleCnt="3" custScaleX="172849" custScaleY="61391" custLinFactNeighborX="75032" custLinFactNeighborY="1474"/>
      <dgm:spPr/>
    </dgm:pt>
    <dgm:pt modelId="{21CDCF81-6926-412F-ADB1-508CBF98FF6F}" type="pres">
      <dgm:prSet presAssocID="{F3E16E44-FE90-4BDA-9ADD-141F8549CF7B}" presName="connectorText" presStyleLbl="sibTrans2D1" presStyleIdx="0" presStyleCnt="3"/>
      <dgm:spPr/>
    </dgm:pt>
    <dgm:pt modelId="{04816659-29DD-40F7-AB60-32F225A515C0}" type="pres">
      <dgm:prSet presAssocID="{23DD7391-048B-4749-BBBB-73075083C7A7}" presName="node" presStyleLbl="node1" presStyleIdx="0" presStyleCnt="3" custAng="0" custScaleX="206183" custScaleY="106537" custRadScaleRad="91811" custRadScaleInc="12326">
        <dgm:presLayoutVars>
          <dgm:bulletEnabled val="1"/>
        </dgm:presLayoutVars>
      </dgm:prSet>
      <dgm:spPr/>
    </dgm:pt>
    <dgm:pt modelId="{25F1F844-8FCA-4877-A25D-D7EBA1E81EAD}" type="pres">
      <dgm:prSet presAssocID="{C8782F9E-926A-40FD-9C27-6668916E27DC}" presName="parTrans" presStyleLbl="sibTrans2D1" presStyleIdx="1" presStyleCnt="3" custAng="62900" custScaleX="165988" custScaleY="63876" custLinFactNeighborX="-84797" custLinFactNeighborY="-31125"/>
      <dgm:spPr/>
    </dgm:pt>
    <dgm:pt modelId="{E53896DC-CCE1-4280-A7D6-254127438791}" type="pres">
      <dgm:prSet presAssocID="{C8782F9E-926A-40FD-9C27-6668916E27DC}" presName="connectorText" presStyleLbl="sibTrans2D1" presStyleIdx="1" presStyleCnt="3"/>
      <dgm:spPr/>
    </dgm:pt>
    <dgm:pt modelId="{88434CE4-CDF8-4BCA-974B-0911D0AF72B4}" type="pres">
      <dgm:prSet presAssocID="{842EA890-D13F-4887-9B48-B0E389B88B2E}" presName="node" presStyleLbl="node1" presStyleIdx="1" presStyleCnt="3" custAng="0" custScaleX="190456" custScaleY="108059" custRadScaleRad="146379" custRadScaleInc="-77277">
        <dgm:presLayoutVars>
          <dgm:bulletEnabled val="1"/>
        </dgm:presLayoutVars>
      </dgm:prSet>
      <dgm:spPr/>
    </dgm:pt>
    <dgm:pt modelId="{C450B022-6689-4BC4-AA94-1F3F42ACAE4B}" type="pres">
      <dgm:prSet presAssocID="{460166B2-46AA-4656-836B-3EE4DE2FCD28}" presName="parTrans" presStyleLbl="sibTrans2D1" presStyleIdx="2" presStyleCnt="3" custAng="1776266" custScaleX="147242" custScaleY="59678" custLinFactNeighborX="17888" custLinFactNeighborY="-14111"/>
      <dgm:spPr/>
    </dgm:pt>
    <dgm:pt modelId="{4F2C9ACC-454C-453D-A0FE-A15348961EE2}" type="pres">
      <dgm:prSet presAssocID="{460166B2-46AA-4656-836B-3EE4DE2FCD28}" presName="connectorText" presStyleLbl="sibTrans2D1" presStyleIdx="2" presStyleCnt="3"/>
      <dgm:spPr/>
    </dgm:pt>
    <dgm:pt modelId="{7AD8A55D-0B82-4A1E-9876-AFDEF6E88596}" type="pres">
      <dgm:prSet presAssocID="{FE97E924-BA03-493D-92DE-EE8AF0F9E54E}" presName="node" presStyleLbl="node1" presStyleIdx="2" presStyleCnt="3" custScaleX="186366" custScaleY="116700" custRadScaleRad="136616" custRadScaleInc="76281">
        <dgm:presLayoutVars>
          <dgm:bulletEnabled val="1"/>
        </dgm:presLayoutVars>
      </dgm:prSet>
      <dgm:spPr/>
    </dgm:pt>
  </dgm:ptLst>
  <dgm:cxnLst>
    <dgm:cxn modelId="{B3362103-4BB4-4E41-B373-5F79309872FC}" type="presOf" srcId="{1189E8B4-701A-4D84-A5F7-9DCABD3FF3CF}" destId="{4A3EEB61-478C-4C11-B933-37B265D4B0BF}" srcOrd="0" destOrd="0" presId="urn:microsoft.com/office/officeart/2005/8/layout/radial5"/>
    <dgm:cxn modelId="{43BDEC0C-2127-4A23-9016-C22FF553E46A}" srcId="{1189E8B4-701A-4D84-A5F7-9DCABD3FF3CF}" destId="{59EB29EF-3769-4FA3-90F8-DA2F3F3F9215}" srcOrd="2" destOrd="0" parTransId="{1CB7F573-0D67-46A2-955D-AF87596F5F1C}" sibTransId="{6B3930AC-A8A4-42D5-BC50-84CAC7CEBF90}"/>
    <dgm:cxn modelId="{9DD9C50E-AB98-49AC-B40F-B1544A72FBE7}" type="presOf" srcId="{C8782F9E-926A-40FD-9C27-6668916E27DC}" destId="{25F1F844-8FCA-4877-A25D-D7EBA1E81EAD}" srcOrd="0" destOrd="0" presId="urn:microsoft.com/office/officeart/2005/8/layout/radial5"/>
    <dgm:cxn modelId="{AB0DB61B-FB21-43BF-A8AA-ECFC88AE968E}" type="presOf" srcId="{23DD7391-048B-4749-BBBB-73075083C7A7}" destId="{04816659-29DD-40F7-AB60-32F225A515C0}" srcOrd="0" destOrd="0" presId="urn:microsoft.com/office/officeart/2005/8/layout/radial5"/>
    <dgm:cxn modelId="{33ECCB1B-0973-448A-A53E-C142A9D63EB2}" srcId="{1189E8B4-701A-4D84-A5F7-9DCABD3FF3CF}" destId="{E91E17F2-1F4F-4770-B58E-2F26E2B48B39}" srcOrd="3" destOrd="0" parTransId="{944817C6-BCD2-42DA-B417-5A08649D113F}" sibTransId="{54387A1C-6915-4474-B918-ACD3A4E830CC}"/>
    <dgm:cxn modelId="{7934E527-7CC1-48DF-B648-2026899BAE8B}" srcId="{34EE6C1C-50A9-4416-AB38-BDFD0D67B3B5}" destId="{FE97E924-BA03-493D-92DE-EE8AF0F9E54E}" srcOrd="2" destOrd="0" parTransId="{460166B2-46AA-4656-836B-3EE4DE2FCD28}" sibTransId="{50FE4FFB-23FF-4498-B0F7-DD4AB23B28FE}"/>
    <dgm:cxn modelId="{3E696B34-DC61-474D-A971-3FFEE8E215B8}" type="presOf" srcId="{842EA890-D13F-4887-9B48-B0E389B88B2E}" destId="{88434CE4-CDF8-4BCA-974B-0911D0AF72B4}" srcOrd="0" destOrd="0" presId="urn:microsoft.com/office/officeart/2005/8/layout/radial5"/>
    <dgm:cxn modelId="{9498EB6B-F5BF-4895-88B9-845740EE26C0}" type="presOf" srcId="{460166B2-46AA-4656-836B-3EE4DE2FCD28}" destId="{C450B022-6689-4BC4-AA94-1F3F42ACAE4B}" srcOrd="0" destOrd="0" presId="urn:microsoft.com/office/officeart/2005/8/layout/radial5"/>
    <dgm:cxn modelId="{AC373D6E-622B-46C8-9A83-9C6B4AD92444}" type="presOf" srcId="{C8782F9E-926A-40FD-9C27-6668916E27DC}" destId="{E53896DC-CCE1-4280-A7D6-254127438791}" srcOrd="1" destOrd="0" presId="urn:microsoft.com/office/officeart/2005/8/layout/radial5"/>
    <dgm:cxn modelId="{DDDBCF76-87FF-4501-8CCF-55F27920E0CE}" srcId="{1189E8B4-701A-4D84-A5F7-9DCABD3FF3CF}" destId="{C223035E-4039-4E74-8877-29339A8D92CD}" srcOrd="1" destOrd="0" parTransId="{3542ECDA-B506-4F86-BD27-ACA55D86C66A}" sibTransId="{8014D7DD-DC6E-423E-8CD3-9D6F9E177B09}"/>
    <dgm:cxn modelId="{C03AA077-E66F-4937-ACEB-5729DD2EA687}" type="presOf" srcId="{34EE6C1C-50A9-4416-AB38-BDFD0D67B3B5}" destId="{BF9A0A59-AC55-488D-82C4-DB0D2C8A114A}" srcOrd="0" destOrd="0" presId="urn:microsoft.com/office/officeart/2005/8/layout/radial5"/>
    <dgm:cxn modelId="{A3959483-96B3-4D39-8F53-F7F44EB41786}" srcId="{34EE6C1C-50A9-4416-AB38-BDFD0D67B3B5}" destId="{842EA890-D13F-4887-9B48-B0E389B88B2E}" srcOrd="1" destOrd="0" parTransId="{C8782F9E-926A-40FD-9C27-6668916E27DC}" sibTransId="{DCDAE47C-6C35-46D8-92F3-54EF5CDC0F3F}"/>
    <dgm:cxn modelId="{BE929983-7087-4083-B88B-D08F72DBF00B}" type="presOf" srcId="{FE97E924-BA03-493D-92DE-EE8AF0F9E54E}" destId="{7AD8A55D-0B82-4A1E-9876-AFDEF6E88596}" srcOrd="0" destOrd="0" presId="urn:microsoft.com/office/officeart/2005/8/layout/radial5"/>
    <dgm:cxn modelId="{72430D98-77AE-4357-A5AC-C3F3F9AF33FD}" type="presOf" srcId="{F3E16E44-FE90-4BDA-9ADD-141F8549CF7B}" destId="{540DA81D-9C42-4E64-BAF5-26E2A13395FD}" srcOrd="0" destOrd="0" presId="urn:microsoft.com/office/officeart/2005/8/layout/radial5"/>
    <dgm:cxn modelId="{D35B45B6-C1DE-4C80-B6AB-F924C61FD9E7}" srcId="{34EE6C1C-50A9-4416-AB38-BDFD0D67B3B5}" destId="{23DD7391-048B-4749-BBBB-73075083C7A7}" srcOrd="0" destOrd="0" parTransId="{F3E16E44-FE90-4BDA-9ADD-141F8549CF7B}" sibTransId="{8F55B616-217D-42EC-939C-FC6662EEA768}"/>
    <dgm:cxn modelId="{688AA2BE-6344-4A9A-8819-05728E6C3628}" type="presOf" srcId="{460166B2-46AA-4656-836B-3EE4DE2FCD28}" destId="{4F2C9ACC-454C-453D-A0FE-A15348961EE2}" srcOrd="1" destOrd="0" presId="urn:microsoft.com/office/officeart/2005/8/layout/radial5"/>
    <dgm:cxn modelId="{FCD062D3-A986-4F5E-A56F-175AF25E4DFE}" srcId="{1189E8B4-701A-4D84-A5F7-9DCABD3FF3CF}" destId="{34EE6C1C-50A9-4416-AB38-BDFD0D67B3B5}" srcOrd="0" destOrd="0" parTransId="{B5EC504A-F3E4-4AF8-B343-8C23CDB659CF}" sibTransId="{DD18F64E-FAE7-40CD-A08A-43A6B8221455}"/>
    <dgm:cxn modelId="{7ACE5ADC-8D9A-4C96-B13D-028B77F6F5DC}" type="presOf" srcId="{F3E16E44-FE90-4BDA-9ADD-141F8549CF7B}" destId="{21CDCF81-6926-412F-ADB1-508CBF98FF6F}" srcOrd="1" destOrd="0" presId="urn:microsoft.com/office/officeart/2005/8/layout/radial5"/>
    <dgm:cxn modelId="{63171D4D-0212-4DE9-8641-F4ADBED5B05F}" type="presParOf" srcId="{4A3EEB61-478C-4C11-B933-37B265D4B0BF}" destId="{BF9A0A59-AC55-488D-82C4-DB0D2C8A114A}" srcOrd="0" destOrd="0" presId="urn:microsoft.com/office/officeart/2005/8/layout/radial5"/>
    <dgm:cxn modelId="{B32EE0EC-0ED3-4775-A059-320EE67BCAD5}" type="presParOf" srcId="{4A3EEB61-478C-4C11-B933-37B265D4B0BF}" destId="{540DA81D-9C42-4E64-BAF5-26E2A13395FD}" srcOrd="1" destOrd="0" presId="urn:microsoft.com/office/officeart/2005/8/layout/radial5"/>
    <dgm:cxn modelId="{09522CEF-7250-4163-938B-9989B5C8A4E2}" type="presParOf" srcId="{540DA81D-9C42-4E64-BAF5-26E2A13395FD}" destId="{21CDCF81-6926-412F-ADB1-508CBF98FF6F}" srcOrd="0" destOrd="0" presId="urn:microsoft.com/office/officeart/2005/8/layout/radial5"/>
    <dgm:cxn modelId="{27084D39-3D38-4FEB-93DA-3DE39AD32FA0}" type="presParOf" srcId="{4A3EEB61-478C-4C11-B933-37B265D4B0BF}" destId="{04816659-29DD-40F7-AB60-32F225A515C0}" srcOrd="2" destOrd="0" presId="urn:microsoft.com/office/officeart/2005/8/layout/radial5"/>
    <dgm:cxn modelId="{25D53799-E24B-4667-8A97-CC2BE6FACE82}" type="presParOf" srcId="{4A3EEB61-478C-4C11-B933-37B265D4B0BF}" destId="{25F1F844-8FCA-4877-A25D-D7EBA1E81EAD}" srcOrd="3" destOrd="0" presId="urn:microsoft.com/office/officeart/2005/8/layout/radial5"/>
    <dgm:cxn modelId="{E6F8FE91-756B-42F5-9E4D-EB8172AA585B}" type="presParOf" srcId="{25F1F844-8FCA-4877-A25D-D7EBA1E81EAD}" destId="{E53896DC-CCE1-4280-A7D6-254127438791}" srcOrd="0" destOrd="0" presId="urn:microsoft.com/office/officeart/2005/8/layout/radial5"/>
    <dgm:cxn modelId="{C745DD0F-47E6-4BA8-AE11-EBCB01D7A09B}" type="presParOf" srcId="{4A3EEB61-478C-4C11-B933-37B265D4B0BF}" destId="{88434CE4-CDF8-4BCA-974B-0911D0AF72B4}" srcOrd="4" destOrd="0" presId="urn:microsoft.com/office/officeart/2005/8/layout/radial5"/>
    <dgm:cxn modelId="{E082FE80-6267-447D-BDBC-C1B34D7015C6}" type="presParOf" srcId="{4A3EEB61-478C-4C11-B933-37B265D4B0BF}" destId="{C450B022-6689-4BC4-AA94-1F3F42ACAE4B}" srcOrd="5" destOrd="0" presId="urn:microsoft.com/office/officeart/2005/8/layout/radial5"/>
    <dgm:cxn modelId="{437314CB-A70F-45C6-9CA8-88BADA6BFF77}" type="presParOf" srcId="{C450B022-6689-4BC4-AA94-1F3F42ACAE4B}" destId="{4F2C9ACC-454C-453D-A0FE-A15348961EE2}" srcOrd="0" destOrd="0" presId="urn:microsoft.com/office/officeart/2005/8/layout/radial5"/>
    <dgm:cxn modelId="{DCA4E8C5-DDE5-421C-85C0-87E2F0BB54BD}" type="presParOf" srcId="{4A3EEB61-478C-4C11-B933-37B265D4B0BF}" destId="{7AD8A55D-0B82-4A1E-9876-AFDEF6E88596}" srcOrd="6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810C8C-EF88-45FE-A146-E49A4615BDEC}">
      <dsp:nvSpPr>
        <dsp:cNvPr id="0" name=""/>
        <dsp:cNvSpPr/>
      </dsp:nvSpPr>
      <dsp:spPr>
        <a:xfrm>
          <a:off x="-39739" y="29785"/>
          <a:ext cx="3873224" cy="3873224"/>
        </a:xfrm>
        <a:prstGeom prst="pie">
          <a:avLst>
            <a:gd name="adj1" fmla="val 5400000"/>
            <a:gd name="adj2" fmla="val 16200000"/>
          </a:avLst>
        </a:prstGeom>
        <a:solidFill>
          <a:srgbClr val="F0A318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6C0D94-5875-44CF-A28D-873EC48E7B1E}">
      <dsp:nvSpPr>
        <dsp:cNvPr id="0" name=""/>
        <dsp:cNvSpPr/>
      </dsp:nvSpPr>
      <dsp:spPr>
        <a:xfrm>
          <a:off x="1887675" y="0"/>
          <a:ext cx="8022397" cy="3873224"/>
        </a:xfrm>
        <a:prstGeom prst="rect">
          <a:avLst/>
        </a:prstGeom>
        <a:solidFill>
          <a:sysClr val="window" lastClr="FFFFFF"/>
        </a:solidFill>
        <a:ln w="25400" cap="flat" cmpd="sng" algn="ctr">
          <a:solidFill>
            <a:srgbClr val="9BBB59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kern="1200" dirty="0">
              <a:solidFill>
                <a:srgbClr val="002060"/>
              </a:solidFill>
              <a:effectLst/>
              <a:latin typeface="Times New Roman" pitchFamily="18" charset="0"/>
              <a:ea typeface="+mn-ea"/>
              <a:cs typeface="Times New Roman" pitchFamily="18" charset="0"/>
            </a:rPr>
            <a:t>Повышение качества предоставляемых образовательных услуг</a:t>
          </a:r>
        </a:p>
      </dsp:txBody>
      <dsp:txXfrm>
        <a:off x="1887675" y="0"/>
        <a:ext cx="8022397" cy="1161969"/>
      </dsp:txXfrm>
    </dsp:sp>
    <dsp:sp modelId="{7AD1AC3F-E35E-49D4-8605-3D6D112CD2B0}">
      <dsp:nvSpPr>
        <dsp:cNvPr id="0" name=""/>
        <dsp:cNvSpPr/>
      </dsp:nvSpPr>
      <dsp:spPr>
        <a:xfrm>
          <a:off x="677815" y="1161969"/>
          <a:ext cx="2517593" cy="2517593"/>
        </a:xfrm>
        <a:prstGeom prst="pie">
          <a:avLst>
            <a:gd name="adj1" fmla="val 5400000"/>
            <a:gd name="adj2" fmla="val 16200000"/>
          </a:avLst>
        </a:prstGeom>
        <a:solidFill>
          <a:srgbClr val="009999"/>
        </a:solidFill>
        <a:ln>
          <a:solidFill>
            <a:srgbClr val="009999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E658D10-23E7-4833-A4EE-45A31ED86D3A}">
      <dsp:nvSpPr>
        <dsp:cNvPr id="0" name=""/>
        <dsp:cNvSpPr/>
      </dsp:nvSpPr>
      <dsp:spPr>
        <a:xfrm>
          <a:off x="1926584" y="1154668"/>
          <a:ext cx="8022397" cy="2517593"/>
        </a:xfrm>
        <a:prstGeom prst="rect">
          <a:avLst/>
        </a:prstGeom>
        <a:solidFill>
          <a:sysClr val="window" lastClr="FFFFFF"/>
        </a:solidFill>
        <a:ln w="25400" cap="flat" cmpd="sng" algn="ctr">
          <a:solidFill>
            <a:srgbClr val="9BBB59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kern="1200" dirty="0">
              <a:solidFill>
                <a:srgbClr val="002060"/>
              </a:solidFill>
              <a:latin typeface="Times New Roman" pitchFamily="18" charset="0"/>
              <a:ea typeface="+mn-ea"/>
              <a:cs typeface="Times New Roman" pitchFamily="18" charset="0"/>
            </a:rPr>
            <a:t>Повышение имиджа гимназии села Томай</a:t>
          </a:r>
        </a:p>
      </dsp:txBody>
      <dsp:txXfrm>
        <a:off x="1926584" y="1154668"/>
        <a:ext cx="8022397" cy="1161965"/>
      </dsp:txXfrm>
    </dsp:sp>
    <dsp:sp modelId="{2EE520F1-C916-4625-BD22-8BF688728CEF}">
      <dsp:nvSpPr>
        <dsp:cNvPr id="0" name=""/>
        <dsp:cNvSpPr/>
      </dsp:nvSpPr>
      <dsp:spPr>
        <a:xfrm>
          <a:off x="1355628" y="2323935"/>
          <a:ext cx="1161966" cy="1161966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solidFill>
            <a:srgbClr val="92D050"/>
          </a:solidFill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C5B590C-AAD3-47C5-8815-A882CDA6862C}">
      <dsp:nvSpPr>
        <dsp:cNvPr id="0" name=""/>
        <dsp:cNvSpPr/>
      </dsp:nvSpPr>
      <dsp:spPr>
        <a:xfrm>
          <a:off x="1936612" y="2353449"/>
          <a:ext cx="8022397" cy="116196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kern="1200" dirty="0">
              <a:solidFill>
                <a:srgbClr val="002060"/>
              </a:solidFill>
              <a:latin typeface="Times New Roman" pitchFamily="18" charset="0"/>
              <a:ea typeface="+mn-ea"/>
              <a:cs typeface="Times New Roman" pitchFamily="18" charset="0"/>
            </a:rPr>
            <a:t>Создание инновационной и безопасной образовательной среды, способствующей развитию личности</a:t>
          </a:r>
          <a:endParaRPr lang="ru-MD" sz="2800" b="1" kern="1200" dirty="0">
            <a:solidFill>
              <a:srgbClr val="002060"/>
            </a:solidFill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1936612" y="2353449"/>
        <a:ext cx="8022397" cy="11619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9A0A59-AC55-488D-82C4-DB0D2C8A114A}">
      <dsp:nvSpPr>
        <dsp:cNvPr id="0" name=""/>
        <dsp:cNvSpPr/>
      </dsp:nvSpPr>
      <dsp:spPr>
        <a:xfrm>
          <a:off x="4024785" y="2312194"/>
          <a:ext cx="3779977" cy="1749059"/>
        </a:xfrm>
        <a:prstGeom prst="ellipse">
          <a:avLst/>
        </a:prstGeom>
        <a:solidFill>
          <a:srgbClr val="FFC000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V.</a:t>
          </a:r>
          <a:r>
            <a:rPr lang="ru-RU" sz="2600" b="1" i="0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1.</a:t>
          </a:r>
          <a:r>
            <a:rPr lang="en-US" sz="2600" b="1" i="0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 </a:t>
          </a:r>
          <a:r>
            <a:rPr lang="ru-RU" sz="2600" b="1" i="0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Повышение качества образовательного процесса</a:t>
          </a:r>
        </a:p>
      </dsp:txBody>
      <dsp:txXfrm>
        <a:off x="4578350" y="2568338"/>
        <a:ext cx="2672847" cy="1236771"/>
      </dsp:txXfrm>
    </dsp:sp>
    <dsp:sp modelId="{540DA81D-9C42-4E64-BAF5-26E2A13395FD}">
      <dsp:nvSpPr>
        <dsp:cNvPr id="0" name=""/>
        <dsp:cNvSpPr/>
      </dsp:nvSpPr>
      <dsp:spPr>
        <a:xfrm rot="16093221">
          <a:off x="5768744" y="1824090"/>
          <a:ext cx="224935" cy="564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 rot="10800000">
        <a:off x="5803532" y="1970797"/>
        <a:ext cx="157455" cy="338948"/>
      </dsp:txXfrm>
    </dsp:sp>
    <dsp:sp modelId="{04816659-29DD-40F7-AB60-32F225A515C0}">
      <dsp:nvSpPr>
        <dsp:cNvPr id="0" name=""/>
        <dsp:cNvSpPr/>
      </dsp:nvSpPr>
      <dsp:spPr>
        <a:xfrm>
          <a:off x="3833364" y="-70113"/>
          <a:ext cx="4021279" cy="19583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Слабые показатели результативности на нац. выпускных экзаменах </a:t>
          </a:r>
        </a:p>
      </dsp:txBody>
      <dsp:txXfrm>
        <a:off x="4422267" y="216675"/>
        <a:ext cx="2843473" cy="1384734"/>
      </dsp:txXfrm>
    </dsp:sp>
    <dsp:sp modelId="{25F1F844-8FCA-4877-A25D-D7EBA1E81EAD}">
      <dsp:nvSpPr>
        <dsp:cNvPr id="0" name=""/>
        <dsp:cNvSpPr/>
      </dsp:nvSpPr>
      <dsp:spPr>
        <a:xfrm rot="19473708">
          <a:off x="7593949" y="2319918"/>
          <a:ext cx="402029" cy="564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>
        <a:off x="7605121" y="2467867"/>
        <a:ext cx="281420" cy="338948"/>
      </dsp:txXfrm>
    </dsp:sp>
    <dsp:sp modelId="{88434CE4-CDF8-4BCA-974B-0911D0AF72B4}">
      <dsp:nvSpPr>
        <dsp:cNvPr id="0" name=""/>
        <dsp:cNvSpPr/>
      </dsp:nvSpPr>
      <dsp:spPr>
        <a:xfrm>
          <a:off x="7959661" y="834523"/>
          <a:ext cx="3814520" cy="21963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Отсутствие школьной формы снижает дисциплину и единство гимназии</a:t>
          </a:r>
        </a:p>
      </dsp:txBody>
      <dsp:txXfrm>
        <a:off x="8518285" y="1156172"/>
        <a:ext cx="2697272" cy="1553057"/>
      </dsp:txXfrm>
    </dsp:sp>
    <dsp:sp modelId="{F23C29D8-48D8-41A0-B313-F8A6F494887E}">
      <dsp:nvSpPr>
        <dsp:cNvPr id="0" name=""/>
        <dsp:cNvSpPr/>
      </dsp:nvSpPr>
      <dsp:spPr>
        <a:xfrm rot="1757431">
          <a:off x="7634998" y="3325317"/>
          <a:ext cx="371209" cy="564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>
        <a:off x="7642117" y="3411058"/>
        <a:ext cx="259846" cy="338948"/>
      </dsp:txXfrm>
    </dsp:sp>
    <dsp:sp modelId="{D87C402F-CA5C-4865-84D1-1AB10ABA2DB6}">
      <dsp:nvSpPr>
        <dsp:cNvPr id="0" name=""/>
        <dsp:cNvSpPr/>
      </dsp:nvSpPr>
      <dsp:spPr>
        <a:xfrm>
          <a:off x="7736534" y="3388209"/>
          <a:ext cx="3964571" cy="21339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>
              <a:latin typeface="Times New Roman" pitchFamily="18" charset="0"/>
              <a:cs typeface="Times New Roman" pitchFamily="18" charset="0"/>
            </a:rPr>
            <a:t>Недостаточная </a:t>
          </a:r>
          <a:r>
            <a:rPr lang="ru-RU" sz="25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Подгтовка</a:t>
          </a:r>
          <a:r>
            <a:rPr lang="ru-RU" sz="2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 будущих первоклассников затрудняет их быструю адаптацию к </a:t>
          </a:r>
          <a:r>
            <a:rPr lang="ru-RU" sz="2500" b="1" kern="1200" dirty="0">
              <a:latin typeface="Times New Roman" pitchFamily="18" charset="0"/>
              <a:cs typeface="Times New Roman" pitchFamily="18" charset="0"/>
            </a:rPr>
            <a:t>школе</a:t>
          </a:r>
        </a:p>
      </dsp:txBody>
      <dsp:txXfrm>
        <a:off x="8317132" y="3700718"/>
        <a:ext cx="2803375" cy="1508930"/>
      </dsp:txXfrm>
    </dsp:sp>
    <dsp:sp modelId="{94E9D99B-4A31-400D-903D-6769AEA51BEE}">
      <dsp:nvSpPr>
        <dsp:cNvPr id="0" name=""/>
        <dsp:cNvSpPr/>
      </dsp:nvSpPr>
      <dsp:spPr>
        <a:xfrm rot="6034492">
          <a:off x="5799989" y="3990169"/>
          <a:ext cx="230985" cy="564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>
        <a:off x="5840995" y="4069093"/>
        <a:ext cx="161690" cy="338948"/>
      </dsp:txXfrm>
    </dsp:sp>
    <dsp:sp modelId="{A19E08A0-A167-492B-9E04-170DEEA77816}">
      <dsp:nvSpPr>
        <dsp:cNvPr id="0" name=""/>
        <dsp:cNvSpPr/>
      </dsp:nvSpPr>
      <dsp:spPr>
        <a:xfrm>
          <a:off x="3748257" y="4497075"/>
          <a:ext cx="4335986" cy="19053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Недостаточная работа с родителями при определении детей с ООП</a:t>
          </a:r>
        </a:p>
      </dsp:txBody>
      <dsp:txXfrm>
        <a:off x="4383247" y="4776108"/>
        <a:ext cx="3066006" cy="1347291"/>
      </dsp:txXfrm>
    </dsp:sp>
    <dsp:sp modelId="{6016EB0C-60A7-4518-90C6-4DDB23577585}">
      <dsp:nvSpPr>
        <dsp:cNvPr id="0" name=""/>
        <dsp:cNvSpPr/>
      </dsp:nvSpPr>
      <dsp:spPr>
        <a:xfrm rot="8668021">
          <a:off x="3963084" y="3518920"/>
          <a:ext cx="317075" cy="564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 rot="10800000">
        <a:off x="4049349" y="3604262"/>
        <a:ext cx="221953" cy="338948"/>
      </dsp:txXfrm>
    </dsp:sp>
    <dsp:sp modelId="{F1462AB4-A7EA-4882-A32A-B31069D49C01}">
      <dsp:nvSpPr>
        <dsp:cNvPr id="0" name=""/>
        <dsp:cNvSpPr/>
      </dsp:nvSpPr>
      <dsp:spPr>
        <a:xfrm>
          <a:off x="272315" y="3390475"/>
          <a:ext cx="3842051" cy="21437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Немотивированные пропуски уроков учащимися гимназии</a:t>
          </a:r>
        </a:p>
      </dsp:txBody>
      <dsp:txXfrm>
        <a:off x="834970" y="3704420"/>
        <a:ext cx="2716741" cy="1515861"/>
      </dsp:txXfrm>
    </dsp:sp>
    <dsp:sp modelId="{C450B022-6689-4BC4-AA94-1F3F42ACAE4B}">
      <dsp:nvSpPr>
        <dsp:cNvPr id="0" name=""/>
        <dsp:cNvSpPr/>
      </dsp:nvSpPr>
      <dsp:spPr>
        <a:xfrm rot="12195544">
          <a:off x="3846830" y="2300318"/>
          <a:ext cx="375888" cy="564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 rot="10800000">
        <a:off x="3955014" y="2435566"/>
        <a:ext cx="263122" cy="338948"/>
      </dsp:txXfrm>
    </dsp:sp>
    <dsp:sp modelId="{7AD8A55D-0B82-4A1E-9876-AFDEF6E88596}">
      <dsp:nvSpPr>
        <dsp:cNvPr id="0" name=""/>
        <dsp:cNvSpPr/>
      </dsp:nvSpPr>
      <dsp:spPr>
        <a:xfrm>
          <a:off x="179521" y="890846"/>
          <a:ext cx="3754406" cy="21129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Недостаточная информированность родителей о деятельности УП</a:t>
          </a:r>
        </a:p>
      </dsp:txBody>
      <dsp:txXfrm>
        <a:off x="729341" y="1200282"/>
        <a:ext cx="2654766" cy="14940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9A0A59-AC55-488D-82C4-DB0D2C8A114A}">
      <dsp:nvSpPr>
        <dsp:cNvPr id="0" name=""/>
        <dsp:cNvSpPr/>
      </dsp:nvSpPr>
      <dsp:spPr>
        <a:xfrm>
          <a:off x="4073812" y="2268297"/>
          <a:ext cx="3779977" cy="1749059"/>
        </a:xfrm>
        <a:prstGeom prst="ellipse">
          <a:avLst/>
        </a:prstGeom>
        <a:solidFill>
          <a:srgbClr val="FFC000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V.</a:t>
          </a:r>
          <a:r>
            <a:rPr lang="ru-RU" sz="2600" b="1" i="0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2</a:t>
          </a:r>
          <a:r>
            <a:rPr lang="en-US" sz="2600" b="1" i="0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. </a:t>
          </a:r>
          <a:r>
            <a:rPr lang="ru-RU" sz="2600" b="1" i="0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Развитие кадрового потенциала</a:t>
          </a:r>
        </a:p>
      </dsp:txBody>
      <dsp:txXfrm>
        <a:off x="4627377" y="2524441"/>
        <a:ext cx="2672847" cy="1236771"/>
      </dsp:txXfrm>
    </dsp:sp>
    <dsp:sp modelId="{540DA81D-9C42-4E64-BAF5-26E2A13395FD}">
      <dsp:nvSpPr>
        <dsp:cNvPr id="0" name=""/>
        <dsp:cNvSpPr/>
      </dsp:nvSpPr>
      <dsp:spPr>
        <a:xfrm rot="16129417">
          <a:off x="5772958" y="1760166"/>
          <a:ext cx="336499" cy="564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 rot="10800000">
        <a:off x="5824469" y="1923613"/>
        <a:ext cx="235549" cy="338948"/>
      </dsp:txXfrm>
    </dsp:sp>
    <dsp:sp modelId="{04816659-29DD-40F7-AB60-32F225A515C0}">
      <dsp:nvSpPr>
        <dsp:cNvPr id="0" name=""/>
        <dsp:cNvSpPr/>
      </dsp:nvSpPr>
      <dsp:spPr>
        <a:xfrm>
          <a:off x="4015257" y="-195993"/>
          <a:ext cx="3801012" cy="1999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Зрелый возрастной преподавательский состав</a:t>
          </a:r>
        </a:p>
      </dsp:txBody>
      <dsp:txXfrm>
        <a:off x="4571902" y="96754"/>
        <a:ext cx="2687722" cy="1413506"/>
      </dsp:txXfrm>
    </dsp:sp>
    <dsp:sp modelId="{25F1F844-8FCA-4877-A25D-D7EBA1E81EAD}">
      <dsp:nvSpPr>
        <dsp:cNvPr id="0" name=""/>
        <dsp:cNvSpPr/>
      </dsp:nvSpPr>
      <dsp:spPr>
        <a:xfrm rot="931841">
          <a:off x="7767353" y="3072860"/>
          <a:ext cx="330438" cy="564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>
        <a:off x="7769163" y="3172572"/>
        <a:ext cx="231307" cy="338948"/>
      </dsp:txXfrm>
    </dsp:sp>
    <dsp:sp modelId="{88434CE4-CDF8-4BCA-974B-0911D0AF72B4}">
      <dsp:nvSpPr>
        <dsp:cNvPr id="0" name=""/>
        <dsp:cNvSpPr/>
      </dsp:nvSpPr>
      <dsp:spPr>
        <a:xfrm>
          <a:off x="7969289" y="2989778"/>
          <a:ext cx="3742709" cy="23087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Низкий процент педагогов с 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1 дидактической степенью</a:t>
          </a:r>
        </a:p>
      </dsp:txBody>
      <dsp:txXfrm>
        <a:off x="8517396" y="3327892"/>
        <a:ext cx="2646495" cy="1632561"/>
      </dsp:txXfrm>
    </dsp:sp>
    <dsp:sp modelId="{6016EB0C-60A7-4518-90C6-4DDB23577585}">
      <dsp:nvSpPr>
        <dsp:cNvPr id="0" name=""/>
        <dsp:cNvSpPr/>
      </dsp:nvSpPr>
      <dsp:spPr>
        <a:xfrm rot="5400000">
          <a:off x="5809437" y="3917068"/>
          <a:ext cx="284352" cy="564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 rot="10800000">
        <a:off x="5852090" y="3987398"/>
        <a:ext cx="199046" cy="338948"/>
      </dsp:txXfrm>
    </dsp:sp>
    <dsp:sp modelId="{F1462AB4-A7EA-4882-A32A-B31069D49C01}">
      <dsp:nvSpPr>
        <dsp:cNvPr id="0" name=""/>
        <dsp:cNvSpPr/>
      </dsp:nvSpPr>
      <dsp:spPr>
        <a:xfrm>
          <a:off x="3885112" y="4392957"/>
          <a:ext cx="4104072" cy="21216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Нет прозрачности в оценке работы учителей</a:t>
          </a:r>
        </a:p>
      </dsp:txBody>
      <dsp:txXfrm>
        <a:off x="4486139" y="4703663"/>
        <a:ext cx="2902018" cy="1500224"/>
      </dsp:txXfrm>
    </dsp:sp>
    <dsp:sp modelId="{C450B022-6689-4BC4-AA94-1F3F42ACAE4B}">
      <dsp:nvSpPr>
        <dsp:cNvPr id="0" name=""/>
        <dsp:cNvSpPr/>
      </dsp:nvSpPr>
      <dsp:spPr>
        <a:xfrm rot="13162165">
          <a:off x="3898139" y="2442735"/>
          <a:ext cx="301590" cy="6002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500" kern="1200"/>
        </a:p>
      </dsp:txBody>
      <dsp:txXfrm rot="10800000">
        <a:off x="3978350" y="2591481"/>
        <a:ext cx="211113" cy="360150"/>
      </dsp:txXfrm>
    </dsp:sp>
    <dsp:sp modelId="{7AD8A55D-0B82-4A1E-9876-AFDEF6E88596}">
      <dsp:nvSpPr>
        <dsp:cNvPr id="0" name=""/>
        <dsp:cNvSpPr/>
      </dsp:nvSpPr>
      <dsp:spPr>
        <a:xfrm>
          <a:off x="155596" y="1345915"/>
          <a:ext cx="3816298" cy="22514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Отсутствие эффективной системы наставничества для молодых педагогов</a:t>
          </a:r>
        </a:p>
      </dsp:txBody>
      <dsp:txXfrm>
        <a:off x="714480" y="1675627"/>
        <a:ext cx="2698530" cy="15919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9A0A59-AC55-488D-82C4-DB0D2C8A114A}">
      <dsp:nvSpPr>
        <dsp:cNvPr id="0" name=""/>
        <dsp:cNvSpPr/>
      </dsp:nvSpPr>
      <dsp:spPr>
        <a:xfrm>
          <a:off x="3832263" y="2772084"/>
          <a:ext cx="4332027" cy="2172759"/>
        </a:xfrm>
        <a:prstGeom prst="ellipse">
          <a:avLst/>
        </a:prstGeom>
        <a:solidFill>
          <a:srgbClr val="FFC000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V.</a:t>
          </a:r>
          <a:r>
            <a:rPr lang="ru-RU" sz="2400" b="1" i="0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3. Совершенствование </a:t>
          </a:r>
          <a:r>
            <a:rPr lang="ru-RU" sz="2400" b="1" i="0" kern="1200" dirty="0" err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куррикулярной</a:t>
          </a:r>
          <a:r>
            <a:rPr lang="ru-RU" sz="2400" b="1" i="0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 политики</a:t>
          </a:r>
        </a:p>
      </dsp:txBody>
      <dsp:txXfrm>
        <a:off x="4466674" y="3090277"/>
        <a:ext cx="3063205" cy="1536373"/>
      </dsp:txXfrm>
    </dsp:sp>
    <dsp:sp modelId="{540DA81D-9C42-4E64-BAF5-26E2A13395FD}">
      <dsp:nvSpPr>
        <dsp:cNvPr id="0" name=""/>
        <dsp:cNvSpPr/>
      </dsp:nvSpPr>
      <dsp:spPr>
        <a:xfrm rot="16547119">
          <a:off x="6103518" y="2372994"/>
          <a:ext cx="373612" cy="4279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800" kern="1200"/>
        </a:p>
      </dsp:txBody>
      <dsp:txXfrm>
        <a:off x="6153911" y="2514341"/>
        <a:ext cx="261528" cy="256768"/>
      </dsp:txXfrm>
    </dsp:sp>
    <dsp:sp modelId="{04816659-29DD-40F7-AB60-32F225A515C0}">
      <dsp:nvSpPr>
        <dsp:cNvPr id="0" name=""/>
        <dsp:cNvSpPr/>
      </dsp:nvSpPr>
      <dsp:spPr>
        <a:xfrm>
          <a:off x="4236138" y="185079"/>
          <a:ext cx="4047328" cy="21842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Недостаточная интеграция межпредметных связей в учебные программы</a:t>
          </a:r>
        </a:p>
      </dsp:txBody>
      <dsp:txXfrm>
        <a:off x="4828855" y="504960"/>
        <a:ext cx="2861894" cy="1544519"/>
      </dsp:txXfrm>
    </dsp:sp>
    <dsp:sp modelId="{25F1F844-8FCA-4877-A25D-D7EBA1E81EAD}">
      <dsp:nvSpPr>
        <dsp:cNvPr id="0" name=""/>
        <dsp:cNvSpPr/>
      </dsp:nvSpPr>
      <dsp:spPr>
        <a:xfrm rot="1235680">
          <a:off x="8044568" y="4098228"/>
          <a:ext cx="388014" cy="4452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900" kern="1200"/>
        </a:p>
      </dsp:txBody>
      <dsp:txXfrm>
        <a:off x="8048288" y="4166809"/>
        <a:ext cx="271610" cy="267163"/>
      </dsp:txXfrm>
    </dsp:sp>
    <dsp:sp modelId="{88434CE4-CDF8-4BCA-974B-0911D0AF72B4}">
      <dsp:nvSpPr>
        <dsp:cNvPr id="0" name=""/>
        <dsp:cNvSpPr/>
      </dsp:nvSpPr>
      <dsp:spPr>
        <a:xfrm>
          <a:off x="7891565" y="4084561"/>
          <a:ext cx="3727406" cy="22154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Недостаточное внимание к развитию критического мышления</a:t>
          </a:r>
        </a:p>
      </dsp:txBody>
      <dsp:txXfrm>
        <a:off x="8437431" y="4409011"/>
        <a:ext cx="2635674" cy="1566586"/>
      </dsp:txXfrm>
    </dsp:sp>
    <dsp:sp modelId="{C450B022-6689-4BC4-AA94-1F3F42ACAE4B}">
      <dsp:nvSpPr>
        <dsp:cNvPr id="0" name=""/>
        <dsp:cNvSpPr/>
      </dsp:nvSpPr>
      <dsp:spPr>
        <a:xfrm rot="13549766">
          <a:off x="3695842" y="2937385"/>
          <a:ext cx="477340" cy="4160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700" kern="1200"/>
        </a:p>
      </dsp:txBody>
      <dsp:txXfrm rot="10800000">
        <a:off x="3801724" y="3065344"/>
        <a:ext cx="352538" cy="249605"/>
      </dsp:txXfrm>
    </dsp:sp>
    <dsp:sp modelId="{7AD8A55D-0B82-4A1E-9876-AFDEF6E88596}">
      <dsp:nvSpPr>
        <dsp:cNvPr id="0" name=""/>
        <dsp:cNvSpPr/>
      </dsp:nvSpPr>
      <dsp:spPr>
        <a:xfrm>
          <a:off x="23721" y="1597744"/>
          <a:ext cx="3820980" cy="21561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Недостаточная мотивация педагогов в  разработке  </a:t>
          </a:r>
          <a:r>
            <a:rPr lang="ru-RU" sz="22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куррикулума</a:t>
          </a:r>
          <a:endParaRPr lang="ru-RU" sz="2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cs typeface="Times New Roman" pitchFamily="18" charset="0"/>
          </a:endParaRPr>
        </a:p>
      </dsp:txBody>
      <dsp:txXfrm>
        <a:off x="583291" y="1913505"/>
        <a:ext cx="2701840" cy="15246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9A0A59-AC55-488D-82C4-DB0D2C8A114A}">
      <dsp:nvSpPr>
        <dsp:cNvPr id="0" name=""/>
        <dsp:cNvSpPr/>
      </dsp:nvSpPr>
      <dsp:spPr>
        <a:xfrm>
          <a:off x="3832263" y="2772084"/>
          <a:ext cx="4332027" cy="2172759"/>
        </a:xfrm>
        <a:prstGeom prst="ellipse">
          <a:avLst/>
        </a:prstGeom>
        <a:solidFill>
          <a:srgbClr val="FFC000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V.</a:t>
          </a:r>
          <a:r>
            <a:rPr lang="ru-RU" sz="2400" b="1" i="0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4. Развитие партнёрских отношений с сообществом </a:t>
          </a:r>
        </a:p>
      </dsp:txBody>
      <dsp:txXfrm>
        <a:off x="4466674" y="3090277"/>
        <a:ext cx="3063205" cy="1536373"/>
      </dsp:txXfrm>
    </dsp:sp>
    <dsp:sp modelId="{540DA81D-9C42-4E64-BAF5-26E2A13395FD}">
      <dsp:nvSpPr>
        <dsp:cNvPr id="0" name=""/>
        <dsp:cNvSpPr/>
      </dsp:nvSpPr>
      <dsp:spPr>
        <a:xfrm rot="16547119">
          <a:off x="6103518" y="2372994"/>
          <a:ext cx="373612" cy="4279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800" kern="1200"/>
        </a:p>
      </dsp:txBody>
      <dsp:txXfrm>
        <a:off x="6153911" y="2514341"/>
        <a:ext cx="261528" cy="256768"/>
      </dsp:txXfrm>
    </dsp:sp>
    <dsp:sp modelId="{04816659-29DD-40F7-AB60-32F225A515C0}">
      <dsp:nvSpPr>
        <dsp:cNvPr id="0" name=""/>
        <dsp:cNvSpPr/>
      </dsp:nvSpPr>
      <dsp:spPr>
        <a:xfrm>
          <a:off x="4236138" y="185079"/>
          <a:ext cx="4047328" cy="21842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Отсутствие эффективного сотрудничества с сообществом</a:t>
          </a:r>
        </a:p>
      </dsp:txBody>
      <dsp:txXfrm>
        <a:off x="4828855" y="504960"/>
        <a:ext cx="2861894" cy="1544519"/>
      </dsp:txXfrm>
    </dsp:sp>
    <dsp:sp modelId="{25F1F844-8FCA-4877-A25D-D7EBA1E81EAD}">
      <dsp:nvSpPr>
        <dsp:cNvPr id="0" name=""/>
        <dsp:cNvSpPr/>
      </dsp:nvSpPr>
      <dsp:spPr>
        <a:xfrm rot="1235680">
          <a:off x="8044568" y="4098228"/>
          <a:ext cx="388014" cy="4452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900" kern="1200"/>
        </a:p>
      </dsp:txBody>
      <dsp:txXfrm>
        <a:off x="8048288" y="4166809"/>
        <a:ext cx="271610" cy="267163"/>
      </dsp:txXfrm>
    </dsp:sp>
    <dsp:sp modelId="{88434CE4-CDF8-4BCA-974B-0911D0AF72B4}">
      <dsp:nvSpPr>
        <dsp:cNvPr id="0" name=""/>
        <dsp:cNvSpPr/>
      </dsp:nvSpPr>
      <dsp:spPr>
        <a:xfrm>
          <a:off x="7891565" y="4084561"/>
          <a:ext cx="3727406" cy="22154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Отсутствие   сотрудничества с выпускниками УЗ</a:t>
          </a:r>
        </a:p>
      </dsp:txBody>
      <dsp:txXfrm>
        <a:off x="8437431" y="4409011"/>
        <a:ext cx="2635674" cy="1566586"/>
      </dsp:txXfrm>
    </dsp:sp>
    <dsp:sp modelId="{C450B022-6689-4BC4-AA94-1F3F42ACAE4B}">
      <dsp:nvSpPr>
        <dsp:cNvPr id="0" name=""/>
        <dsp:cNvSpPr/>
      </dsp:nvSpPr>
      <dsp:spPr>
        <a:xfrm rot="13617481">
          <a:off x="3747645" y="2906054"/>
          <a:ext cx="460295" cy="4160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700" kern="1200"/>
        </a:p>
      </dsp:txBody>
      <dsp:txXfrm rot="10800000">
        <a:off x="3852637" y="3034861"/>
        <a:ext cx="335493" cy="249605"/>
      </dsp:txXfrm>
    </dsp:sp>
    <dsp:sp modelId="{7AD8A55D-0B82-4A1E-9876-AFDEF6E88596}">
      <dsp:nvSpPr>
        <dsp:cNvPr id="0" name=""/>
        <dsp:cNvSpPr/>
      </dsp:nvSpPr>
      <dsp:spPr>
        <a:xfrm>
          <a:off x="105920" y="1536087"/>
          <a:ext cx="3820980" cy="21561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Пассивное привлечение учительского сообщество в управление УЗ</a:t>
          </a:r>
        </a:p>
      </dsp:txBody>
      <dsp:txXfrm>
        <a:off x="665490" y="1851848"/>
        <a:ext cx="2701840" cy="152463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9A0A59-AC55-488D-82C4-DB0D2C8A114A}">
      <dsp:nvSpPr>
        <dsp:cNvPr id="0" name=""/>
        <dsp:cNvSpPr/>
      </dsp:nvSpPr>
      <dsp:spPr>
        <a:xfrm>
          <a:off x="3956568" y="2722655"/>
          <a:ext cx="3995633" cy="2244886"/>
        </a:xfrm>
        <a:prstGeom prst="ellipse">
          <a:avLst/>
        </a:prstGeom>
        <a:solidFill>
          <a:srgbClr val="FFC000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V.</a:t>
          </a:r>
          <a:r>
            <a:rPr lang="ru-RU" sz="2400" b="1" i="0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5. Поддержка и развитие внеклассной деятельности</a:t>
          </a:r>
        </a:p>
      </dsp:txBody>
      <dsp:txXfrm>
        <a:off x="4541715" y="3051411"/>
        <a:ext cx="2825339" cy="1587374"/>
      </dsp:txXfrm>
    </dsp:sp>
    <dsp:sp modelId="{540DA81D-9C42-4E64-BAF5-26E2A13395FD}">
      <dsp:nvSpPr>
        <dsp:cNvPr id="0" name=""/>
        <dsp:cNvSpPr/>
      </dsp:nvSpPr>
      <dsp:spPr>
        <a:xfrm rot="16547119">
          <a:off x="6063510" y="2333718"/>
          <a:ext cx="351864" cy="4315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800" kern="1200"/>
        </a:p>
      </dsp:txBody>
      <dsp:txXfrm>
        <a:off x="6110969" y="2472540"/>
        <a:ext cx="246305" cy="258933"/>
      </dsp:txXfrm>
    </dsp:sp>
    <dsp:sp modelId="{04816659-29DD-40F7-AB60-32F225A515C0}">
      <dsp:nvSpPr>
        <dsp:cNvPr id="0" name=""/>
        <dsp:cNvSpPr/>
      </dsp:nvSpPr>
      <dsp:spPr>
        <a:xfrm>
          <a:off x="4086622" y="141153"/>
          <a:ext cx="4262903" cy="22026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 err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Недосточное</a:t>
          </a:r>
          <a:r>
            <a:rPr lang="ru-RU" sz="25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 материально-техническое обеспечение внеклассных мероприятий</a:t>
          </a:r>
        </a:p>
      </dsp:txBody>
      <dsp:txXfrm>
        <a:off x="4710910" y="463729"/>
        <a:ext cx="3014327" cy="1557536"/>
      </dsp:txXfrm>
    </dsp:sp>
    <dsp:sp modelId="{25F1F844-8FCA-4877-A25D-D7EBA1E81EAD}">
      <dsp:nvSpPr>
        <dsp:cNvPr id="0" name=""/>
        <dsp:cNvSpPr/>
      </dsp:nvSpPr>
      <dsp:spPr>
        <a:xfrm rot="1232752">
          <a:off x="7888981" y="4049728"/>
          <a:ext cx="427828" cy="4490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900" kern="1200"/>
        </a:p>
      </dsp:txBody>
      <dsp:txXfrm>
        <a:off x="7893063" y="4117011"/>
        <a:ext cx="299480" cy="269413"/>
      </dsp:txXfrm>
    </dsp:sp>
    <dsp:sp modelId="{88434CE4-CDF8-4BCA-974B-0911D0AF72B4}">
      <dsp:nvSpPr>
        <dsp:cNvPr id="0" name=""/>
        <dsp:cNvSpPr/>
      </dsp:nvSpPr>
      <dsp:spPr>
        <a:xfrm>
          <a:off x="7783852" y="4072898"/>
          <a:ext cx="3937742" cy="22341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Отсутствие практики изучения интересов учащихся</a:t>
          </a:r>
        </a:p>
      </dsp:txBody>
      <dsp:txXfrm>
        <a:off x="8360521" y="4400083"/>
        <a:ext cx="2784404" cy="1579786"/>
      </dsp:txXfrm>
    </dsp:sp>
    <dsp:sp modelId="{C450B022-6689-4BC4-AA94-1F3F42ACAE4B}">
      <dsp:nvSpPr>
        <dsp:cNvPr id="0" name=""/>
        <dsp:cNvSpPr/>
      </dsp:nvSpPr>
      <dsp:spPr>
        <a:xfrm rot="13616473">
          <a:off x="3824626" y="2917920"/>
          <a:ext cx="394542" cy="4195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800" kern="1200"/>
        </a:p>
      </dsp:txBody>
      <dsp:txXfrm rot="10800000">
        <a:off x="3924214" y="3045064"/>
        <a:ext cx="276179" cy="251707"/>
      </dsp:txXfrm>
    </dsp:sp>
    <dsp:sp modelId="{7AD8A55D-0B82-4A1E-9876-AFDEF6E88596}">
      <dsp:nvSpPr>
        <dsp:cNvPr id="0" name=""/>
        <dsp:cNvSpPr/>
      </dsp:nvSpPr>
      <dsp:spPr>
        <a:xfrm>
          <a:off x="74622" y="1404631"/>
          <a:ext cx="3853179" cy="24128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Недостаточная мотивация педагогов и </a:t>
          </a:r>
          <a:r>
            <a:rPr lang="ru-RU" sz="25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учащ-ся</a:t>
          </a:r>
          <a:r>
            <a:rPr lang="ru-RU" sz="2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 к участию во внеклассных мероприятиях</a:t>
          </a:r>
        </a:p>
      </dsp:txBody>
      <dsp:txXfrm>
        <a:off x="638907" y="1757979"/>
        <a:ext cx="2724609" cy="170611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9A0A59-AC55-488D-82C4-DB0D2C8A114A}">
      <dsp:nvSpPr>
        <dsp:cNvPr id="0" name=""/>
        <dsp:cNvSpPr/>
      </dsp:nvSpPr>
      <dsp:spPr>
        <a:xfrm>
          <a:off x="3956568" y="2722655"/>
          <a:ext cx="3995633" cy="2244886"/>
        </a:xfrm>
        <a:prstGeom prst="ellipse">
          <a:avLst/>
        </a:prstGeom>
        <a:solidFill>
          <a:srgbClr val="FFC000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V.</a:t>
          </a:r>
          <a:r>
            <a:rPr lang="ru-RU" sz="2400" b="1" i="0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6. Укрепление материально-технической базы и финансовой устойчивости</a:t>
          </a:r>
        </a:p>
      </dsp:txBody>
      <dsp:txXfrm>
        <a:off x="4541715" y="3051411"/>
        <a:ext cx="2825339" cy="1587374"/>
      </dsp:txXfrm>
    </dsp:sp>
    <dsp:sp modelId="{540DA81D-9C42-4E64-BAF5-26E2A13395FD}">
      <dsp:nvSpPr>
        <dsp:cNvPr id="0" name=""/>
        <dsp:cNvSpPr/>
      </dsp:nvSpPr>
      <dsp:spPr>
        <a:xfrm rot="16547119">
          <a:off x="6063510" y="2333718"/>
          <a:ext cx="351864" cy="4315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800" kern="1200"/>
        </a:p>
      </dsp:txBody>
      <dsp:txXfrm>
        <a:off x="6110969" y="2472540"/>
        <a:ext cx="246305" cy="258933"/>
      </dsp:txXfrm>
    </dsp:sp>
    <dsp:sp modelId="{04816659-29DD-40F7-AB60-32F225A515C0}">
      <dsp:nvSpPr>
        <dsp:cNvPr id="0" name=""/>
        <dsp:cNvSpPr/>
      </dsp:nvSpPr>
      <dsp:spPr>
        <a:xfrm>
          <a:off x="4086622" y="141153"/>
          <a:ext cx="4262903" cy="22026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Отсутствие современной мебели согласно санитарным нормам</a:t>
          </a:r>
        </a:p>
      </dsp:txBody>
      <dsp:txXfrm>
        <a:off x="4710910" y="463729"/>
        <a:ext cx="3014327" cy="1557536"/>
      </dsp:txXfrm>
    </dsp:sp>
    <dsp:sp modelId="{25F1F844-8FCA-4877-A25D-D7EBA1E81EAD}">
      <dsp:nvSpPr>
        <dsp:cNvPr id="0" name=""/>
        <dsp:cNvSpPr/>
      </dsp:nvSpPr>
      <dsp:spPr>
        <a:xfrm rot="20660466">
          <a:off x="7552851" y="2819167"/>
          <a:ext cx="338942" cy="4490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900" kern="1200"/>
        </a:p>
      </dsp:txBody>
      <dsp:txXfrm>
        <a:off x="7554738" y="2922695"/>
        <a:ext cx="237259" cy="269413"/>
      </dsp:txXfrm>
    </dsp:sp>
    <dsp:sp modelId="{88434CE4-CDF8-4BCA-974B-0911D0AF72B4}">
      <dsp:nvSpPr>
        <dsp:cNvPr id="0" name=""/>
        <dsp:cNvSpPr/>
      </dsp:nvSpPr>
      <dsp:spPr>
        <a:xfrm>
          <a:off x="7856990" y="1565988"/>
          <a:ext cx="3937742" cy="22341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Отсутствие ограждения угрожает безопасности школы</a:t>
          </a:r>
        </a:p>
      </dsp:txBody>
      <dsp:txXfrm>
        <a:off x="8433659" y="1893173"/>
        <a:ext cx="2784404" cy="1579786"/>
      </dsp:txXfrm>
    </dsp:sp>
    <dsp:sp modelId="{C450B022-6689-4BC4-AA94-1F3F42ACAE4B}">
      <dsp:nvSpPr>
        <dsp:cNvPr id="0" name=""/>
        <dsp:cNvSpPr/>
      </dsp:nvSpPr>
      <dsp:spPr>
        <a:xfrm rot="13478638">
          <a:off x="3908129" y="3011689"/>
          <a:ext cx="249243" cy="4195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800" kern="1200"/>
        </a:p>
      </dsp:txBody>
      <dsp:txXfrm rot="10800000">
        <a:off x="3972116" y="3121863"/>
        <a:ext cx="174470" cy="251707"/>
      </dsp:txXfrm>
    </dsp:sp>
    <dsp:sp modelId="{7AD8A55D-0B82-4A1E-9876-AFDEF6E88596}">
      <dsp:nvSpPr>
        <dsp:cNvPr id="0" name=""/>
        <dsp:cNvSpPr/>
      </dsp:nvSpPr>
      <dsp:spPr>
        <a:xfrm>
          <a:off x="146546" y="1595844"/>
          <a:ext cx="3853179" cy="24128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Отсутствие современной безопасной электропроводки </a:t>
          </a:r>
        </a:p>
      </dsp:txBody>
      <dsp:txXfrm>
        <a:off x="710831" y="1949192"/>
        <a:ext cx="2724609" cy="17061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BC-3F7A-4360-BB6D-F1FCB3470FB4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BC49-1B67-4826-A1F3-48AF839B00E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BC-3F7A-4360-BB6D-F1FCB3470FB4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BC49-1B67-4826-A1F3-48AF839B00E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BC-3F7A-4360-BB6D-F1FCB3470FB4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BC49-1B67-4826-A1F3-48AF839B00E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BC-3F7A-4360-BB6D-F1FCB3470FB4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BC49-1B67-4826-A1F3-48AF839B00E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BC-3F7A-4360-BB6D-F1FCB3470FB4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BC49-1B67-4826-A1F3-48AF839B00E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BC-3F7A-4360-BB6D-F1FCB3470FB4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BC49-1B67-4826-A1F3-48AF839B00E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BC-3F7A-4360-BB6D-F1FCB3470FB4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BC49-1B67-4826-A1F3-48AF839B00E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BC-3F7A-4360-BB6D-F1FCB3470FB4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BC49-1B67-4826-A1F3-48AF839B00E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BC-3F7A-4360-BB6D-F1FCB3470FB4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BC49-1B67-4826-A1F3-48AF839B00E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BC-3F7A-4360-BB6D-F1FCB3470FB4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BC49-1B67-4826-A1F3-48AF839B00E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D8BC-3F7A-4360-BB6D-F1FCB3470FB4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BC49-1B67-4826-A1F3-48AF839B00E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9D8BC-3F7A-4360-BB6D-F1FCB3470FB4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8BC49-1B67-4826-A1F3-48AF839B00E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42DEB1-9C79-4292-9E88-EAD011E90CDA}"/>
              </a:ext>
            </a:extLst>
          </p:cNvPr>
          <p:cNvSpPr/>
          <p:nvPr/>
        </p:nvSpPr>
        <p:spPr>
          <a:xfrm>
            <a:off x="2450840" y="2682466"/>
            <a:ext cx="6879772" cy="1646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MD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ПРОГРАММА РАЗВИТИЯ НА 202</a:t>
            </a:r>
            <a:r>
              <a:rPr lang="ru-RU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ru-MD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- 20</a:t>
            </a:r>
            <a:r>
              <a:rPr lang="ru-RU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30</a:t>
            </a:r>
            <a:r>
              <a:rPr lang="ru-MD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гг.</a:t>
            </a:r>
            <a:endParaRPr lang="ru-MD" sz="1400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MD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ПУБЛИЧНОГО УЧРЕЖДЕНИЯ </a:t>
            </a:r>
            <a:r>
              <a:rPr lang="ru-RU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ГИМНАЗИИ</a:t>
            </a:r>
            <a:endParaRPr lang="ru-MD" sz="1400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СЕЛА ТОМАЙ</a:t>
            </a:r>
            <a:endParaRPr lang="ru-MD" sz="1400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endParaRPr lang="ru-MD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MD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MD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0F402E3-DD03-49BE-9A99-6462C7552F68}"/>
              </a:ext>
            </a:extLst>
          </p:cNvPr>
          <p:cNvSpPr/>
          <p:nvPr/>
        </p:nvSpPr>
        <p:spPr>
          <a:xfrm>
            <a:off x="2684106" y="542836"/>
            <a:ext cx="7010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Gulim" panose="020B0600000101010101" pitchFamily="34" charset="-127"/>
              </a:rPr>
              <a:t>МИНИСТЕРСВО ОБРАЗОВАНИЯ И ИССЛЕДОВАНИЙ РЕСПУБЛИКИ МОЛДОВА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Gulim" panose="020B0600000101010101" pitchFamily="34" charset="-127"/>
              </a:rPr>
              <a:t>ЧАДЫР- ЛУНГСКИЙ  РАЙОН  АТО ГАГАУЗИЯ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Gulim" panose="020B0600000101010101" pitchFamily="34" charset="-127"/>
              </a:rPr>
              <a:t>ПУ ГИМНАЗИЯ СЕЛА ТОМАЙ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CCF533-B37C-484B-85A0-0FB6EBCCD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971" y="4329071"/>
            <a:ext cx="5664057" cy="21607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AC9B573-D185-47AE-9838-0FEC2613EA88}"/>
              </a:ext>
            </a:extLst>
          </p:cNvPr>
          <p:cNvSpPr/>
          <p:nvPr/>
        </p:nvSpPr>
        <p:spPr>
          <a:xfrm>
            <a:off x="4195415" y="650004"/>
            <a:ext cx="38011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cap="all" dirty="0">
                <a:ln w="0"/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50000" endPos="50000" dist="5000" dir="5400000" sy="-100000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ЦЕЛИ ПРОГРАММЫ</a:t>
            </a:r>
            <a:endParaRPr lang="ru-MD" sz="2800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1F0203C-F191-4D9C-8482-13715F6CF49C}"/>
              </a:ext>
            </a:extLst>
          </p:cNvPr>
          <p:cNvSpPr/>
          <p:nvPr/>
        </p:nvSpPr>
        <p:spPr>
          <a:xfrm>
            <a:off x="1029511" y="1598365"/>
            <a:ext cx="9965090" cy="830997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Сформировать концептуальные подходы, определяющие деятельность гимназии, нацеленные на инновационное развитие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0ACE62-57DC-43FE-B310-E4C9DFF67E78}"/>
              </a:ext>
            </a:extLst>
          </p:cNvPr>
          <p:cNvSpPr txBox="1"/>
          <p:nvPr/>
        </p:nvSpPr>
        <p:spPr>
          <a:xfrm flipH="1">
            <a:off x="814872" y="2876601"/>
            <a:ext cx="10562253" cy="83099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Создать условия для равного доступа всех участников образовательного процесса к современным образовательным ресурсам и технологиям.</a:t>
            </a:r>
            <a:endParaRPr lang="ru-MD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D0BDD23-A8A7-44BD-89E1-62F8633E401C}"/>
              </a:ext>
            </a:extLst>
          </p:cNvPr>
          <p:cNvSpPr/>
          <p:nvPr/>
        </p:nvSpPr>
        <p:spPr>
          <a:xfrm>
            <a:off x="701349" y="4211804"/>
            <a:ext cx="10789298" cy="1200329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Обеспечить комфортную и развивающую образовательную среду, способствующую формированию успешной и социально адаптированной личности ученика в соответствии с ожиданиями общества.</a:t>
            </a:r>
            <a:endParaRPr lang="ru-MD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Стрелка: вниз 11">
            <a:extLst>
              <a:ext uri="{FF2B5EF4-FFF2-40B4-BE49-F238E27FC236}">
                <a16:creationId xmlns:a16="http://schemas.microsoft.com/office/drawing/2014/main" id="{2CC30859-CBA2-474E-AC61-FEE3EC4D93FC}"/>
              </a:ext>
            </a:extLst>
          </p:cNvPr>
          <p:cNvSpPr/>
          <p:nvPr/>
        </p:nvSpPr>
        <p:spPr>
          <a:xfrm>
            <a:off x="4079249" y="2471437"/>
            <a:ext cx="232331" cy="3061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/>
          </a:p>
        </p:txBody>
      </p:sp>
      <p:sp>
        <p:nvSpPr>
          <p:cNvPr id="13" name="Стрелка: вниз 12">
            <a:extLst>
              <a:ext uri="{FF2B5EF4-FFF2-40B4-BE49-F238E27FC236}">
                <a16:creationId xmlns:a16="http://schemas.microsoft.com/office/drawing/2014/main" id="{99275A96-15FE-42AB-BEEE-B743ACE740F3}"/>
              </a:ext>
            </a:extLst>
          </p:cNvPr>
          <p:cNvSpPr/>
          <p:nvPr/>
        </p:nvSpPr>
        <p:spPr>
          <a:xfrm>
            <a:off x="8161261" y="3806640"/>
            <a:ext cx="232331" cy="3061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DE601E9-9D05-4FF2-B84F-291DC52934C1}"/>
              </a:ext>
            </a:extLst>
          </p:cNvPr>
          <p:cNvSpPr/>
          <p:nvPr/>
        </p:nvSpPr>
        <p:spPr>
          <a:xfrm>
            <a:off x="4333470" y="442989"/>
            <a:ext cx="28553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Общие сведения</a:t>
            </a:r>
            <a:endParaRPr lang="ru-MD" sz="2800" dirty="0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6A345592-E5A1-4D0A-A6BC-147B86498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562167"/>
              </p:ext>
            </p:extLst>
          </p:nvPr>
        </p:nvGraphicFramePr>
        <p:xfrm>
          <a:off x="1436914" y="1165533"/>
          <a:ext cx="9843796" cy="2472864"/>
        </p:xfrm>
        <a:graphic>
          <a:graphicData uri="http://schemas.openxmlformats.org/drawingml/2006/table">
            <a:tbl>
              <a:tblPr/>
              <a:tblGrid>
                <a:gridCol w="3311507">
                  <a:extLst>
                    <a:ext uri="{9D8B030D-6E8A-4147-A177-3AD203B41FA5}">
                      <a16:colId xmlns:a16="http://schemas.microsoft.com/office/drawing/2014/main" val="2373776582"/>
                    </a:ext>
                  </a:extLst>
                </a:gridCol>
                <a:gridCol w="6532289">
                  <a:extLst>
                    <a:ext uri="{9D8B030D-6E8A-4147-A177-3AD203B41FA5}">
                      <a16:colId xmlns:a16="http://schemas.microsoft.com/office/drawing/2014/main" val="3080662042"/>
                    </a:ext>
                  </a:extLst>
                </a:gridCol>
              </a:tblGrid>
              <a:tr h="6090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MD" sz="2200" b="1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Период деятельности учебного заведения</a:t>
                      </a:r>
                      <a:endParaRPr lang="ru-RU" sz="2200" b="1" i="1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 i="1" dirty="0">
                          <a:solidFill>
                            <a:srgbClr val="00206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Статус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 i="1" dirty="0">
                          <a:solidFill>
                            <a:srgbClr val="00206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учебного заведения  </a:t>
                      </a:r>
                      <a:r>
                        <a:rPr lang="ru-RU" sz="2000" b="1" i="1" dirty="0">
                          <a:solidFill>
                            <a:srgbClr val="00206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                               </a:t>
                      </a:r>
                      <a:endParaRPr lang="ru-RU" sz="1800" b="1" i="1" dirty="0">
                        <a:solidFill>
                          <a:srgbClr val="002060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784647"/>
                  </a:ext>
                </a:extLst>
              </a:tr>
              <a:tr h="4043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>
                          <a:latin typeface="Times New Roman"/>
                          <a:ea typeface="Times New Roman"/>
                          <a:cs typeface="Times New Roman"/>
                        </a:rPr>
                        <a:t>1946- 1952 гг.</a:t>
                      </a:r>
                      <a:endParaRPr lang="ru-RU" sz="2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>
                          <a:latin typeface="Times New Roman"/>
                          <a:ea typeface="Times New Roman"/>
                          <a:cs typeface="Times New Roman"/>
                        </a:rPr>
                        <a:t> Семилетняя школа в селе Томай</a:t>
                      </a:r>
                      <a:endParaRPr lang="ru-RU" sz="2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564126"/>
                  </a:ext>
                </a:extLst>
              </a:tr>
              <a:tr h="3962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>
                          <a:latin typeface="Times New Roman"/>
                          <a:ea typeface="Times New Roman"/>
                          <a:cs typeface="Times New Roman"/>
                        </a:rPr>
                        <a:t>1964-2005 гг.</a:t>
                      </a:r>
                      <a:endParaRPr lang="ru-RU" sz="2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 err="1">
                          <a:latin typeface="Times New Roman"/>
                          <a:ea typeface="Times New Roman"/>
                          <a:cs typeface="Times New Roman"/>
                        </a:rPr>
                        <a:t>Томайская</a:t>
                      </a:r>
                      <a:r>
                        <a:rPr lang="ru-RU" sz="2200" b="1" dirty="0">
                          <a:latin typeface="Times New Roman"/>
                          <a:ea typeface="Times New Roman"/>
                          <a:cs typeface="Times New Roman"/>
                        </a:rPr>
                        <a:t> средняя школа</a:t>
                      </a:r>
                      <a:endParaRPr lang="ru-RU" sz="2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21890"/>
                  </a:ext>
                </a:extLst>
              </a:tr>
              <a:tr h="41351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>
                          <a:latin typeface="Times New Roman"/>
                          <a:ea typeface="Times New Roman"/>
                          <a:cs typeface="Times New Roman"/>
                        </a:rPr>
                        <a:t>2005-2021</a:t>
                      </a:r>
                      <a:endParaRPr lang="ru-RU" sz="2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 err="1">
                          <a:latin typeface="Times New Roman"/>
                          <a:ea typeface="Times New Roman"/>
                          <a:cs typeface="Times New Roman"/>
                        </a:rPr>
                        <a:t>Томайский</a:t>
                      </a:r>
                      <a:r>
                        <a:rPr lang="ru-RU" sz="2200" b="1" dirty="0">
                          <a:latin typeface="Times New Roman"/>
                          <a:ea typeface="Times New Roman"/>
                          <a:cs typeface="Times New Roman"/>
                        </a:rPr>
                        <a:t> теоретический лицей</a:t>
                      </a:r>
                      <a:endParaRPr lang="ru-RU" sz="2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67897"/>
                  </a:ext>
                </a:extLst>
              </a:tr>
              <a:tr h="5172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>
                          <a:latin typeface="Times New Roman"/>
                          <a:ea typeface="Times New Roman"/>
                          <a:cs typeface="Times New Roman"/>
                        </a:rPr>
                        <a:t> 2022-2025 г.г.</a:t>
                      </a:r>
                      <a:endParaRPr lang="ru-RU" sz="2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>
                          <a:latin typeface="Times New Roman"/>
                          <a:ea typeface="Times New Roman"/>
                          <a:cs typeface="Times New Roman"/>
                        </a:rPr>
                        <a:t>ПУ Гимназия села Томай</a:t>
                      </a:r>
                      <a:endParaRPr lang="ru-RU" sz="2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582871"/>
                  </a:ext>
                </a:extLst>
              </a:tr>
            </a:tbl>
          </a:graphicData>
        </a:graphic>
      </p:graphicFrame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A86A271-8F7D-4B22-AF10-6562487D0555}"/>
              </a:ext>
            </a:extLst>
          </p:cNvPr>
          <p:cNvSpPr/>
          <p:nvPr/>
        </p:nvSpPr>
        <p:spPr>
          <a:xfrm>
            <a:off x="1436914" y="3903761"/>
            <a:ext cx="98437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Количество учащихся- </a:t>
            </a:r>
            <a:r>
              <a:rPr lang="ru-RU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335</a:t>
            </a:r>
            <a:endParaRPr lang="ru-RU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Численность педагогического персонала- </a:t>
            </a:r>
            <a:r>
              <a:rPr lang="ru-RU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32 педагога</a:t>
            </a:r>
            <a:endParaRPr lang="ru-RU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Численность управленческого персонала - </a:t>
            </a:r>
            <a:r>
              <a:rPr lang="ru-RU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ru-RU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Численность вспомогательного, обслуживающего и технического персонала- </a:t>
            </a:r>
            <a:r>
              <a:rPr lang="ru-RU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30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Режим работы: </a:t>
            </a:r>
            <a:r>
              <a:rPr lang="ru-RU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пятидневная рабочая неделя</a:t>
            </a:r>
            <a:endParaRPr lang="ru-RU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Начало занятий: </a:t>
            </a:r>
            <a:r>
              <a:rPr lang="ru-RU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в 8.00 (в одну смену)</a:t>
            </a:r>
            <a:endParaRPr lang="ru-RU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Продолжительность урока- </a:t>
            </a:r>
            <a:r>
              <a:rPr lang="ru-RU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45 минут</a:t>
            </a:r>
            <a:endParaRPr lang="ru-MD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>
            <a:extLst>
              <a:ext uri="{FF2B5EF4-FFF2-40B4-BE49-F238E27FC236}">
                <a16:creationId xmlns:a16="http://schemas.microsoft.com/office/drawing/2014/main" id="{51B72DCA-41DD-4EFE-B5EE-051736A5FAAB}"/>
              </a:ext>
            </a:extLst>
          </p:cNvPr>
          <p:cNvSpPr/>
          <p:nvPr/>
        </p:nvSpPr>
        <p:spPr>
          <a:xfrm>
            <a:off x="4777275" y="2507926"/>
            <a:ext cx="2659224" cy="1698172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 учебных кабинетов</a:t>
            </a:r>
            <a:endParaRPr lang="ru-MD" sz="26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Звезда: 7 точек 6">
            <a:extLst>
              <a:ext uri="{FF2B5EF4-FFF2-40B4-BE49-F238E27FC236}">
                <a16:creationId xmlns:a16="http://schemas.microsoft.com/office/drawing/2014/main" id="{F6301D6F-11A4-42DB-AC60-094CDDC75541}"/>
              </a:ext>
            </a:extLst>
          </p:cNvPr>
          <p:cNvSpPr/>
          <p:nvPr/>
        </p:nvSpPr>
        <p:spPr>
          <a:xfrm>
            <a:off x="6396037" y="888736"/>
            <a:ext cx="2837537" cy="1978090"/>
          </a:xfrm>
          <a:prstGeom prst="star7">
            <a:avLst/>
          </a:prstGeom>
          <a:solidFill>
            <a:schemeClr val="accent4"/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ru-RU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Times New Roman" pitchFamily="18" charset="0"/>
              </a:rPr>
              <a:t>Спортивный зал, 2 спорт </a:t>
            </a:r>
            <a:r>
              <a:rPr lang="ru-RU" sz="20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Times New Roman" pitchFamily="18" charset="0"/>
              </a:rPr>
              <a:t>площ</a:t>
            </a:r>
            <a:r>
              <a:rPr lang="ru-RU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8" name="Звезда: 7 точек 7">
            <a:extLst>
              <a:ext uri="{FF2B5EF4-FFF2-40B4-BE49-F238E27FC236}">
                <a16:creationId xmlns:a16="http://schemas.microsoft.com/office/drawing/2014/main" id="{8EDD867C-2311-4B68-9393-B058790A6D92}"/>
              </a:ext>
            </a:extLst>
          </p:cNvPr>
          <p:cNvSpPr/>
          <p:nvPr/>
        </p:nvSpPr>
        <p:spPr>
          <a:xfrm>
            <a:off x="4146074" y="383119"/>
            <a:ext cx="2452396" cy="1769705"/>
          </a:xfrm>
          <a:prstGeom prst="star7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0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Библио</a:t>
            </a:r>
          </a:p>
          <a:p>
            <a:pPr algn="ctr">
              <a:defRPr/>
            </a:pPr>
            <a:r>
              <a:rPr lang="ru-RU" sz="2000" b="1" dirty="0" err="1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тека</a:t>
            </a:r>
            <a:endParaRPr lang="ru-RU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Звезда: 7 точек 8">
            <a:extLst>
              <a:ext uri="{FF2B5EF4-FFF2-40B4-BE49-F238E27FC236}">
                <a16:creationId xmlns:a16="http://schemas.microsoft.com/office/drawing/2014/main" id="{1926412B-10B2-40B8-9D7D-CC4594338168}"/>
              </a:ext>
            </a:extLst>
          </p:cNvPr>
          <p:cNvSpPr/>
          <p:nvPr/>
        </p:nvSpPr>
        <p:spPr>
          <a:xfrm>
            <a:off x="2109360" y="1771683"/>
            <a:ext cx="2586135" cy="2080726"/>
          </a:xfrm>
          <a:prstGeom prst="star7">
            <a:avLst/>
          </a:prstGeom>
          <a:solidFill>
            <a:schemeClr val="accent2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0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Метод</a:t>
            </a:r>
          </a:p>
          <a:p>
            <a:pPr algn="ctr">
              <a:defRPr/>
            </a:pPr>
            <a:r>
              <a:rPr lang="ru-RU" sz="20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кабинет</a:t>
            </a:r>
          </a:p>
        </p:txBody>
      </p:sp>
      <p:sp>
        <p:nvSpPr>
          <p:cNvPr id="10" name="Звезда: 7 точек 9">
            <a:extLst>
              <a:ext uri="{FF2B5EF4-FFF2-40B4-BE49-F238E27FC236}">
                <a16:creationId xmlns:a16="http://schemas.microsoft.com/office/drawing/2014/main" id="{BCE26EB0-C6C4-46F9-B5E0-13D3B32E0CFC}"/>
              </a:ext>
            </a:extLst>
          </p:cNvPr>
          <p:cNvSpPr/>
          <p:nvPr/>
        </p:nvSpPr>
        <p:spPr>
          <a:xfrm>
            <a:off x="5647406" y="4206098"/>
            <a:ext cx="2586135" cy="1978090"/>
          </a:xfrm>
          <a:prstGeom prst="star7">
            <a:avLst/>
          </a:prstGeom>
          <a:solidFill>
            <a:schemeClr val="accent6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0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Ресурсный центр</a:t>
            </a:r>
          </a:p>
        </p:txBody>
      </p:sp>
      <p:sp>
        <p:nvSpPr>
          <p:cNvPr id="11" name="Звезда: 7 точек 10">
            <a:extLst>
              <a:ext uri="{FF2B5EF4-FFF2-40B4-BE49-F238E27FC236}">
                <a16:creationId xmlns:a16="http://schemas.microsoft.com/office/drawing/2014/main" id="{4C6F2111-00EF-4C1B-969F-88B3A396890F}"/>
              </a:ext>
            </a:extLst>
          </p:cNvPr>
          <p:cNvSpPr/>
          <p:nvPr/>
        </p:nvSpPr>
        <p:spPr>
          <a:xfrm rot="424138">
            <a:off x="1968506" y="4117766"/>
            <a:ext cx="3430097" cy="2147132"/>
          </a:xfrm>
          <a:prstGeom prst="star7">
            <a:avLst/>
          </a:prstGeom>
          <a:solidFill>
            <a:schemeClr val="accent3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sz="1600" b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ru-RU" sz="20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Актовый зал,  </a:t>
            </a:r>
          </a:p>
          <a:p>
            <a:pPr algn="ctr">
              <a:defRPr/>
            </a:pPr>
            <a:r>
              <a:rPr lang="ru-RU" sz="20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столовая на 120 </a:t>
            </a:r>
          </a:p>
          <a:p>
            <a:pPr algn="ctr">
              <a:defRPr/>
            </a:pPr>
            <a:r>
              <a:rPr lang="ru-RU" sz="20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посадочных мест</a:t>
            </a:r>
          </a:p>
        </p:txBody>
      </p:sp>
      <p:sp>
        <p:nvSpPr>
          <p:cNvPr id="13" name="Звезда: 7 точек 12">
            <a:extLst>
              <a:ext uri="{FF2B5EF4-FFF2-40B4-BE49-F238E27FC236}">
                <a16:creationId xmlns:a16="http://schemas.microsoft.com/office/drawing/2014/main" id="{E48B170C-F72F-454A-BF46-6F0EEB99DB63}"/>
              </a:ext>
            </a:extLst>
          </p:cNvPr>
          <p:cNvSpPr/>
          <p:nvPr/>
        </p:nvSpPr>
        <p:spPr>
          <a:xfrm rot="506761">
            <a:off x="7744935" y="2905225"/>
            <a:ext cx="2689969" cy="2171375"/>
          </a:xfrm>
          <a:prstGeom prst="star7">
            <a:avLst/>
          </a:prstGeom>
          <a:solidFill>
            <a:schemeClr val="tx2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sz="1600" b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ru-RU" b="1" dirty="0" err="1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Компьют</a:t>
            </a:r>
            <a:r>
              <a:rPr lang="ru-RU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. класс </a:t>
            </a:r>
          </a:p>
          <a:p>
            <a:pPr algn="ctr">
              <a:defRPr/>
            </a:pPr>
            <a:r>
              <a:rPr lang="ru-RU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с 12 </a:t>
            </a:r>
            <a:r>
              <a:rPr lang="ru-RU" b="1" dirty="0" err="1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стац</a:t>
            </a:r>
            <a:r>
              <a:rPr lang="ru-RU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ctr">
              <a:defRPr/>
            </a:pPr>
            <a:r>
              <a:rPr lang="ru-RU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комп.</a:t>
            </a:r>
            <a:endParaRPr lang="ru-RU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Звезда: 7 точек 13">
            <a:extLst>
              <a:ext uri="{FF2B5EF4-FFF2-40B4-BE49-F238E27FC236}">
                <a16:creationId xmlns:a16="http://schemas.microsoft.com/office/drawing/2014/main" id="{C2A1ACA6-1B88-4750-92BA-23257D1DDE90}"/>
              </a:ext>
            </a:extLst>
          </p:cNvPr>
          <p:cNvSpPr/>
          <p:nvPr/>
        </p:nvSpPr>
        <p:spPr>
          <a:xfrm rot="20932417">
            <a:off x="9060803" y="298820"/>
            <a:ext cx="2635073" cy="1910738"/>
          </a:xfrm>
          <a:prstGeom prst="star7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22 </a:t>
            </a:r>
            <a:r>
              <a:rPr lang="ru-RU" b="1" dirty="0" err="1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каб</a:t>
            </a:r>
            <a:r>
              <a:rPr lang="ru-RU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. с</a:t>
            </a:r>
          </a:p>
          <a:p>
            <a:pPr algn="ctr">
              <a:defRPr/>
            </a:pPr>
            <a:r>
              <a:rPr lang="ru-RU" b="1" dirty="0" err="1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мультимед</a:t>
            </a:r>
            <a:r>
              <a:rPr lang="ru-RU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ctr">
              <a:defRPr/>
            </a:pPr>
            <a:r>
              <a:rPr lang="ru-RU" b="1" dirty="0" err="1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оборуд</a:t>
            </a:r>
            <a:r>
              <a:rPr lang="ru-RU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15" name="Звезда: 7 точек 14">
            <a:extLst>
              <a:ext uri="{FF2B5EF4-FFF2-40B4-BE49-F238E27FC236}">
                <a16:creationId xmlns:a16="http://schemas.microsoft.com/office/drawing/2014/main" id="{23D3A56D-D8B9-4867-977D-0628A022D26F}"/>
              </a:ext>
            </a:extLst>
          </p:cNvPr>
          <p:cNvSpPr/>
          <p:nvPr/>
        </p:nvSpPr>
        <p:spPr>
          <a:xfrm rot="20437016">
            <a:off x="842865" y="290806"/>
            <a:ext cx="2985797" cy="1698173"/>
          </a:xfrm>
          <a:prstGeom prst="star7">
            <a:avLst/>
          </a:prstGeom>
          <a:solidFill>
            <a:schemeClr val="accent1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0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6 </a:t>
            </a:r>
            <a:r>
              <a:rPr lang="ru-RU" sz="2000" b="1" dirty="0" err="1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каб</a:t>
            </a:r>
            <a:r>
              <a:rPr lang="ru-RU" sz="20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ctr">
              <a:defRPr/>
            </a:pPr>
            <a:r>
              <a:rPr lang="ru-RU" sz="2000" b="1" dirty="0" err="1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интер.доски</a:t>
            </a:r>
            <a:endParaRPr lang="ru-RU" sz="2000" b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0AA6C31-87DB-4E9B-AA87-FA9D1C5B6F52}"/>
              </a:ext>
            </a:extLst>
          </p:cNvPr>
          <p:cNvSpPr/>
          <p:nvPr/>
        </p:nvSpPr>
        <p:spPr>
          <a:xfrm>
            <a:off x="2415407" y="557635"/>
            <a:ext cx="7071936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x-none" sz="2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Особенности </a:t>
            </a:r>
            <a:r>
              <a:rPr lang="ru-RU" sz="2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индивидуального </a:t>
            </a:r>
            <a:r>
              <a:rPr lang="x-none" sz="2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учебного плана</a:t>
            </a:r>
            <a:endParaRPr lang="ru-MD" sz="2500" dirty="0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E1028406-63F6-4F09-9995-AAD02CBA7D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728303"/>
              </p:ext>
            </p:extLst>
          </p:nvPr>
        </p:nvGraphicFramePr>
        <p:xfrm>
          <a:off x="1344044" y="1446616"/>
          <a:ext cx="9183483" cy="3050248"/>
        </p:xfrm>
        <a:graphic>
          <a:graphicData uri="http://schemas.openxmlformats.org/drawingml/2006/table">
            <a:tbl>
              <a:tblPr/>
              <a:tblGrid>
                <a:gridCol w="9183483">
                  <a:extLst>
                    <a:ext uri="{9D8B030D-6E8A-4147-A177-3AD203B41FA5}">
                      <a16:colId xmlns:a16="http://schemas.microsoft.com/office/drawing/2014/main" val="3509856625"/>
                    </a:ext>
                  </a:extLst>
                </a:gridCol>
              </a:tblGrid>
              <a:tr h="3247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/>
                          <a:ea typeface="Times New Roman"/>
                          <a:cs typeface="Times New Roman"/>
                        </a:rPr>
                        <a:t>Дисциплина</a:t>
                      </a:r>
                      <a:endParaRPr lang="ru-RU" sz="2000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890641"/>
                  </a:ext>
                </a:extLst>
              </a:tr>
              <a:tr h="324764">
                <a:tc>
                  <a:txBody>
                    <a:bodyPr/>
                    <a:lstStyle/>
                    <a:p>
                      <a:pPr indent="1524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Сокращение на один час дисциплины </a:t>
                      </a:r>
                      <a:r>
                        <a:rPr lang="ru-RU" sz="2000" b="1" i="1" dirty="0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«Русский язык и литература»</a:t>
                      </a:r>
                      <a:r>
                        <a:rPr lang="ru-RU" sz="2000" b="1" dirty="0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20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 5, 6 </a:t>
                      </a:r>
                      <a:r>
                        <a:rPr lang="ru-RU" sz="2000" b="1" dirty="0" err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кл</a:t>
                      </a:r>
                      <a:r>
                        <a:rPr lang="ru-RU" sz="20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588092"/>
                  </a:ext>
                </a:extLst>
              </a:tr>
              <a:tr h="2393658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None/>
                      </a:pPr>
                      <a:r>
                        <a:rPr lang="ru-RU" sz="2000" b="1" dirty="0">
                          <a:solidFill>
                            <a:srgbClr val="00206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     </a:t>
                      </a:r>
                      <a:r>
                        <a:rPr lang="ru-RU" sz="2000" b="1" dirty="0">
                          <a:solidFill>
                            <a:srgbClr val="C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В рамках многоязычного образования  в </a:t>
                      </a:r>
                      <a:r>
                        <a:rPr lang="ru-RU" sz="2000" b="1" i="1" dirty="0">
                          <a:solidFill>
                            <a:srgbClr val="C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1- 4 классах: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ru-RU" sz="2000" b="1" dirty="0">
                          <a:solidFill>
                            <a:srgbClr val="00206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«ДНВ» и Развитие личности в </a:t>
                      </a:r>
                      <a:r>
                        <a:rPr lang="ru-RU" sz="2000" b="1" dirty="0">
                          <a:solidFill>
                            <a:srgbClr val="C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 классах</a:t>
                      </a:r>
                      <a:r>
                        <a:rPr lang="ru-RU" sz="2000" b="1" dirty="0">
                          <a:solidFill>
                            <a:srgbClr val="00206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: на русском языке – </a:t>
                      </a:r>
                      <a:r>
                        <a:rPr lang="ru-RU" sz="2000" b="1" dirty="0">
                          <a:solidFill>
                            <a:srgbClr val="C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95%</a:t>
                      </a:r>
                      <a:r>
                        <a:rPr lang="ru-RU" sz="2000" b="1" dirty="0">
                          <a:solidFill>
                            <a:srgbClr val="00206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; </a:t>
                      </a:r>
                    </a:p>
                    <a:p>
                      <a:pPr marL="0" lvl="0" indent="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None/>
                      </a:pPr>
                      <a:r>
                        <a:rPr lang="ru-RU" sz="2000" b="1" dirty="0">
                          <a:solidFill>
                            <a:srgbClr val="00206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        на румынском языке- </a:t>
                      </a:r>
                      <a:r>
                        <a:rPr lang="ru-RU" sz="2000" b="1" dirty="0">
                          <a:solidFill>
                            <a:srgbClr val="C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5%</a:t>
                      </a:r>
                      <a:r>
                        <a:rPr lang="ru-RU" sz="2000" b="1" dirty="0">
                          <a:solidFill>
                            <a:srgbClr val="00206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.</a:t>
                      </a: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ru-RU" sz="2000" b="1" dirty="0">
                          <a:solidFill>
                            <a:srgbClr val="00206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«ИЗО» и «Технологическое воспитание» </a:t>
                      </a:r>
                      <a:r>
                        <a:rPr lang="ru-RU" sz="2000" b="1" dirty="0">
                          <a:solidFill>
                            <a:srgbClr val="C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100% </a:t>
                      </a:r>
                      <a:r>
                        <a:rPr lang="ru-RU" sz="2000" b="1" dirty="0">
                          <a:solidFill>
                            <a:srgbClr val="00206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на гагаузском языке.</a:t>
                      </a:r>
                    </a:p>
                    <a:p>
                      <a:pPr marL="0" lvl="0" indent="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None/>
                      </a:pPr>
                      <a:r>
                        <a:rPr lang="ru-RU" sz="2000" b="1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ru-RU" sz="2000" b="1" i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В 5-9 классах: </a:t>
                      </a:r>
                      <a:endParaRPr lang="ru-RU" sz="2000" b="1" i="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ru-RU" sz="2000" b="1" dirty="0">
                          <a:solidFill>
                            <a:srgbClr val="00206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«Технологическое воспитание» в 5 классе </a:t>
                      </a:r>
                      <a:r>
                        <a:rPr lang="ru-RU" sz="2000" b="1" dirty="0">
                          <a:solidFill>
                            <a:srgbClr val="C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100 % </a:t>
                      </a:r>
                      <a:r>
                        <a:rPr lang="ru-RU" sz="2000" b="1" dirty="0">
                          <a:solidFill>
                            <a:srgbClr val="00206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на гагаузском языке.</a:t>
                      </a:r>
                      <a:endParaRPr lang="ru-RU" sz="2000" b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574882"/>
                  </a:ext>
                </a:extLst>
              </a:tr>
            </a:tbl>
          </a:graphicData>
        </a:graphic>
      </p:graphicFrame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EE93072-3478-46D7-90F9-0E8456E2E186}"/>
              </a:ext>
            </a:extLst>
          </p:cNvPr>
          <p:cNvSpPr/>
          <p:nvPr/>
        </p:nvSpPr>
        <p:spPr>
          <a:xfrm>
            <a:off x="1335819" y="4711617"/>
            <a:ext cx="102431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 2022- 2025 учебные годы гимназия работает по индивидуальному учебному плану, утверждённому МОИ РМ и согласованному с ГУО АТО Гагаузия.</a:t>
            </a:r>
            <a:endParaRPr lang="ru-MD" sz="2000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5EC2DE8-BBA9-4FC0-972A-147D530F5609}"/>
              </a:ext>
            </a:extLst>
          </p:cNvPr>
          <p:cNvCxnSpPr/>
          <p:nvPr/>
        </p:nvCxnSpPr>
        <p:spPr>
          <a:xfrm>
            <a:off x="1335819" y="3546282"/>
            <a:ext cx="92076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71D62A9-F228-428C-8C6E-1AA65F26CC55}"/>
              </a:ext>
            </a:extLst>
          </p:cNvPr>
          <p:cNvSpPr/>
          <p:nvPr/>
        </p:nvSpPr>
        <p:spPr>
          <a:xfrm>
            <a:off x="1959564" y="373895"/>
            <a:ext cx="847530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Анализ динамики численности учащихся по уровням образования за 3 года (2023-2025)</a:t>
            </a:r>
            <a:endParaRPr lang="ru-MD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A0562880-75DC-4E90-A01F-F43F5B6DA4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3866385"/>
              </p:ext>
            </p:extLst>
          </p:nvPr>
        </p:nvGraphicFramePr>
        <p:xfrm>
          <a:off x="1619132" y="1739347"/>
          <a:ext cx="8953735" cy="3667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E69DE6B-C657-4689-8854-A83BC760AB47}"/>
              </a:ext>
            </a:extLst>
          </p:cNvPr>
          <p:cNvSpPr txBox="1"/>
          <p:nvPr/>
        </p:nvSpPr>
        <p:spPr>
          <a:xfrm>
            <a:off x="1276538" y="5594849"/>
            <a:ext cx="96389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  3 учебных года количество учащихся снизилось на 5%</a:t>
            </a:r>
            <a:endParaRPr lang="ru-MD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657305F0-1D82-41BE-BEB4-7BCC7B7EB7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2629524"/>
              </p:ext>
            </p:extLst>
          </p:nvPr>
        </p:nvGraphicFramePr>
        <p:xfrm>
          <a:off x="2673625" y="1855121"/>
          <a:ext cx="6844749" cy="43965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D69BBD5-D225-48D7-9791-D950738276D4}"/>
              </a:ext>
            </a:extLst>
          </p:cNvPr>
          <p:cNvSpPr/>
          <p:nvPr/>
        </p:nvSpPr>
        <p:spPr>
          <a:xfrm>
            <a:off x="1275521" y="709856"/>
            <a:ext cx="107028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Сравнительный анализ результатов УВП 2023-2025 гг. </a:t>
            </a:r>
            <a:endParaRPr lang="ru-MD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04798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0DD6718E-6B15-4624-BB1C-D4A83D608E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6944926"/>
              </p:ext>
            </p:extLst>
          </p:nvPr>
        </p:nvGraphicFramePr>
        <p:xfrm>
          <a:off x="801759" y="2120457"/>
          <a:ext cx="5178287" cy="38132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F095FAC0-3A1B-4A30-B1F1-1D74D1408A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8370676"/>
              </p:ext>
            </p:extLst>
          </p:nvPr>
        </p:nvGraphicFramePr>
        <p:xfrm>
          <a:off x="6314658" y="2120457"/>
          <a:ext cx="5006009" cy="38132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1696C3E-C7CA-4D9A-ACAE-0AAD98790313}"/>
              </a:ext>
            </a:extLst>
          </p:cNvPr>
          <p:cNvSpPr/>
          <p:nvPr/>
        </p:nvSpPr>
        <p:spPr>
          <a:xfrm>
            <a:off x="1900806" y="613185"/>
            <a:ext cx="1075508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Сравнительный анализ результатов нац. выпускных </a:t>
            </a:r>
          </a:p>
          <a:p>
            <a:r>
              <a:rPr lang="ru-RU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экзаменов за 2 года </a:t>
            </a:r>
            <a:endParaRPr lang="ru-MD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48C9EB34-BD94-4484-9CC8-2624C33743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231910"/>
              </p:ext>
            </p:extLst>
          </p:nvPr>
        </p:nvGraphicFramePr>
        <p:xfrm>
          <a:off x="903989" y="1799940"/>
          <a:ext cx="4888663" cy="4044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088FF960-FEC9-4F16-9EF8-CF68734E66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3545292"/>
              </p:ext>
            </p:extLst>
          </p:nvPr>
        </p:nvGraphicFramePr>
        <p:xfrm>
          <a:off x="5953539" y="1799940"/>
          <a:ext cx="5453741" cy="4044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F83D2C2-2933-4C9D-B0F9-4788DD1107E8}"/>
              </a:ext>
            </a:extLst>
          </p:cNvPr>
          <p:cNvSpPr/>
          <p:nvPr/>
        </p:nvSpPr>
        <p:spPr>
          <a:xfrm>
            <a:off x="2040294" y="567514"/>
            <a:ext cx="863392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Сравнительный анализ результатов за год и национальных  выпускных экзаменов в 9 классах</a:t>
            </a:r>
            <a:endParaRPr lang="ru-MD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B87C904-4142-4075-8980-491513A3F34D}"/>
              </a:ext>
            </a:extLst>
          </p:cNvPr>
          <p:cNvSpPr/>
          <p:nvPr/>
        </p:nvSpPr>
        <p:spPr>
          <a:xfrm>
            <a:off x="1229140" y="621052"/>
            <a:ext cx="1053879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Сравнительный анализ результатов учебно-воспитательного процесса в гимназическом цикле за 3 года. </a:t>
            </a:r>
            <a:endParaRPr lang="ru-MD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39E7682D-75F1-40AE-B997-585F17B0BB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5824617"/>
              </p:ext>
            </p:extLst>
          </p:nvPr>
        </p:nvGraphicFramePr>
        <p:xfrm>
          <a:off x="2184837" y="2006865"/>
          <a:ext cx="7822326" cy="4323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288A9924-E9F8-4591-9F78-C067F9F5C9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0056094"/>
              </p:ext>
            </p:extLst>
          </p:nvPr>
        </p:nvGraphicFramePr>
        <p:xfrm>
          <a:off x="447260" y="1987827"/>
          <a:ext cx="5128591" cy="3737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595EADD2-D5D8-49BE-B3EE-EF1DCF5C45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8141503"/>
              </p:ext>
            </p:extLst>
          </p:nvPr>
        </p:nvGraphicFramePr>
        <p:xfrm>
          <a:off x="5287617" y="1639957"/>
          <a:ext cx="6983896" cy="45918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55D1952-EF57-4E31-9F1B-C1DDFFA14AB4}"/>
              </a:ext>
            </a:extLst>
          </p:cNvPr>
          <p:cNvSpPr txBox="1"/>
          <p:nvPr/>
        </p:nvSpPr>
        <p:spPr>
          <a:xfrm>
            <a:off x="4114800" y="709126"/>
            <a:ext cx="4299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Кадровая политика</a:t>
            </a:r>
            <a:endParaRPr lang="ru-MD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900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20158870-3B69-4699-898E-13A6765DE8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5092236"/>
              </p:ext>
            </p:extLst>
          </p:nvPr>
        </p:nvGraphicFramePr>
        <p:xfrm>
          <a:off x="1097494" y="1966144"/>
          <a:ext cx="6448346" cy="3957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56BCD5-7E4F-4F00-9B79-807DBF381BF3}"/>
              </a:ext>
            </a:extLst>
          </p:cNvPr>
          <p:cNvSpPr/>
          <p:nvPr/>
        </p:nvSpPr>
        <p:spPr>
          <a:xfrm>
            <a:off x="1909854" y="594439"/>
            <a:ext cx="89201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spc="-45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Результаты Региональной олимпиады за 3 года </a:t>
            </a:r>
            <a:endParaRPr lang="ru-MD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2FE5841-2AFB-4BEB-9E73-1BE293C81806}"/>
              </a:ext>
            </a:extLst>
          </p:cNvPr>
          <p:cNvSpPr/>
          <p:nvPr/>
        </p:nvSpPr>
        <p:spPr>
          <a:xfrm>
            <a:off x="7665907" y="2197893"/>
            <a:ext cx="3511949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MD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Вывод: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MD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нализ</a:t>
            </a:r>
            <a:r>
              <a:rPr lang="ru-MD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результатов олимпиадной деятельности учащихся гимназии за последние три учебных года показывает стабильное участие и наличие призовых мест. </a:t>
            </a:r>
            <a:endParaRPr lang="ru-MD" sz="2200" dirty="0"/>
          </a:p>
        </p:txBody>
      </p:sp>
    </p:spTree>
    <p:extLst>
      <p:ext uri="{BB962C8B-B14F-4D97-AF65-F5344CB8AC3E}">
        <p14:creationId xmlns:p14="http://schemas.microsoft.com/office/powerpoint/2010/main" val="3572795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88D8D19-216E-4281-93B8-76148C4E406E}"/>
              </a:ext>
            </a:extLst>
          </p:cNvPr>
          <p:cNvSpPr/>
          <p:nvPr/>
        </p:nvSpPr>
        <p:spPr>
          <a:xfrm>
            <a:off x="6947452" y="1901430"/>
            <a:ext cx="4271056" cy="243508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/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BC272F29-E3AA-450F-A8D5-C205BF36A2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5811988"/>
              </p:ext>
            </p:extLst>
          </p:nvPr>
        </p:nvGraphicFramePr>
        <p:xfrm>
          <a:off x="973492" y="1901430"/>
          <a:ext cx="5735218" cy="3939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F898E91-658F-4A9F-9CC0-B8DC7C6242CC}"/>
              </a:ext>
            </a:extLst>
          </p:cNvPr>
          <p:cNvSpPr/>
          <p:nvPr/>
        </p:nvSpPr>
        <p:spPr>
          <a:xfrm>
            <a:off x="1872342" y="661281"/>
            <a:ext cx="88578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spc="-45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Региональные результаты научно-исследовательской деятельности учащихся гимназии.</a:t>
            </a:r>
            <a:r>
              <a:rPr lang="ru-RU" sz="2800" b="1" spc="-45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MD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D4416C7-55CF-43EA-9543-3DAA1A308DF4}"/>
              </a:ext>
            </a:extLst>
          </p:cNvPr>
          <p:cNvSpPr/>
          <p:nvPr/>
        </p:nvSpPr>
        <p:spPr>
          <a:xfrm>
            <a:off x="7131564" y="2140295"/>
            <a:ext cx="433562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MD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а</a:t>
            </a:r>
            <a:r>
              <a:rPr lang="ru-MD" sz="2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нализ</a:t>
            </a:r>
            <a:r>
              <a:rPr lang="ru-MD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региональных результатов научно-исследовательской деятельности учащихся гимназии за три учебных года показывает положительную динамику. </a:t>
            </a:r>
            <a:endParaRPr lang="ru-MD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447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D012407-C77F-46C1-9BAC-BB7BCBD8AA82}"/>
              </a:ext>
            </a:extLst>
          </p:cNvPr>
          <p:cNvSpPr/>
          <p:nvPr/>
        </p:nvSpPr>
        <p:spPr>
          <a:xfrm>
            <a:off x="5714096" y="2098733"/>
            <a:ext cx="4622600" cy="3220278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/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47CE69B9-8439-40DA-A7FF-AE985C368A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6111960"/>
              </p:ext>
            </p:extLst>
          </p:nvPr>
        </p:nvGraphicFramePr>
        <p:xfrm>
          <a:off x="273451" y="1665029"/>
          <a:ext cx="6234606" cy="4425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192BFCC-D3E7-467E-B777-4353847EE083}"/>
              </a:ext>
            </a:extLst>
          </p:cNvPr>
          <p:cNvSpPr/>
          <p:nvPr/>
        </p:nvSpPr>
        <p:spPr>
          <a:xfrm>
            <a:off x="3332546" y="628207"/>
            <a:ext cx="59955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Охват выпускников обучением</a:t>
            </a:r>
            <a:endParaRPr lang="ru-MD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D1E1FC4-3C29-417A-AF32-7DAD78A4B2C4}"/>
              </a:ext>
            </a:extLst>
          </p:cNvPr>
          <p:cNvSpPr/>
          <p:nvPr/>
        </p:nvSpPr>
        <p:spPr>
          <a:xfrm>
            <a:off x="5862013" y="2391426"/>
            <a:ext cx="4326766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MD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r>
              <a:rPr lang="ru-M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M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нализ</a:t>
            </a:r>
            <a:r>
              <a:rPr lang="ru-M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охвата выпускников гимназии обучением показывает положительную динамику: в 2023–2024 учебном году доля выпускников, продолжающих обучение, увеличилась с 74% до 80,5%. </a:t>
            </a:r>
          </a:p>
        </p:txBody>
      </p:sp>
    </p:spTree>
    <p:extLst>
      <p:ext uri="{BB962C8B-B14F-4D97-AF65-F5344CB8AC3E}">
        <p14:creationId xmlns:p14="http://schemas.microsoft.com/office/powerpoint/2010/main" val="3678122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473B3CD0-FF26-4FA0-8876-43D6BECEC761}"/>
              </a:ext>
            </a:extLst>
          </p:cNvPr>
          <p:cNvGrpSpPr/>
          <p:nvPr/>
        </p:nvGrpSpPr>
        <p:grpSpPr>
          <a:xfrm>
            <a:off x="516359" y="2825266"/>
            <a:ext cx="3036433" cy="1410952"/>
            <a:chOff x="12649206" y="2667011"/>
            <a:chExt cx="4832436" cy="2026330"/>
          </a:xfrm>
          <a:scene3d>
            <a:camera prst="orthographicFront"/>
            <a:lightRig rig="flat" dir="t"/>
          </a:scene3d>
        </p:grpSpPr>
        <p:sp>
          <p:nvSpPr>
            <p:cNvPr id="26" name="Прямоугольник: скругленные углы 25">
              <a:extLst>
                <a:ext uri="{FF2B5EF4-FFF2-40B4-BE49-F238E27FC236}">
                  <a16:creationId xmlns:a16="http://schemas.microsoft.com/office/drawing/2014/main" id="{ACABF7D9-D288-429C-9385-95DFDAB433FF}"/>
                </a:ext>
              </a:extLst>
            </p:cNvPr>
            <p:cNvSpPr/>
            <p:nvPr/>
          </p:nvSpPr>
          <p:spPr>
            <a:xfrm>
              <a:off x="12649206" y="2667011"/>
              <a:ext cx="4832436" cy="2026330"/>
            </a:xfrm>
            <a:prstGeom prst="round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27" name="Прямоугольник: скругленные углы 4">
              <a:extLst>
                <a:ext uri="{FF2B5EF4-FFF2-40B4-BE49-F238E27FC236}">
                  <a16:creationId xmlns:a16="http://schemas.microsoft.com/office/drawing/2014/main" id="{05F4270C-9B47-4A85-B208-B1E5BD4DED2D}"/>
                </a:ext>
              </a:extLst>
            </p:cNvPr>
            <p:cNvSpPr txBox="1"/>
            <p:nvPr/>
          </p:nvSpPr>
          <p:spPr>
            <a:xfrm>
              <a:off x="12748123" y="2765928"/>
              <a:ext cx="4634602" cy="1828496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Основы Национального</a:t>
              </a:r>
            </a:p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куррикулума</a:t>
              </a:r>
              <a:r>
                <a:rPr kumimoji="0" 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, утвержденные</a:t>
              </a:r>
            </a:p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приказом Министерства</a:t>
              </a:r>
            </a:p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№ 432/2017</a:t>
              </a:r>
              <a:endPara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6367F220-1F7D-4F40-80FB-3AF1E6505228}"/>
              </a:ext>
            </a:extLst>
          </p:cNvPr>
          <p:cNvSpPr/>
          <p:nvPr/>
        </p:nvSpPr>
        <p:spPr>
          <a:xfrm>
            <a:off x="8277999" y="4854169"/>
            <a:ext cx="2912125" cy="1033191"/>
          </a:xfrm>
          <a:prstGeom prst="round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91113934-F293-4A35-853A-828B146C05CE}"/>
              </a:ext>
            </a:extLst>
          </p:cNvPr>
          <p:cNvGrpSpPr/>
          <p:nvPr/>
        </p:nvGrpSpPr>
        <p:grpSpPr>
          <a:xfrm>
            <a:off x="8366434" y="2759622"/>
            <a:ext cx="3247053" cy="1386969"/>
            <a:chOff x="10439396" y="6172213"/>
            <a:chExt cx="5548541" cy="2534275"/>
          </a:xfrm>
          <a:scene3d>
            <a:camera prst="orthographicFront"/>
            <a:lightRig rig="flat" dir="t"/>
          </a:scene3d>
        </p:grpSpPr>
        <p:sp>
          <p:nvSpPr>
            <p:cNvPr id="35" name="Прямоугольник: скругленные углы 34">
              <a:extLst>
                <a:ext uri="{FF2B5EF4-FFF2-40B4-BE49-F238E27FC236}">
                  <a16:creationId xmlns:a16="http://schemas.microsoft.com/office/drawing/2014/main" id="{95523F44-6E65-4818-A587-B3B7D5E7262B}"/>
                </a:ext>
              </a:extLst>
            </p:cNvPr>
            <p:cNvSpPr/>
            <p:nvPr/>
          </p:nvSpPr>
          <p:spPr>
            <a:xfrm>
              <a:off x="10439396" y="6172213"/>
              <a:ext cx="5548541" cy="2534275"/>
            </a:xfrm>
            <a:prstGeom prst="round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36" name="Прямоугольник: скругленные углы 4">
              <a:extLst>
                <a:ext uri="{FF2B5EF4-FFF2-40B4-BE49-F238E27FC236}">
                  <a16:creationId xmlns:a16="http://schemas.microsoft.com/office/drawing/2014/main" id="{F1E72C56-1C99-4F23-842D-265798D936B6}"/>
                </a:ext>
              </a:extLst>
            </p:cNvPr>
            <p:cNvSpPr txBox="1"/>
            <p:nvPr/>
          </p:nvSpPr>
          <p:spPr>
            <a:xfrm>
              <a:off x="10563109" y="6295926"/>
              <a:ext cx="5301115" cy="2286849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Закон АТО </a:t>
              </a:r>
              <a:r>
                <a:rPr kumimoji="0" lang="ru-RU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Гагаузии</a:t>
              </a:r>
              <a:r>
                <a:rPr kumimoji="0" 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№ 30 от 26</a:t>
              </a:r>
            </a:p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октября 2018 г. «О расширении</a:t>
              </a:r>
            </a:p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сферы применения гагаузского</a:t>
              </a:r>
            </a:p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языка»</a:t>
              </a:r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034A4AA4-AAE5-479A-958E-B52CC2DB6B36}"/>
              </a:ext>
            </a:extLst>
          </p:cNvPr>
          <p:cNvGrpSpPr/>
          <p:nvPr/>
        </p:nvGrpSpPr>
        <p:grpSpPr>
          <a:xfrm>
            <a:off x="3853759" y="4726321"/>
            <a:ext cx="4119762" cy="1302026"/>
            <a:chOff x="4267194" y="6172200"/>
            <a:chExt cx="5274627" cy="2581864"/>
          </a:xfrm>
          <a:scene3d>
            <a:camera prst="orthographicFront"/>
            <a:lightRig rig="flat" dir="t"/>
          </a:scene3d>
        </p:grpSpPr>
        <p:sp>
          <p:nvSpPr>
            <p:cNvPr id="38" name="Прямоугольник: скругленные углы 37">
              <a:extLst>
                <a:ext uri="{FF2B5EF4-FFF2-40B4-BE49-F238E27FC236}">
                  <a16:creationId xmlns:a16="http://schemas.microsoft.com/office/drawing/2014/main" id="{5B71D2FB-76DA-4DE9-BF6D-01776B97A7FA}"/>
                </a:ext>
              </a:extLst>
            </p:cNvPr>
            <p:cNvSpPr/>
            <p:nvPr/>
          </p:nvSpPr>
          <p:spPr>
            <a:xfrm>
              <a:off x="4267194" y="6172200"/>
              <a:ext cx="5274627" cy="2581864"/>
            </a:xfrm>
            <a:prstGeom prst="round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39" name="Прямоугольник: скругленные углы 4">
              <a:extLst>
                <a:ext uri="{FF2B5EF4-FFF2-40B4-BE49-F238E27FC236}">
                  <a16:creationId xmlns:a16="http://schemas.microsoft.com/office/drawing/2014/main" id="{C6A488E1-0C3A-44BD-8576-878B18BFC3EA}"/>
                </a:ext>
              </a:extLst>
            </p:cNvPr>
            <p:cNvSpPr txBox="1"/>
            <p:nvPr/>
          </p:nvSpPr>
          <p:spPr>
            <a:xfrm>
              <a:off x="4393230" y="6298236"/>
              <a:ext cx="5022555" cy="2329792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Постановление правительства</a:t>
              </a:r>
            </a:p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№ 868  от 08-10-2014 </a:t>
              </a:r>
              <a:r>
                <a:rPr kumimoji="0" lang="de-DE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o </a:t>
              </a:r>
              <a:r>
                <a:rPr kumimoji="0" 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финансировании</a:t>
              </a:r>
            </a:p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учебных заведений начального и</a:t>
              </a:r>
            </a:p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общего среднего образования</a:t>
              </a:r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3209C4CC-680F-4E04-AA05-F5F812443C4C}"/>
              </a:ext>
            </a:extLst>
          </p:cNvPr>
          <p:cNvGrpSpPr/>
          <p:nvPr/>
        </p:nvGrpSpPr>
        <p:grpSpPr>
          <a:xfrm>
            <a:off x="578513" y="4860738"/>
            <a:ext cx="2912125" cy="1033191"/>
            <a:chOff x="76196" y="2438401"/>
            <a:chExt cx="4455956" cy="1998803"/>
          </a:xfrm>
          <a:scene3d>
            <a:camera prst="orthographicFront"/>
            <a:lightRig rig="flat" dir="t"/>
          </a:scene3d>
        </p:grpSpPr>
        <p:sp>
          <p:nvSpPr>
            <p:cNvPr id="44" name="Прямоугольник: скругленные углы 43">
              <a:extLst>
                <a:ext uri="{FF2B5EF4-FFF2-40B4-BE49-F238E27FC236}">
                  <a16:creationId xmlns:a16="http://schemas.microsoft.com/office/drawing/2014/main" id="{7094F91A-12EC-49D8-BC7A-7AA2C54C8CBB}"/>
                </a:ext>
              </a:extLst>
            </p:cNvPr>
            <p:cNvSpPr/>
            <p:nvPr/>
          </p:nvSpPr>
          <p:spPr>
            <a:xfrm>
              <a:off x="76196" y="2438401"/>
              <a:ext cx="4455956" cy="1998803"/>
            </a:xfrm>
            <a:prstGeom prst="round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45" name="Прямоугольник: скругленные углы 4">
              <a:extLst>
                <a:ext uri="{FF2B5EF4-FFF2-40B4-BE49-F238E27FC236}">
                  <a16:creationId xmlns:a16="http://schemas.microsoft.com/office/drawing/2014/main" id="{C792A7D2-DA33-46F0-BFF7-66DA518DD0D4}"/>
                </a:ext>
              </a:extLst>
            </p:cNvPr>
            <p:cNvSpPr txBox="1"/>
            <p:nvPr/>
          </p:nvSpPr>
          <p:spPr>
            <a:xfrm>
              <a:off x="173770" y="2535975"/>
              <a:ext cx="4260808" cy="1803655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Стандарты качества для учреждений общего начального и среднего образования</a:t>
              </a:r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08D03C1F-271C-4278-B8B2-9AC721534B99}"/>
              </a:ext>
            </a:extLst>
          </p:cNvPr>
          <p:cNvGrpSpPr/>
          <p:nvPr/>
        </p:nvGrpSpPr>
        <p:grpSpPr>
          <a:xfrm>
            <a:off x="4920737" y="1191214"/>
            <a:ext cx="2339176" cy="1026651"/>
            <a:chOff x="7772399" y="76200"/>
            <a:chExt cx="2691469" cy="1639348"/>
          </a:xfrm>
          <a:scene3d>
            <a:camera prst="orthographicFront"/>
            <a:lightRig rig="flat" dir="t"/>
          </a:scene3d>
        </p:grpSpPr>
        <p:sp>
          <p:nvSpPr>
            <p:cNvPr id="47" name="Прямоугольник: скругленные углы 46">
              <a:extLst>
                <a:ext uri="{FF2B5EF4-FFF2-40B4-BE49-F238E27FC236}">
                  <a16:creationId xmlns:a16="http://schemas.microsoft.com/office/drawing/2014/main" id="{24E60DE7-32B9-4606-B1AC-CF6AA306D9AD}"/>
                </a:ext>
              </a:extLst>
            </p:cNvPr>
            <p:cNvSpPr/>
            <p:nvPr/>
          </p:nvSpPr>
          <p:spPr>
            <a:xfrm>
              <a:off x="7772399" y="76200"/>
              <a:ext cx="2691469" cy="1639348"/>
            </a:xfrm>
            <a:prstGeom prst="round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48" name="Прямоугольник: скругленные углы 4">
              <a:extLst>
                <a:ext uri="{FF2B5EF4-FFF2-40B4-BE49-F238E27FC236}">
                  <a16:creationId xmlns:a16="http://schemas.microsoft.com/office/drawing/2014/main" id="{91D50FCA-3ECB-4FFB-8E14-FB3BF73F1CC5}"/>
                </a:ext>
              </a:extLst>
            </p:cNvPr>
            <p:cNvSpPr txBox="1"/>
            <p:nvPr/>
          </p:nvSpPr>
          <p:spPr>
            <a:xfrm>
              <a:off x="7852425" y="156226"/>
              <a:ext cx="2531417" cy="1479296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marL="0" marR="0" lvl="0" indent="0" algn="ctr" defTabSz="1244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Конституция РМ</a:t>
              </a:r>
            </a:p>
          </p:txBody>
        </p:sp>
      </p:grp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16B4368F-D60A-4742-A1DE-5973D722FB80}"/>
              </a:ext>
            </a:extLst>
          </p:cNvPr>
          <p:cNvSpPr/>
          <p:nvPr/>
        </p:nvSpPr>
        <p:spPr>
          <a:xfrm>
            <a:off x="8438832" y="5026823"/>
            <a:ext cx="2560493" cy="687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ru-RU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Устав ПУ Гимназии </a:t>
            </a:r>
          </a:p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ru-RU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с. Томай</a:t>
            </a:r>
          </a:p>
        </p:txBody>
      </p: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9DC845F8-E3FA-4095-A52F-06905791C74E}"/>
              </a:ext>
            </a:extLst>
          </p:cNvPr>
          <p:cNvGrpSpPr/>
          <p:nvPr/>
        </p:nvGrpSpPr>
        <p:grpSpPr>
          <a:xfrm>
            <a:off x="4081740" y="2650729"/>
            <a:ext cx="3810504" cy="1572632"/>
            <a:chOff x="5333997" y="2514603"/>
            <a:chExt cx="6806135" cy="2354377"/>
          </a:xfrm>
          <a:scene3d>
            <a:camera prst="orthographicFront"/>
            <a:lightRig rig="flat" dir="t"/>
          </a:scene3d>
        </p:grpSpPr>
        <p:sp>
          <p:nvSpPr>
            <p:cNvPr id="51" name="Прямоугольник: скругленные углы 50">
              <a:extLst>
                <a:ext uri="{FF2B5EF4-FFF2-40B4-BE49-F238E27FC236}">
                  <a16:creationId xmlns:a16="http://schemas.microsoft.com/office/drawing/2014/main" id="{981843D2-FDE8-4757-B691-007D01F77944}"/>
                </a:ext>
              </a:extLst>
            </p:cNvPr>
            <p:cNvSpPr/>
            <p:nvPr/>
          </p:nvSpPr>
          <p:spPr>
            <a:xfrm>
              <a:off x="5333997" y="2514603"/>
              <a:ext cx="6806135" cy="2354377"/>
            </a:xfrm>
            <a:prstGeom prst="round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52" name="Прямоугольник: скругленные углы 4">
              <a:extLst>
                <a:ext uri="{FF2B5EF4-FFF2-40B4-BE49-F238E27FC236}">
                  <a16:creationId xmlns:a16="http://schemas.microsoft.com/office/drawing/2014/main" id="{21950DD8-8930-4FC1-8079-8068DE5D8B85}"/>
                </a:ext>
              </a:extLst>
            </p:cNvPr>
            <p:cNvSpPr txBox="1"/>
            <p:nvPr/>
          </p:nvSpPr>
          <p:spPr>
            <a:xfrm>
              <a:off x="5448928" y="2629534"/>
              <a:ext cx="6576273" cy="2124515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marR="0" lvl="0" indent="0" algn="ctr" defTabSz="10668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Положения об оценивании</a:t>
              </a:r>
            </a:p>
            <a:p>
              <a:pPr marL="0" marR="0" lvl="0" indent="0" algn="ctr" defTabSz="10668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результатов обучения, о переводе, об</a:t>
              </a:r>
            </a:p>
            <a:p>
              <a:pPr marL="0" marR="0" lvl="0" indent="0" algn="ctr" defTabSz="10668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окончании и о переходе в другие</a:t>
              </a:r>
            </a:p>
            <a:p>
              <a:pPr marL="0" marR="0" lvl="0" indent="0" algn="ctr" defTabSz="10668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школы в начальном, гимназическом</a:t>
              </a:r>
            </a:p>
            <a:p>
              <a:pPr marL="0" marR="0" lvl="0" indent="0" algn="ctr" defTabSz="10668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и лицейском образовании</a:t>
              </a:r>
              <a:endPara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E5641BB6-1A6C-4F95-A9CB-B126957A43A7}"/>
              </a:ext>
            </a:extLst>
          </p:cNvPr>
          <p:cNvGrpSpPr/>
          <p:nvPr/>
        </p:nvGrpSpPr>
        <p:grpSpPr>
          <a:xfrm>
            <a:off x="1092628" y="1098896"/>
            <a:ext cx="3195779" cy="1410952"/>
            <a:chOff x="2681147" y="148293"/>
            <a:chExt cx="4294914" cy="2009864"/>
          </a:xfrm>
          <a:scene3d>
            <a:camera prst="orthographicFront"/>
            <a:lightRig rig="flat" dir="t"/>
          </a:scene3d>
        </p:grpSpPr>
        <p:sp>
          <p:nvSpPr>
            <p:cNvPr id="54" name="Прямоугольник: скругленные углы 53">
              <a:extLst>
                <a:ext uri="{FF2B5EF4-FFF2-40B4-BE49-F238E27FC236}">
                  <a16:creationId xmlns:a16="http://schemas.microsoft.com/office/drawing/2014/main" id="{B697D307-E9B2-46B1-B2E2-3319E19867E3}"/>
                </a:ext>
              </a:extLst>
            </p:cNvPr>
            <p:cNvSpPr/>
            <p:nvPr/>
          </p:nvSpPr>
          <p:spPr>
            <a:xfrm>
              <a:off x="2681147" y="148293"/>
              <a:ext cx="4294914" cy="2009864"/>
            </a:xfrm>
            <a:prstGeom prst="round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55" name="Прямоугольник: скругленные углы 4">
              <a:extLst>
                <a:ext uri="{FF2B5EF4-FFF2-40B4-BE49-F238E27FC236}">
                  <a16:creationId xmlns:a16="http://schemas.microsoft.com/office/drawing/2014/main" id="{3A0A2F7D-64AF-4116-BF37-B190F5CDF1A2}"/>
                </a:ext>
              </a:extLst>
            </p:cNvPr>
            <p:cNvSpPr txBox="1"/>
            <p:nvPr/>
          </p:nvSpPr>
          <p:spPr>
            <a:xfrm>
              <a:off x="2779260" y="246406"/>
              <a:ext cx="4098688" cy="1813638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Кодекс образования Республики</a:t>
              </a:r>
            </a:p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Молдова </a:t>
              </a:r>
            </a:p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№ 152/2014</a:t>
              </a:r>
              <a:endPara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00B3DAB4-7AE0-40DC-8265-81A9EA8A106C}"/>
              </a:ext>
            </a:extLst>
          </p:cNvPr>
          <p:cNvGrpSpPr/>
          <p:nvPr/>
        </p:nvGrpSpPr>
        <p:grpSpPr>
          <a:xfrm>
            <a:off x="7892244" y="1086928"/>
            <a:ext cx="3297880" cy="1391270"/>
            <a:chOff x="11582415" y="533392"/>
            <a:chExt cx="3617399" cy="1571247"/>
          </a:xfrm>
          <a:scene3d>
            <a:camera prst="orthographicFront"/>
            <a:lightRig rig="flat" dir="t"/>
          </a:scene3d>
        </p:grpSpPr>
        <p:sp>
          <p:nvSpPr>
            <p:cNvPr id="57" name="Прямоугольник: скругленные углы 56">
              <a:extLst>
                <a:ext uri="{FF2B5EF4-FFF2-40B4-BE49-F238E27FC236}">
                  <a16:creationId xmlns:a16="http://schemas.microsoft.com/office/drawing/2014/main" id="{4F9031B2-A505-42CD-9007-91DB51F2FB4D}"/>
                </a:ext>
              </a:extLst>
            </p:cNvPr>
            <p:cNvSpPr/>
            <p:nvPr/>
          </p:nvSpPr>
          <p:spPr>
            <a:xfrm>
              <a:off x="11582415" y="533392"/>
              <a:ext cx="3617399" cy="1571247"/>
            </a:xfrm>
            <a:prstGeom prst="round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58" name="Прямоугольник: скругленные углы 4">
              <a:extLst>
                <a:ext uri="{FF2B5EF4-FFF2-40B4-BE49-F238E27FC236}">
                  <a16:creationId xmlns:a16="http://schemas.microsoft.com/office/drawing/2014/main" id="{E7C88289-D1A5-45A1-BB31-A4E47DC0D770}"/>
                </a:ext>
              </a:extLst>
            </p:cNvPr>
            <p:cNvSpPr txBox="1"/>
            <p:nvPr/>
          </p:nvSpPr>
          <p:spPr>
            <a:xfrm>
              <a:off x="11659117" y="610094"/>
              <a:ext cx="3463995" cy="1417843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Трудовой кодекс Республики</a:t>
              </a:r>
            </a:p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Молдова</a:t>
              </a:r>
            </a:p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№ 154 от 28-03-2003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E50C2632-9AB9-42EC-AF1F-9241A9A15782}"/>
              </a:ext>
            </a:extLst>
          </p:cNvPr>
          <p:cNvSpPr txBox="1"/>
          <p:nvPr/>
        </p:nvSpPr>
        <p:spPr>
          <a:xfrm>
            <a:off x="1883787" y="328437"/>
            <a:ext cx="8830595" cy="55399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6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6">
                  <a:lumMod val="60000"/>
                  <a:lumOff val="40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wrap="square" rtlCol="0">
            <a:spAutoFit/>
          </a:bodyPr>
          <a:lstStyle/>
          <a:p>
            <a:r>
              <a:rPr lang="ru-RU" sz="3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Законодательная и нормативная база программы</a:t>
            </a:r>
            <a:endParaRPr lang="ru-MD" sz="3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090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74631B88-D8B6-424B-9D84-48D7B38CE6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1374644"/>
              </p:ext>
            </p:extLst>
          </p:nvPr>
        </p:nvGraphicFramePr>
        <p:xfrm>
          <a:off x="675860" y="1990863"/>
          <a:ext cx="9959009" cy="3873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8B05A17-E2DA-40D4-8068-132249A23AED}"/>
              </a:ext>
            </a:extLst>
          </p:cNvPr>
          <p:cNvSpPr/>
          <p:nvPr/>
        </p:nvSpPr>
        <p:spPr>
          <a:xfrm>
            <a:off x="2643809" y="725556"/>
            <a:ext cx="7881730" cy="79678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800" b="1" kern="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З</a:t>
            </a:r>
            <a:r>
              <a:rPr kumimoji="0" lang="ru-RU" sz="4800" b="1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адачи</a:t>
            </a:r>
            <a:endParaRPr kumimoji="0" lang="ru-RU" sz="4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617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324D9E8-BBE1-4808-AF63-A57424F4B2E2}"/>
              </a:ext>
            </a:extLst>
          </p:cNvPr>
          <p:cNvSpPr/>
          <p:nvPr/>
        </p:nvSpPr>
        <p:spPr>
          <a:xfrm>
            <a:off x="1403076" y="3539193"/>
            <a:ext cx="9193694" cy="2677656"/>
          </a:xfrm>
          <a:prstGeom prst="rect">
            <a:avLst/>
          </a:prstGeom>
          <a:solidFill>
            <a:schemeClr val="accent3"/>
          </a:solidFill>
          <a:ln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lvl="0" defTabSz="914400"/>
            <a:r>
              <a:rPr lang="ru-MD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 Образовательная среда и учебный процесс</a:t>
            </a:r>
          </a:p>
          <a:p>
            <a:pPr lvl="0" defTabSz="914400"/>
            <a:r>
              <a:rPr lang="ru-MD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Развитие кадрового потенциала</a:t>
            </a:r>
          </a:p>
          <a:p>
            <a:pPr lvl="0" defTabSz="914400"/>
            <a:r>
              <a:rPr lang="ru-MD" sz="2800" kern="0" dirty="0">
                <a:latin typeface="Times New Roman" panose="02020603050405020304" pitchFamily="18" charset="0"/>
                <a:cs typeface="Times New Roman" pitchFamily="18" charset="0"/>
              </a:rPr>
              <a:t>3. Взаимодействие с местным сообществом и партнёрами</a:t>
            </a:r>
            <a:endParaRPr lang="ru-MD" sz="2800" dirty="0">
              <a:latin typeface="Times New Roman" panose="02020603050405020304" pitchFamily="18" charset="0"/>
            </a:endParaRPr>
          </a:p>
          <a:p>
            <a:pPr lvl="0" defTabSz="914400"/>
            <a:r>
              <a:rPr lang="ru-MD" sz="2800" kern="0" dirty="0">
                <a:latin typeface="Times New Roman" panose="02020603050405020304" pitchFamily="18" charset="0"/>
                <a:cs typeface="Times New Roman" pitchFamily="18" charset="0"/>
              </a:rPr>
              <a:t>4. Организация внеклассной и неформальной деятельности</a:t>
            </a:r>
          </a:p>
          <a:p>
            <a:pPr lvl="0" defTabSz="914400"/>
            <a:r>
              <a:rPr lang="ru-MD" sz="2800" kern="0" dirty="0">
                <a:latin typeface="Times New Roman" panose="02020603050405020304" pitchFamily="18" charset="0"/>
                <a:cs typeface="Times New Roman" pitchFamily="18" charset="0"/>
              </a:rPr>
              <a:t>5. Финансово- материальное обеспечение</a:t>
            </a:r>
          </a:p>
          <a:p>
            <a:pPr lvl="0" defTabSz="914400"/>
            <a:r>
              <a:rPr kumimoji="0" lang="ru-MD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itchFamily="18" charset="0"/>
              </a:rPr>
              <a:t> </a:t>
            </a:r>
            <a:endParaRPr kumimoji="0" lang="ru-RU" sz="2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9D0C885-ED1E-41FC-86EA-8DED21E00F05}"/>
              </a:ext>
            </a:extLst>
          </p:cNvPr>
          <p:cNvSpPr/>
          <p:nvPr/>
        </p:nvSpPr>
        <p:spPr>
          <a:xfrm>
            <a:off x="2108753" y="864179"/>
            <a:ext cx="8160026" cy="58477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lvl="0" defTabSz="914400"/>
            <a:r>
              <a:rPr lang="ru-RU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SWOT</a:t>
            </a: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 анализ деятельности учреждения</a:t>
            </a:r>
            <a:endParaRPr kumimoji="0" lang="ru-RU" sz="3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206EF1D-9DAA-455D-8319-95E3E849C1DA}"/>
              </a:ext>
            </a:extLst>
          </p:cNvPr>
          <p:cNvSpPr/>
          <p:nvPr/>
        </p:nvSpPr>
        <p:spPr>
          <a:xfrm>
            <a:off x="2514602" y="2017020"/>
            <a:ext cx="7348328" cy="95410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latin typeface="Times New Roman" pitchFamily="18" charset="0"/>
                <a:cs typeface="Times New Roman" pitchFamily="18" charset="0"/>
              </a:rPr>
              <a:t>Анализ </a:t>
            </a:r>
            <a:r>
              <a:rPr lang="ro-RO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SWOT</a:t>
            </a:r>
            <a:r>
              <a:rPr lang="ro-RO" sz="2800" b="1" dirty="0">
                <a:latin typeface="Times New Roman" pitchFamily="18" charset="0"/>
                <a:cs typeface="Times New Roman" pitchFamily="18" charset="0"/>
              </a:rPr>
              <a:t> был составлен по следующим н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o-RO" sz="2800" b="1" dirty="0">
                <a:latin typeface="Times New Roman" pitchFamily="18" charset="0"/>
                <a:cs typeface="Times New Roman" pitchFamily="18" charset="0"/>
              </a:rPr>
              <a:t>правлениям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070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4">
            <a:extLst>
              <a:ext uri="{FF2B5EF4-FFF2-40B4-BE49-F238E27FC236}">
                <a16:creationId xmlns:a16="http://schemas.microsoft.com/office/drawing/2014/main" id="{A048597E-33B7-4956-926B-C8091900D4A7}"/>
              </a:ext>
            </a:extLst>
          </p:cNvPr>
          <p:cNvSpPr txBox="1"/>
          <p:nvPr/>
        </p:nvSpPr>
        <p:spPr>
          <a:xfrm>
            <a:off x="4159772" y="-784906"/>
            <a:ext cx="3872456" cy="2422815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marL="0" marR="0" lvl="0" indent="0" algn="ctr" defTabSz="1422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E86A681-06AE-4B92-A4B7-96FF230BD1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32BB622-ED19-4EBC-A7F6-BA749F64D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9" y="1319415"/>
            <a:ext cx="2866687" cy="553520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0350511-3F49-4094-9E8A-0BC316234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804" y="1339364"/>
            <a:ext cx="2898196" cy="534327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8608CF9-D55E-46AB-A6AA-022767C80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112" y="1256684"/>
            <a:ext cx="3258843" cy="560131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47ADBB4-EAB7-461A-A07B-9D1DA05ED4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4643" y="1511345"/>
            <a:ext cx="2898196" cy="5346655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6D6DEE8-D97A-449C-8177-4B60B54B7FE7}"/>
              </a:ext>
            </a:extLst>
          </p:cNvPr>
          <p:cNvSpPr/>
          <p:nvPr/>
        </p:nvSpPr>
        <p:spPr>
          <a:xfrm>
            <a:off x="1938129" y="426501"/>
            <a:ext cx="8816009" cy="6369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Образовательная среда и учебный процесс</a:t>
            </a:r>
            <a:endParaRPr lang="ru-M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95C86541-97BA-4495-982C-58AD124D822C}"/>
              </a:ext>
            </a:extLst>
          </p:cNvPr>
          <p:cNvGrpSpPr/>
          <p:nvPr/>
        </p:nvGrpSpPr>
        <p:grpSpPr>
          <a:xfrm>
            <a:off x="89070" y="1288134"/>
            <a:ext cx="2874715" cy="692031"/>
            <a:chOff x="152395" y="304800"/>
            <a:chExt cx="3791183" cy="606934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8F91FA67-E96F-4CA7-AF77-CA4296B547D9}"/>
                </a:ext>
              </a:extLst>
            </p:cNvPr>
            <p:cNvSpPr/>
            <p:nvPr/>
          </p:nvSpPr>
          <p:spPr>
            <a:xfrm>
              <a:off x="152395" y="304800"/>
              <a:ext cx="3791183" cy="606934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4BACC6">
                    <a:shade val="51000"/>
                    <a:satMod val="130000"/>
                  </a:srgbClr>
                </a:gs>
                <a:gs pos="80000">
                  <a:srgbClr val="4BACC6">
                    <a:shade val="93000"/>
                    <a:satMod val="130000"/>
                  </a:srgbClr>
                </a:gs>
                <a:gs pos="100000">
                  <a:srgbClr val="4BACC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19" name="Прямоугольник: скругленные углы 4">
              <a:extLst>
                <a:ext uri="{FF2B5EF4-FFF2-40B4-BE49-F238E27FC236}">
                  <a16:creationId xmlns:a16="http://schemas.microsoft.com/office/drawing/2014/main" id="{7DFF8405-0B64-48A0-9E84-FA3FBBC27851}"/>
                </a:ext>
              </a:extLst>
            </p:cNvPr>
            <p:cNvSpPr txBox="1"/>
            <p:nvPr/>
          </p:nvSpPr>
          <p:spPr>
            <a:xfrm>
              <a:off x="170171" y="322576"/>
              <a:ext cx="3755631" cy="5713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60960" tIns="45720" rIns="60960" bIns="45720" numCol="1" spcCol="1270" anchor="ctr" anchorCtr="0">
              <a:noAutofit/>
            </a:bodyPr>
            <a:lstStyle/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СИЛЬНЫЕ СТОРОНЫ</a:t>
              </a:r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0BDC714-3D97-4D0B-BF68-EFA98E910A45}"/>
              </a:ext>
            </a:extLst>
          </p:cNvPr>
          <p:cNvGrpSpPr/>
          <p:nvPr/>
        </p:nvGrpSpPr>
        <p:grpSpPr>
          <a:xfrm>
            <a:off x="3237646" y="1308402"/>
            <a:ext cx="2839400" cy="660749"/>
            <a:chOff x="4571988" y="273064"/>
            <a:chExt cx="3521757" cy="592863"/>
          </a:xfrm>
        </p:grpSpPr>
        <p:sp>
          <p:nvSpPr>
            <p:cNvPr id="21" name="Прямоугольник: скругленные углы 20">
              <a:extLst>
                <a:ext uri="{FF2B5EF4-FFF2-40B4-BE49-F238E27FC236}">
                  <a16:creationId xmlns:a16="http://schemas.microsoft.com/office/drawing/2014/main" id="{A7A90BEF-4641-4C65-A8C7-8C721130CE54}"/>
                </a:ext>
              </a:extLst>
            </p:cNvPr>
            <p:cNvSpPr/>
            <p:nvPr/>
          </p:nvSpPr>
          <p:spPr>
            <a:xfrm>
              <a:off x="4571988" y="273064"/>
              <a:ext cx="3521757" cy="592863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22" name="Прямоугольник: скругленные углы 4">
              <a:extLst>
                <a:ext uri="{FF2B5EF4-FFF2-40B4-BE49-F238E27FC236}">
                  <a16:creationId xmlns:a16="http://schemas.microsoft.com/office/drawing/2014/main" id="{81C66073-22AC-4EB2-98D1-3F3D02EAB6D3}"/>
                </a:ext>
              </a:extLst>
            </p:cNvPr>
            <p:cNvSpPr txBox="1"/>
            <p:nvPr/>
          </p:nvSpPr>
          <p:spPr>
            <a:xfrm>
              <a:off x="4589352" y="290428"/>
              <a:ext cx="3487029" cy="558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55880" tIns="41910" rIns="55880" bIns="41910" numCol="1" spcCol="1270" anchor="ctr" anchorCtr="0">
              <a:noAutofit/>
            </a:bodyPr>
            <a:lstStyle/>
            <a:p>
              <a:pPr marL="0" marR="0" lvl="0" indent="0" algn="ctr" defTabSz="9779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СЛАБЫЕ СТОРОНЫ</a:t>
              </a:r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80443CE2-95D2-4274-9EC5-99E29D4DC3AE}"/>
              </a:ext>
            </a:extLst>
          </p:cNvPr>
          <p:cNvGrpSpPr/>
          <p:nvPr/>
        </p:nvGrpSpPr>
        <p:grpSpPr>
          <a:xfrm>
            <a:off x="6375355" y="1288134"/>
            <a:ext cx="2775670" cy="692030"/>
            <a:chOff x="8915414" y="228601"/>
            <a:chExt cx="3486996" cy="615229"/>
          </a:xfrm>
        </p:grpSpPr>
        <p:sp>
          <p:nvSpPr>
            <p:cNvPr id="24" name="Прямоугольник: скругленные углы 23">
              <a:extLst>
                <a:ext uri="{FF2B5EF4-FFF2-40B4-BE49-F238E27FC236}">
                  <a16:creationId xmlns:a16="http://schemas.microsoft.com/office/drawing/2014/main" id="{F00821DF-858A-4B09-9FB2-547EF838963A}"/>
                </a:ext>
              </a:extLst>
            </p:cNvPr>
            <p:cNvSpPr/>
            <p:nvPr/>
          </p:nvSpPr>
          <p:spPr>
            <a:xfrm>
              <a:off x="8915414" y="228601"/>
              <a:ext cx="3486996" cy="615229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9BBB59">
                    <a:shade val="51000"/>
                    <a:satMod val="130000"/>
                  </a:srgbClr>
                </a:gs>
                <a:gs pos="80000">
                  <a:srgbClr val="9BBB59">
                    <a:shade val="93000"/>
                    <a:satMod val="130000"/>
                  </a:srgbClr>
                </a:gs>
                <a:gs pos="100000">
                  <a:srgbClr val="9BBB59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25" name="Прямоугольник: скругленные углы 4">
              <a:extLst>
                <a:ext uri="{FF2B5EF4-FFF2-40B4-BE49-F238E27FC236}">
                  <a16:creationId xmlns:a16="http://schemas.microsoft.com/office/drawing/2014/main" id="{AE15CE7E-4856-4B3C-9AC0-A3622293B13A}"/>
                </a:ext>
              </a:extLst>
            </p:cNvPr>
            <p:cNvSpPr txBox="1"/>
            <p:nvPr/>
          </p:nvSpPr>
          <p:spPr>
            <a:xfrm>
              <a:off x="8933433" y="246620"/>
              <a:ext cx="3450958" cy="5791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55880" tIns="41910" rIns="55880" bIns="41910" numCol="1" spcCol="1270" anchor="ctr" anchorCtr="0">
              <a:noAutofit/>
            </a:bodyPr>
            <a:lstStyle/>
            <a:p>
              <a:pPr marL="0" marR="0" lvl="0" indent="0" algn="ctr" defTabSz="9779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ВОЗМОЖНОСТИ</a:t>
              </a:r>
              <a:endPara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8AC70B55-DE9B-481D-B2E9-EB8D450323A1}"/>
              </a:ext>
            </a:extLst>
          </p:cNvPr>
          <p:cNvGrpSpPr/>
          <p:nvPr/>
        </p:nvGrpSpPr>
        <p:grpSpPr>
          <a:xfrm>
            <a:off x="9340313" y="1290580"/>
            <a:ext cx="2749138" cy="659218"/>
            <a:chOff x="13258791" y="304798"/>
            <a:chExt cx="3394463" cy="635103"/>
          </a:xfrm>
        </p:grpSpPr>
        <p:sp>
          <p:nvSpPr>
            <p:cNvPr id="27" name="Прямоугольник: скругленные углы 26">
              <a:extLst>
                <a:ext uri="{FF2B5EF4-FFF2-40B4-BE49-F238E27FC236}">
                  <a16:creationId xmlns:a16="http://schemas.microsoft.com/office/drawing/2014/main" id="{BC98F8BB-8225-4C13-870B-4D77CCC8ACC2}"/>
                </a:ext>
              </a:extLst>
            </p:cNvPr>
            <p:cNvSpPr/>
            <p:nvPr/>
          </p:nvSpPr>
          <p:spPr>
            <a:xfrm>
              <a:off x="13258791" y="304798"/>
              <a:ext cx="3394463" cy="635103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28" name="Прямоугольник: скругленные углы 4">
              <a:extLst>
                <a:ext uri="{FF2B5EF4-FFF2-40B4-BE49-F238E27FC236}">
                  <a16:creationId xmlns:a16="http://schemas.microsoft.com/office/drawing/2014/main" id="{D3DBFCD9-A3F2-4A94-AA13-594624A19F08}"/>
                </a:ext>
              </a:extLst>
            </p:cNvPr>
            <p:cNvSpPr txBox="1"/>
            <p:nvPr/>
          </p:nvSpPr>
          <p:spPr>
            <a:xfrm>
              <a:off x="13277393" y="323400"/>
              <a:ext cx="3357259" cy="5978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55880" tIns="41910" rIns="55880" bIns="41910" numCol="1" spcCol="1270" anchor="ctr" anchorCtr="0">
              <a:noAutofit/>
            </a:bodyPr>
            <a:lstStyle/>
            <a:p>
              <a:pPr marL="0" marR="0" lvl="0" indent="0" algn="ctr" defTabSz="9779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УГРОЗЫ</a:t>
              </a: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CF00F10-01E2-4973-92FA-B3DB4B086B8F}"/>
              </a:ext>
            </a:extLst>
          </p:cNvPr>
          <p:cNvSpPr/>
          <p:nvPr/>
        </p:nvSpPr>
        <p:spPr>
          <a:xfrm>
            <a:off x="363357" y="2144637"/>
            <a:ext cx="25976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Все учебные дисциплины преподаются специалистами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80789F6-4A42-4AE1-AAE4-461370A84839}"/>
              </a:ext>
            </a:extLst>
          </p:cNvPr>
          <p:cNvSpPr/>
          <p:nvPr/>
        </p:nvSpPr>
        <p:spPr>
          <a:xfrm>
            <a:off x="108042" y="2088477"/>
            <a:ext cx="2852989" cy="103349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Все учебные дисциплины преподаются специалистами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39704091-A089-4B74-AA3D-8403E1A03730}"/>
              </a:ext>
            </a:extLst>
          </p:cNvPr>
          <p:cNvSpPr/>
          <p:nvPr/>
        </p:nvSpPr>
        <p:spPr>
          <a:xfrm>
            <a:off x="102329" y="3214809"/>
            <a:ext cx="2866687" cy="11247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Наличие Ресурсного центра в лицее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6376F97F-17CC-4925-8303-60251204D2A7}"/>
              </a:ext>
            </a:extLst>
          </p:cNvPr>
          <p:cNvSpPr/>
          <p:nvPr/>
        </p:nvSpPr>
        <p:spPr>
          <a:xfrm>
            <a:off x="94343" y="4432448"/>
            <a:ext cx="2866687" cy="112479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Педагоги оснащены персональными ноутбуками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E2CF24E5-FBF3-4BCC-8F4A-D5A02EE8E9ED}"/>
              </a:ext>
            </a:extLst>
          </p:cNvPr>
          <p:cNvSpPr/>
          <p:nvPr/>
        </p:nvSpPr>
        <p:spPr>
          <a:xfrm>
            <a:off x="83619" y="5674899"/>
            <a:ext cx="2866687" cy="111699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Внедрение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технологий в учебный процесс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00BFCFE-8A76-4735-B65D-ED68E5489514}"/>
              </a:ext>
            </a:extLst>
          </p:cNvPr>
          <p:cNvSpPr/>
          <p:nvPr/>
        </p:nvSpPr>
        <p:spPr>
          <a:xfrm>
            <a:off x="3197804" y="2088477"/>
            <a:ext cx="2866687" cy="103349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sz="19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Слабая работа с одаренными учениками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57FA29A3-217B-49D9-BCA1-5D2442E2EA73}"/>
              </a:ext>
            </a:extLst>
          </p:cNvPr>
          <p:cNvSpPr/>
          <p:nvPr/>
        </p:nvSpPr>
        <p:spPr>
          <a:xfrm>
            <a:off x="3197804" y="3214809"/>
            <a:ext cx="2866687" cy="11247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Низкая результативность на региональных и республиканских олимпиадах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AA312D0A-9F51-4FB6-B11C-907030867749}"/>
              </a:ext>
            </a:extLst>
          </p:cNvPr>
          <p:cNvSpPr/>
          <p:nvPr/>
        </p:nvSpPr>
        <p:spPr>
          <a:xfrm>
            <a:off x="3197804" y="4424801"/>
            <a:ext cx="2866687" cy="112479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Отрицательная динамика  результатов УВП  начального звена и гимназического цикла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F98DA51-FDF3-4CD8-A9FB-D002A8649506}"/>
              </a:ext>
            </a:extLst>
          </p:cNvPr>
          <p:cNvSpPr/>
          <p:nvPr/>
        </p:nvSpPr>
        <p:spPr>
          <a:xfrm>
            <a:off x="3196360" y="5677168"/>
            <a:ext cx="2866687" cy="112479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процента учащихся с низкой учебной мотивацией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1EEA730E-3795-4E92-8C19-B24F6CE7DE42}"/>
              </a:ext>
            </a:extLst>
          </p:cNvPr>
          <p:cNvSpPr/>
          <p:nvPr/>
        </p:nvSpPr>
        <p:spPr>
          <a:xfrm>
            <a:off x="6139631" y="2088477"/>
            <a:ext cx="3122038" cy="103349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Участие учащихся и педагогов в олимпиадах, конкурсах и конференциях разных уровней.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8623CF4-DFE6-4732-A76E-41BF2157A971}"/>
              </a:ext>
            </a:extLst>
          </p:cNvPr>
          <p:cNvSpPr/>
          <p:nvPr/>
        </p:nvSpPr>
        <p:spPr>
          <a:xfrm>
            <a:off x="6139631" y="3230280"/>
            <a:ext cx="3122038" cy="112479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Укрепление системы наставничества для адаптации и роста молодых специалистов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65AD15D7-D461-4E6C-916E-461EA8A7CBE7}"/>
              </a:ext>
            </a:extLst>
          </p:cNvPr>
          <p:cNvSpPr/>
          <p:nvPr/>
        </p:nvSpPr>
        <p:spPr>
          <a:xfrm>
            <a:off x="6163151" y="4432447"/>
            <a:ext cx="3098518" cy="112479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Активное включение в различные социально-образовательные проекты на разных уровнях.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DC5A944B-F4F5-4D06-A4F0-00F78138317D}"/>
              </a:ext>
            </a:extLst>
          </p:cNvPr>
          <p:cNvSpPr/>
          <p:nvPr/>
        </p:nvSpPr>
        <p:spPr>
          <a:xfrm>
            <a:off x="9332327" y="2088478"/>
            <a:ext cx="2717667" cy="103349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имиджа учебного заведения.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6780C056-138F-4E6D-B62B-B328143A3706}"/>
              </a:ext>
            </a:extLst>
          </p:cNvPr>
          <p:cNvSpPr/>
          <p:nvPr/>
        </p:nvSpPr>
        <p:spPr>
          <a:xfrm>
            <a:off x="9332326" y="3240378"/>
            <a:ext cx="2717667" cy="11247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Низкая мотивация к обучению. 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545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4">
            <a:extLst>
              <a:ext uri="{FF2B5EF4-FFF2-40B4-BE49-F238E27FC236}">
                <a16:creationId xmlns:a16="http://schemas.microsoft.com/office/drawing/2014/main" id="{A048597E-33B7-4956-926B-C8091900D4A7}"/>
              </a:ext>
            </a:extLst>
          </p:cNvPr>
          <p:cNvSpPr txBox="1"/>
          <p:nvPr/>
        </p:nvSpPr>
        <p:spPr>
          <a:xfrm>
            <a:off x="4159772" y="-784906"/>
            <a:ext cx="3872456" cy="2422815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marL="0" marR="0" lvl="0" indent="0" algn="ctr" defTabSz="1422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E86A681-06AE-4B92-A4B7-96FF230BD1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32BB622-ED19-4EBC-A7F6-BA749F64D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9" y="1319415"/>
            <a:ext cx="3075077" cy="553520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0350511-3F49-4094-9E8A-0BC316234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626" y="1339364"/>
            <a:ext cx="2918374" cy="551525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8608CF9-D55E-46AB-A6AA-022767C80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506" y="595935"/>
            <a:ext cx="3251627" cy="626206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47ADBB4-EAB7-461A-A07B-9D1DA05ED4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4889" y="1498639"/>
            <a:ext cx="2858121" cy="5346655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6D6DEE8-D97A-449C-8177-4B60B54B7FE7}"/>
              </a:ext>
            </a:extLst>
          </p:cNvPr>
          <p:cNvSpPr/>
          <p:nvPr/>
        </p:nvSpPr>
        <p:spPr>
          <a:xfrm>
            <a:off x="2969016" y="442647"/>
            <a:ext cx="6956584" cy="6369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Развитие кадрового потенциала</a:t>
            </a:r>
            <a:endParaRPr lang="ru-M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95C86541-97BA-4495-982C-58AD124D822C}"/>
              </a:ext>
            </a:extLst>
          </p:cNvPr>
          <p:cNvGrpSpPr/>
          <p:nvPr/>
        </p:nvGrpSpPr>
        <p:grpSpPr>
          <a:xfrm>
            <a:off x="89070" y="1288134"/>
            <a:ext cx="2874715" cy="692031"/>
            <a:chOff x="152395" y="304800"/>
            <a:chExt cx="3791183" cy="606934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8F91FA67-E96F-4CA7-AF77-CA4296B547D9}"/>
                </a:ext>
              </a:extLst>
            </p:cNvPr>
            <p:cNvSpPr/>
            <p:nvPr/>
          </p:nvSpPr>
          <p:spPr>
            <a:xfrm>
              <a:off x="152395" y="304800"/>
              <a:ext cx="3791183" cy="606934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4BACC6">
                    <a:shade val="51000"/>
                    <a:satMod val="130000"/>
                  </a:srgbClr>
                </a:gs>
                <a:gs pos="80000">
                  <a:srgbClr val="4BACC6">
                    <a:shade val="93000"/>
                    <a:satMod val="130000"/>
                  </a:srgbClr>
                </a:gs>
                <a:gs pos="100000">
                  <a:srgbClr val="4BACC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19" name="Прямоугольник: скругленные углы 4">
              <a:extLst>
                <a:ext uri="{FF2B5EF4-FFF2-40B4-BE49-F238E27FC236}">
                  <a16:creationId xmlns:a16="http://schemas.microsoft.com/office/drawing/2014/main" id="{7DFF8405-0B64-48A0-9E84-FA3FBBC27851}"/>
                </a:ext>
              </a:extLst>
            </p:cNvPr>
            <p:cNvSpPr txBox="1"/>
            <p:nvPr/>
          </p:nvSpPr>
          <p:spPr>
            <a:xfrm>
              <a:off x="170171" y="322576"/>
              <a:ext cx="3755631" cy="5713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60960" tIns="45720" rIns="60960" bIns="45720" numCol="1" spcCol="1270" anchor="ctr" anchorCtr="0">
              <a:noAutofit/>
            </a:bodyPr>
            <a:lstStyle/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СИЛЬНЫЕ СТОРОНЫ</a:t>
              </a:r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0BDC714-3D97-4D0B-BF68-EFA98E910A45}"/>
              </a:ext>
            </a:extLst>
          </p:cNvPr>
          <p:cNvGrpSpPr/>
          <p:nvPr/>
        </p:nvGrpSpPr>
        <p:grpSpPr>
          <a:xfrm>
            <a:off x="3237646" y="1308402"/>
            <a:ext cx="2839400" cy="660749"/>
            <a:chOff x="4571988" y="273064"/>
            <a:chExt cx="3521757" cy="592863"/>
          </a:xfrm>
        </p:grpSpPr>
        <p:sp>
          <p:nvSpPr>
            <p:cNvPr id="21" name="Прямоугольник: скругленные углы 20">
              <a:extLst>
                <a:ext uri="{FF2B5EF4-FFF2-40B4-BE49-F238E27FC236}">
                  <a16:creationId xmlns:a16="http://schemas.microsoft.com/office/drawing/2014/main" id="{A7A90BEF-4641-4C65-A8C7-8C721130CE54}"/>
                </a:ext>
              </a:extLst>
            </p:cNvPr>
            <p:cNvSpPr/>
            <p:nvPr/>
          </p:nvSpPr>
          <p:spPr>
            <a:xfrm>
              <a:off x="4571988" y="273064"/>
              <a:ext cx="3521757" cy="592863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22" name="Прямоугольник: скругленные углы 4">
              <a:extLst>
                <a:ext uri="{FF2B5EF4-FFF2-40B4-BE49-F238E27FC236}">
                  <a16:creationId xmlns:a16="http://schemas.microsoft.com/office/drawing/2014/main" id="{81C66073-22AC-4EB2-98D1-3F3D02EAB6D3}"/>
                </a:ext>
              </a:extLst>
            </p:cNvPr>
            <p:cNvSpPr txBox="1"/>
            <p:nvPr/>
          </p:nvSpPr>
          <p:spPr>
            <a:xfrm>
              <a:off x="4589352" y="290428"/>
              <a:ext cx="3487029" cy="558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55880" tIns="41910" rIns="55880" bIns="41910" numCol="1" spcCol="1270" anchor="ctr" anchorCtr="0">
              <a:noAutofit/>
            </a:bodyPr>
            <a:lstStyle/>
            <a:p>
              <a:pPr marL="0" marR="0" lvl="0" indent="0" algn="ctr" defTabSz="9779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СЛАБЫЕ СТОРОНЫ</a:t>
              </a:r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80443CE2-95D2-4274-9EC5-99E29D4DC3AE}"/>
              </a:ext>
            </a:extLst>
          </p:cNvPr>
          <p:cNvGrpSpPr/>
          <p:nvPr/>
        </p:nvGrpSpPr>
        <p:grpSpPr>
          <a:xfrm>
            <a:off x="6375355" y="1288134"/>
            <a:ext cx="2775670" cy="692030"/>
            <a:chOff x="8915414" y="228601"/>
            <a:chExt cx="3486996" cy="615229"/>
          </a:xfrm>
        </p:grpSpPr>
        <p:sp>
          <p:nvSpPr>
            <p:cNvPr id="24" name="Прямоугольник: скругленные углы 23">
              <a:extLst>
                <a:ext uri="{FF2B5EF4-FFF2-40B4-BE49-F238E27FC236}">
                  <a16:creationId xmlns:a16="http://schemas.microsoft.com/office/drawing/2014/main" id="{F00821DF-858A-4B09-9FB2-547EF838963A}"/>
                </a:ext>
              </a:extLst>
            </p:cNvPr>
            <p:cNvSpPr/>
            <p:nvPr/>
          </p:nvSpPr>
          <p:spPr>
            <a:xfrm>
              <a:off x="8915414" y="228601"/>
              <a:ext cx="3486996" cy="615229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9BBB59">
                    <a:shade val="51000"/>
                    <a:satMod val="130000"/>
                  </a:srgbClr>
                </a:gs>
                <a:gs pos="80000">
                  <a:srgbClr val="9BBB59">
                    <a:shade val="93000"/>
                    <a:satMod val="130000"/>
                  </a:srgbClr>
                </a:gs>
                <a:gs pos="100000">
                  <a:srgbClr val="9BBB59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25" name="Прямоугольник: скругленные углы 4">
              <a:extLst>
                <a:ext uri="{FF2B5EF4-FFF2-40B4-BE49-F238E27FC236}">
                  <a16:creationId xmlns:a16="http://schemas.microsoft.com/office/drawing/2014/main" id="{AE15CE7E-4856-4B3C-9AC0-A3622293B13A}"/>
                </a:ext>
              </a:extLst>
            </p:cNvPr>
            <p:cNvSpPr txBox="1"/>
            <p:nvPr/>
          </p:nvSpPr>
          <p:spPr>
            <a:xfrm>
              <a:off x="8933433" y="246620"/>
              <a:ext cx="3450958" cy="5791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55880" tIns="41910" rIns="55880" bIns="41910" numCol="1" spcCol="1270" anchor="ctr" anchorCtr="0">
              <a:noAutofit/>
            </a:bodyPr>
            <a:lstStyle/>
            <a:p>
              <a:pPr marL="0" marR="0" lvl="0" indent="0" algn="ctr" defTabSz="9779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ВОЗМОЖНОСТИ</a:t>
              </a:r>
              <a:endPara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8AC70B55-DE9B-481D-B2E9-EB8D450323A1}"/>
              </a:ext>
            </a:extLst>
          </p:cNvPr>
          <p:cNvGrpSpPr/>
          <p:nvPr/>
        </p:nvGrpSpPr>
        <p:grpSpPr>
          <a:xfrm>
            <a:off x="9340313" y="1290580"/>
            <a:ext cx="2749138" cy="659218"/>
            <a:chOff x="13258791" y="304798"/>
            <a:chExt cx="3394463" cy="635103"/>
          </a:xfrm>
        </p:grpSpPr>
        <p:sp>
          <p:nvSpPr>
            <p:cNvPr id="27" name="Прямоугольник: скругленные углы 26">
              <a:extLst>
                <a:ext uri="{FF2B5EF4-FFF2-40B4-BE49-F238E27FC236}">
                  <a16:creationId xmlns:a16="http://schemas.microsoft.com/office/drawing/2014/main" id="{BC98F8BB-8225-4C13-870B-4D77CCC8ACC2}"/>
                </a:ext>
              </a:extLst>
            </p:cNvPr>
            <p:cNvSpPr/>
            <p:nvPr/>
          </p:nvSpPr>
          <p:spPr>
            <a:xfrm>
              <a:off x="13258791" y="304798"/>
              <a:ext cx="3394463" cy="635103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28" name="Прямоугольник: скругленные углы 4">
              <a:extLst>
                <a:ext uri="{FF2B5EF4-FFF2-40B4-BE49-F238E27FC236}">
                  <a16:creationId xmlns:a16="http://schemas.microsoft.com/office/drawing/2014/main" id="{D3DBFCD9-A3F2-4A94-AA13-594624A19F08}"/>
                </a:ext>
              </a:extLst>
            </p:cNvPr>
            <p:cNvSpPr txBox="1"/>
            <p:nvPr/>
          </p:nvSpPr>
          <p:spPr>
            <a:xfrm>
              <a:off x="13277393" y="323400"/>
              <a:ext cx="3357259" cy="5978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55880" tIns="41910" rIns="55880" bIns="41910" numCol="1" spcCol="1270" anchor="ctr" anchorCtr="0">
              <a:noAutofit/>
            </a:bodyPr>
            <a:lstStyle/>
            <a:p>
              <a:pPr marL="0" marR="0" lvl="0" indent="0" algn="ctr" defTabSz="9779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УГРОЗЫ</a:t>
              </a: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CF00F10-01E2-4973-92FA-B3DB4B086B8F}"/>
              </a:ext>
            </a:extLst>
          </p:cNvPr>
          <p:cNvSpPr/>
          <p:nvPr/>
        </p:nvSpPr>
        <p:spPr>
          <a:xfrm>
            <a:off x="363357" y="2144637"/>
            <a:ext cx="25976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Все учебные дисциплины преподаются специалистами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80789F6-4A42-4AE1-AAE4-461370A84839}"/>
              </a:ext>
            </a:extLst>
          </p:cNvPr>
          <p:cNvSpPr/>
          <p:nvPr/>
        </p:nvSpPr>
        <p:spPr>
          <a:xfrm>
            <a:off x="0" y="2088477"/>
            <a:ext cx="2977002" cy="103349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Гимназия </a:t>
            </a:r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укомплектован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педагогическими кадрами. 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39704091-A089-4B74-AA3D-8403E1A03730}"/>
              </a:ext>
            </a:extLst>
          </p:cNvPr>
          <p:cNvSpPr/>
          <p:nvPr/>
        </p:nvSpPr>
        <p:spPr>
          <a:xfrm>
            <a:off x="102329" y="3214809"/>
            <a:ext cx="2866687" cy="11247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педагогов имеют высшее образование. 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6376F97F-17CC-4925-8303-60251204D2A7}"/>
              </a:ext>
            </a:extLst>
          </p:cNvPr>
          <p:cNvSpPr/>
          <p:nvPr/>
        </p:nvSpPr>
        <p:spPr>
          <a:xfrm>
            <a:off x="94343" y="4432448"/>
            <a:ext cx="2866687" cy="112479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Работоспособный, педагогический коллектив.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E2CF24E5-FBF3-4BCC-8F4A-D5A02EE8E9ED}"/>
              </a:ext>
            </a:extLst>
          </p:cNvPr>
          <p:cNvSpPr/>
          <p:nvPr/>
        </p:nvSpPr>
        <p:spPr>
          <a:xfrm>
            <a:off x="83619" y="5674899"/>
            <a:ext cx="2866687" cy="111699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Готовность некоторых педагогов к повышению квалификации. 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00BFCFE-8A76-4735-B65D-ED68E5489514}"/>
              </a:ext>
            </a:extLst>
          </p:cNvPr>
          <p:cNvSpPr/>
          <p:nvPr/>
        </p:nvSpPr>
        <p:spPr>
          <a:xfrm>
            <a:off x="3186162" y="2061428"/>
            <a:ext cx="2866687" cy="103349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Слабая активность в региональных и республиканских мероприятиях.</a:t>
            </a:r>
            <a:endParaRPr lang="ru-MD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57FA29A3-217B-49D9-BCA1-5D2442E2EA73}"/>
              </a:ext>
            </a:extLst>
          </p:cNvPr>
          <p:cNvSpPr/>
          <p:nvPr/>
        </p:nvSpPr>
        <p:spPr>
          <a:xfrm>
            <a:off x="3197804" y="3214809"/>
            <a:ext cx="2866687" cy="11247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Перегрузка учащихся, занятых во внеурочной деятельности.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1EEA730E-3795-4E92-8C19-B24F6CE7DE42}"/>
              </a:ext>
            </a:extLst>
          </p:cNvPr>
          <p:cNvSpPr/>
          <p:nvPr/>
        </p:nvSpPr>
        <p:spPr>
          <a:xfrm>
            <a:off x="6139631" y="2088477"/>
            <a:ext cx="3122038" cy="103349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Обновление кадров через привлечение молодых специалистов.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8623CF4-DFE6-4732-A76E-41BF2157A971}"/>
              </a:ext>
            </a:extLst>
          </p:cNvPr>
          <p:cNvSpPr/>
          <p:nvPr/>
        </p:nvSpPr>
        <p:spPr>
          <a:xfrm>
            <a:off x="6120823" y="3213274"/>
            <a:ext cx="3122038" cy="112479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Выявление и мотивация учащихся к выбору педагогической профессии</a:t>
            </a:r>
            <a:r>
              <a:rPr lang="ru-RU" dirty="0"/>
              <a:t>.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65AD15D7-D461-4E6C-916E-461EA8A7CBE7}"/>
              </a:ext>
            </a:extLst>
          </p:cNvPr>
          <p:cNvSpPr/>
          <p:nvPr/>
        </p:nvSpPr>
        <p:spPr>
          <a:xfrm>
            <a:off x="6127511" y="4414654"/>
            <a:ext cx="3098518" cy="112479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Активизация работы с родителями по ЗОЖ.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DC5A944B-F4F5-4D06-A4F0-00F78138317D}"/>
              </a:ext>
            </a:extLst>
          </p:cNvPr>
          <p:cNvSpPr/>
          <p:nvPr/>
        </p:nvSpPr>
        <p:spPr>
          <a:xfrm>
            <a:off x="9332327" y="2088478"/>
            <a:ext cx="2717667" cy="103349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Низкий престиж профессии учителя.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6780C056-138F-4E6D-B62B-B328143A3706}"/>
              </a:ext>
            </a:extLst>
          </p:cNvPr>
          <p:cNvSpPr/>
          <p:nvPr/>
        </p:nvSpPr>
        <p:spPr>
          <a:xfrm>
            <a:off x="9324904" y="3213274"/>
            <a:ext cx="2749138" cy="11247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Сокращение числа учеников и классов ведёт к уменьшению штата.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B13CB481-E29B-47AE-A68D-F5BE3DE49CF4}"/>
              </a:ext>
            </a:extLst>
          </p:cNvPr>
          <p:cNvSpPr/>
          <p:nvPr/>
        </p:nvSpPr>
        <p:spPr>
          <a:xfrm>
            <a:off x="9314889" y="4414654"/>
            <a:ext cx="2866687" cy="112479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числа детей с особыми образовательными потребностями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(ООП). </a:t>
            </a:r>
          </a:p>
        </p:txBody>
      </p:sp>
    </p:spTree>
    <p:extLst>
      <p:ext uri="{BB962C8B-B14F-4D97-AF65-F5344CB8AC3E}">
        <p14:creationId xmlns:p14="http://schemas.microsoft.com/office/powerpoint/2010/main" val="2309460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4">
            <a:extLst>
              <a:ext uri="{FF2B5EF4-FFF2-40B4-BE49-F238E27FC236}">
                <a16:creationId xmlns:a16="http://schemas.microsoft.com/office/drawing/2014/main" id="{A048597E-33B7-4956-926B-C8091900D4A7}"/>
              </a:ext>
            </a:extLst>
          </p:cNvPr>
          <p:cNvSpPr txBox="1"/>
          <p:nvPr/>
        </p:nvSpPr>
        <p:spPr>
          <a:xfrm>
            <a:off x="4159772" y="-784906"/>
            <a:ext cx="3872456" cy="2422815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marL="0" marR="0" lvl="0" indent="0" algn="ctr" defTabSz="1422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E86A681-06AE-4B92-A4B7-96FF230BD1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32BB622-ED19-4EBC-A7F6-BA749F64D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9" y="1319415"/>
            <a:ext cx="3075077" cy="553520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0350511-3F49-4094-9E8A-0BC316234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626" y="1339364"/>
            <a:ext cx="2918374" cy="551525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8608CF9-D55E-46AB-A6AA-022767C80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506" y="595935"/>
            <a:ext cx="3251627" cy="626206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47ADBB4-EAB7-461A-A07B-9D1DA05ED4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4889" y="1498640"/>
            <a:ext cx="2858121" cy="5369300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6D6DEE8-D97A-449C-8177-4B60B54B7FE7}"/>
              </a:ext>
            </a:extLst>
          </p:cNvPr>
          <p:cNvSpPr/>
          <p:nvPr/>
        </p:nvSpPr>
        <p:spPr>
          <a:xfrm>
            <a:off x="261731" y="371867"/>
            <a:ext cx="11668538" cy="7354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Взаимодействие с местным </a:t>
            </a:r>
            <a:r>
              <a:rPr lang="ru-M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сообществом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партнёрами</a:t>
            </a:r>
            <a:endParaRPr lang="ru-M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95C86541-97BA-4495-982C-58AD124D822C}"/>
              </a:ext>
            </a:extLst>
          </p:cNvPr>
          <p:cNvGrpSpPr/>
          <p:nvPr/>
        </p:nvGrpSpPr>
        <p:grpSpPr>
          <a:xfrm>
            <a:off x="89070" y="1288134"/>
            <a:ext cx="2874715" cy="692031"/>
            <a:chOff x="152395" y="304800"/>
            <a:chExt cx="3791183" cy="606934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8F91FA67-E96F-4CA7-AF77-CA4296B547D9}"/>
                </a:ext>
              </a:extLst>
            </p:cNvPr>
            <p:cNvSpPr/>
            <p:nvPr/>
          </p:nvSpPr>
          <p:spPr>
            <a:xfrm>
              <a:off x="152395" y="304800"/>
              <a:ext cx="3791183" cy="606934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4BACC6">
                    <a:shade val="51000"/>
                    <a:satMod val="130000"/>
                  </a:srgbClr>
                </a:gs>
                <a:gs pos="80000">
                  <a:srgbClr val="4BACC6">
                    <a:shade val="93000"/>
                    <a:satMod val="130000"/>
                  </a:srgbClr>
                </a:gs>
                <a:gs pos="100000">
                  <a:srgbClr val="4BACC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19" name="Прямоугольник: скругленные углы 4">
              <a:extLst>
                <a:ext uri="{FF2B5EF4-FFF2-40B4-BE49-F238E27FC236}">
                  <a16:creationId xmlns:a16="http://schemas.microsoft.com/office/drawing/2014/main" id="{7DFF8405-0B64-48A0-9E84-FA3FBBC27851}"/>
                </a:ext>
              </a:extLst>
            </p:cNvPr>
            <p:cNvSpPr txBox="1"/>
            <p:nvPr/>
          </p:nvSpPr>
          <p:spPr>
            <a:xfrm>
              <a:off x="170171" y="322576"/>
              <a:ext cx="3755631" cy="5713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60960" tIns="45720" rIns="60960" bIns="45720" numCol="1" spcCol="1270" anchor="ctr" anchorCtr="0">
              <a:noAutofit/>
            </a:bodyPr>
            <a:lstStyle/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СИЛЬНЫЕ СТОРОНЫ</a:t>
              </a:r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0BDC714-3D97-4D0B-BF68-EFA98E910A45}"/>
              </a:ext>
            </a:extLst>
          </p:cNvPr>
          <p:cNvGrpSpPr/>
          <p:nvPr/>
        </p:nvGrpSpPr>
        <p:grpSpPr>
          <a:xfrm>
            <a:off x="3237646" y="1308402"/>
            <a:ext cx="2839400" cy="660749"/>
            <a:chOff x="4571988" y="273064"/>
            <a:chExt cx="3521757" cy="592863"/>
          </a:xfrm>
        </p:grpSpPr>
        <p:sp>
          <p:nvSpPr>
            <p:cNvPr id="21" name="Прямоугольник: скругленные углы 20">
              <a:extLst>
                <a:ext uri="{FF2B5EF4-FFF2-40B4-BE49-F238E27FC236}">
                  <a16:creationId xmlns:a16="http://schemas.microsoft.com/office/drawing/2014/main" id="{A7A90BEF-4641-4C65-A8C7-8C721130CE54}"/>
                </a:ext>
              </a:extLst>
            </p:cNvPr>
            <p:cNvSpPr/>
            <p:nvPr/>
          </p:nvSpPr>
          <p:spPr>
            <a:xfrm>
              <a:off x="4571988" y="273064"/>
              <a:ext cx="3521757" cy="592863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22" name="Прямоугольник: скругленные углы 4">
              <a:extLst>
                <a:ext uri="{FF2B5EF4-FFF2-40B4-BE49-F238E27FC236}">
                  <a16:creationId xmlns:a16="http://schemas.microsoft.com/office/drawing/2014/main" id="{81C66073-22AC-4EB2-98D1-3F3D02EAB6D3}"/>
                </a:ext>
              </a:extLst>
            </p:cNvPr>
            <p:cNvSpPr txBox="1"/>
            <p:nvPr/>
          </p:nvSpPr>
          <p:spPr>
            <a:xfrm>
              <a:off x="4589352" y="290428"/>
              <a:ext cx="3487029" cy="558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55880" tIns="41910" rIns="55880" bIns="41910" numCol="1" spcCol="1270" anchor="ctr" anchorCtr="0">
              <a:noAutofit/>
            </a:bodyPr>
            <a:lstStyle/>
            <a:p>
              <a:pPr marL="0" marR="0" lvl="0" indent="0" algn="ctr" defTabSz="9779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СЛАБЫЕ СТОРОНЫ</a:t>
              </a:r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80443CE2-95D2-4274-9EC5-99E29D4DC3AE}"/>
              </a:ext>
            </a:extLst>
          </p:cNvPr>
          <p:cNvGrpSpPr/>
          <p:nvPr/>
        </p:nvGrpSpPr>
        <p:grpSpPr>
          <a:xfrm>
            <a:off x="6375355" y="1288134"/>
            <a:ext cx="2775670" cy="692030"/>
            <a:chOff x="8915414" y="228601"/>
            <a:chExt cx="3486996" cy="615229"/>
          </a:xfrm>
        </p:grpSpPr>
        <p:sp>
          <p:nvSpPr>
            <p:cNvPr id="24" name="Прямоугольник: скругленные углы 23">
              <a:extLst>
                <a:ext uri="{FF2B5EF4-FFF2-40B4-BE49-F238E27FC236}">
                  <a16:creationId xmlns:a16="http://schemas.microsoft.com/office/drawing/2014/main" id="{F00821DF-858A-4B09-9FB2-547EF838963A}"/>
                </a:ext>
              </a:extLst>
            </p:cNvPr>
            <p:cNvSpPr/>
            <p:nvPr/>
          </p:nvSpPr>
          <p:spPr>
            <a:xfrm>
              <a:off x="8915414" y="228601"/>
              <a:ext cx="3486996" cy="615229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9BBB59">
                    <a:shade val="51000"/>
                    <a:satMod val="130000"/>
                  </a:srgbClr>
                </a:gs>
                <a:gs pos="80000">
                  <a:srgbClr val="9BBB59">
                    <a:shade val="93000"/>
                    <a:satMod val="130000"/>
                  </a:srgbClr>
                </a:gs>
                <a:gs pos="100000">
                  <a:srgbClr val="9BBB59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25" name="Прямоугольник: скругленные углы 4">
              <a:extLst>
                <a:ext uri="{FF2B5EF4-FFF2-40B4-BE49-F238E27FC236}">
                  <a16:creationId xmlns:a16="http://schemas.microsoft.com/office/drawing/2014/main" id="{AE15CE7E-4856-4B3C-9AC0-A3622293B13A}"/>
                </a:ext>
              </a:extLst>
            </p:cNvPr>
            <p:cNvSpPr txBox="1"/>
            <p:nvPr/>
          </p:nvSpPr>
          <p:spPr>
            <a:xfrm>
              <a:off x="8933433" y="246620"/>
              <a:ext cx="3450958" cy="5791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55880" tIns="41910" rIns="55880" bIns="41910" numCol="1" spcCol="1270" anchor="ctr" anchorCtr="0">
              <a:noAutofit/>
            </a:bodyPr>
            <a:lstStyle/>
            <a:p>
              <a:pPr marL="0" marR="0" lvl="0" indent="0" algn="ctr" defTabSz="9779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ВОЗМОЖНОСТИ</a:t>
              </a:r>
              <a:endPara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8AC70B55-DE9B-481D-B2E9-EB8D450323A1}"/>
              </a:ext>
            </a:extLst>
          </p:cNvPr>
          <p:cNvGrpSpPr/>
          <p:nvPr/>
        </p:nvGrpSpPr>
        <p:grpSpPr>
          <a:xfrm>
            <a:off x="9340313" y="1290580"/>
            <a:ext cx="2749138" cy="659218"/>
            <a:chOff x="13258791" y="304798"/>
            <a:chExt cx="3394463" cy="635103"/>
          </a:xfrm>
        </p:grpSpPr>
        <p:sp>
          <p:nvSpPr>
            <p:cNvPr id="27" name="Прямоугольник: скругленные углы 26">
              <a:extLst>
                <a:ext uri="{FF2B5EF4-FFF2-40B4-BE49-F238E27FC236}">
                  <a16:creationId xmlns:a16="http://schemas.microsoft.com/office/drawing/2014/main" id="{BC98F8BB-8225-4C13-870B-4D77CCC8ACC2}"/>
                </a:ext>
              </a:extLst>
            </p:cNvPr>
            <p:cNvSpPr/>
            <p:nvPr/>
          </p:nvSpPr>
          <p:spPr>
            <a:xfrm>
              <a:off x="13258791" y="304798"/>
              <a:ext cx="3394463" cy="635103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28" name="Прямоугольник: скругленные углы 4">
              <a:extLst>
                <a:ext uri="{FF2B5EF4-FFF2-40B4-BE49-F238E27FC236}">
                  <a16:creationId xmlns:a16="http://schemas.microsoft.com/office/drawing/2014/main" id="{D3DBFCD9-A3F2-4A94-AA13-594624A19F08}"/>
                </a:ext>
              </a:extLst>
            </p:cNvPr>
            <p:cNvSpPr txBox="1"/>
            <p:nvPr/>
          </p:nvSpPr>
          <p:spPr>
            <a:xfrm>
              <a:off x="13277393" y="323400"/>
              <a:ext cx="3357259" cy="5978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55880" tIns="41910" rIns="55880" bIns="41910" numCol="1" spcCol="1270" anchor="ctr" anchorCtr="0">
              <a:noAutofit/>
            </a:bodyPr>
            <a:lstStyle/>
            <a:p>
              <a:pPr marL="0" marR="0" lvl="0" indent="0" algn="ctr" defTabSz="9779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УГРОЗЫ</a:t>
              </a: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CF00F10-01E2-4973-92FA-B3DB4B086B8F}"/>
              </a:ext>
            </a:extLst>
          </p:cNvPr>
          <p:cNvSpPr/>
          <p:nvPr/>
        </p:nvSpPr>
        <p:spPr>
          <a:xfrm>
            <a:off x="363357" y="2144637"/>
            <a:ext cx="25976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Все учебные дисциплины преподаются специалистами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80789F6-4A42-4AE1-AAE4-461370A84839}"/>
              </a:ext>
            </a:extLst>
          </p:cNvPr>
          <p:cNvSpPr/>
          <p:nvPr/>
        </p:nvSpPr>
        <p:spPr>
          <a:xfrm>
            <a:off x="88149" y="2158428"/>
            <a:ext cx="2888853" cy="169697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Взаимодействие с местной властью, образовательными, медицинскими и правоохранительными учреждениями.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00BFCFE-8A76-4735-B65D-ED68E5489514}"/>
              </a:ext>
            </a:extLst>
          </p:cNvPr>
          <p:cNvSpPr/>
          <p:nvPr/>
        </p:nvSpPr>
        <p:spPr>
          <a:xfrm>
            <a:off x="3100098" y="2144636"/>
            <a:ext cx="2942897" cy="150315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активности и заинтересованности в участии жизни 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гимназии </a:t>
            </a:r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родительской общественности. 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57FA29A3-217B-49D9-BCA1-5D2442E2EA73}"/>
              </a:ext>
            </a:extLst>
          </p:cNvPr>
          <p:cNvSpPr/>
          <p:nvPr/>
        </p:nvSpPr>
        <p:spPr>
          <a:xfrm>
            <a:off x="3079331" y="3855402"/>
            <a:ext cx="2949884" cy="115297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Низкая мотивация вовлеченности родительского сообщества в учебную деятельность.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1EEA730E-3795-4E92-8C19-B24F6CE7DE42}"/>
              </a:ext>
            </a:extLst>
          </p:cNvPr>
          <p:cNvSpPr/>
          <p:nvPr/>
        </p:nvSpPr>
        <p:spPr>
          <a:xfrm>
            <a:off x="6139846" y="2158427"/>
            <a:ext cx="3122038" cy="148936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Привлечение родителей, общественность к участию в общешкольных мероприятиях. 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8623CF4-DFE6-4732-A76E-41BF2157A971}"/>
              </a:ext>
            </a:extLst>
          </p:cNvPr>
          <p:cNvSpPr/>
          <p:nvPr/>
        </p:nvSpPr>
        <p:spPr>
          <a:xfrm>
            <a:off x="6127511" y="3855401"/>
            <a:ext cx="3122038" cy="1152974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Мотивация учащихся к участию в общественной жизни региона, села,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гимназии</a:t>
            </a:r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65AD15D7-D461-4E6C-916E-461EA8A7CBE7}"/>
              </a:ext>
            </a:extLst>
          </p:cNvPr>
          <p:cNvSpPr/>
          <p:nvPr/>
        </p:nvSpPr>
        <p:spPr>
          <a:xfrm>
            <a:off x="6160110" y="5197719"/>
            <a:ext cx="3098518" cy="1660281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Индивидуальная работа медсестры и психолога с родителями (беседы, консультации).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DC5A944B-F4F5-4D06-A4F0-00F78138317D}"/>
              </a:ext>
            </a:extLst>
          </p:cNvPr>
          <p:cNvSpPr/>
          <p:nvPr/>
        </p:nvSpPr>
        <p:spPr>
          <a:xfrm>
            <a:off x="9332328" y="2173866"/>
            <a:ext cx="2717667" cy="14739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Социально-экономическая нестабильность в стране и мире. 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6780C056-138F-4E6D-B62B-B328143A3706}"/>
              </a:ext>
            </a:extLst>
          </p:cNvPr>
          <p:cNvSpPr/>
          <p:nvPr/>
        </p:nvSpPr>
        <p:spPr>
          <a:xfrm>
            <a:off x="9341250" y="5182379"/>
            <a:ext cx="2749138" cy="169492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Долгая миграция родителей за границу уменьшает их участие в образовании и воспитании детей.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B13CB481-E29B-47AE-A68D-F5BE3DE49CF4}"/>
              </a:ext>
            </a:extLst>
          </p:cNvPr>
          <p:cNvSpPr/>
          <p:nvPr/>
        </p:nvSpPr>
        <p:spPr>
          <a:xfrm>
            <a:off x="9369301" y="3883578"/>
            <a:ext cx="2680694" cy="112479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интереса экономических агентов в поддержке образовательной среды.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496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4">
            <a:extLst>
              <a:ext uri="{FF2B5EF4-FFF2-40B4-BE49-F238E27FC236}">
                <a16:creationId xmlns:a16="http://schemas.microsoft.com/office/drawing/2014/main" id="{A048597E-33B7-4956-926B-C8091900D4A7}"/>
              </a:ext>
            </a:extLst>
          </p:cNvPr>
          <p:cNvSpPr txBox="1"/>
          <p:nvPr/>
        </p:nvSpPr>
        <p:spPr>
          <a:xfrm>
            <a:off x="4159772" y="-784906"/>
            <a:ext cx="3872456" cy="2422815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marL="0" marR="0" lvl="0" indent="0" algn="ctr" defTabSz="1422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E86A681-06AE-4B92-A4B7-96FF230BD1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32BB622-ED19-4EBC-A7F6-BA749F64D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9" y="1319415"/>
            <a:ext cx="3075077" cy="553520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0350511-3F49-4094-9E8A-0BC316234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626" y="1339364"/>
            <a:ext cx="2918374" cy="551525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8608CF9-D55E-46AB-A6AA-022767C80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506" y="595935"/>
            <a:ext cx="3251627" cy="626206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47ADBB4-EAB7-461A-A07B-9D1DA05ED4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4887" y="1488700"/>
            <a:ext cx="2858121" cy="5369300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6D6DEE8-D97A-449C-8177-4B60B54B7FE7}"/>
              </a:ext>
            </a:extLst>
          </p:cNvPr>
          <p:cNvSpPr/>
          <p:nvPr/>
        </p:nvSpPr>
        <p:spPr>
          <a:xfrm>
            <a:off x="516436" y="409944"/>
            <a:ext cx="11116140" cy="7354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ru-RU" b="1" dirty="0"/>
              <a:t> </a:t>
            </a:r>
            <a:r>
              <a:rPr lang="ru-RU" sz="3200" b="1" dirty="0"/>
              <a:t>Организация в</a:t>
            </a:r>
            <a:r>
              <a:rPr lang="ru-MD" sz="3200" b="1" dirty="0" err="1"/>
              <a:t>неклассн</a:t>
            </a:r>
            <a:r>
              <a:rPr lang="ru-RU" sz="3200" b="1" dirty="0"/>
              <a:t>ой и неформальной</a:t>
            </a:r>
            <a:r>
              <a:rPr lang="ru-MD" sz="3200" b="1" dirty="0"/>
              <a:t> </a:t>
            </a:r>
            <a:r>
              <a:rPr lang="ru-MD" sz="3200" b="1" dirty="0" err="1"/>
              <a:t>деятельност</a:t>
            </a:r>
            <a:r>
              <a:rPr lang="ru-RU" sz="3200" b="1" dirty="0"/>
              <a:t>и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M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95C86541-97BA-4495-982C-58AD124D822C}"/>
              </a:ext>
            </a:extLst>
          </p:cNvPr>
          <p:cNvGrpSpPr/>
          <p:nvPr/>
        </p:nvGrpSpPr>
        <p:grpSpPr>
          <a:xfrm>
            <a:off x="89070" y="1288134"/>
            <a:ext cx="2874715" cy="692031"/>
            <a:chOff x="152395" y="304800"/>
            <a:chExt cx="3791183" cy="606934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8F91FA67-E96F-4CA7-AF77-CA4296B547D9}"/>
                </a:ext>
              </a:extLst>
            </p:cNvPr>
            <p:cNvSpPr/>
            <p:nvPr/>
          </p:nvSpPr>
          <p:spPr>
            <a:xfrm>
              <a:off x="152395" y="304800"/>
              <a:ext cx="3791183" cy="606934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4BACC6">
                    <a:shade val="51000"/>
                    <a:satMod val="130000"/>
                  </a:srgbClr>
                </a:gs>
                <a:gs pos="80000">
                  <a:srgbClr val="4BACC6">
                    <a:shade val="93000"/>
                    <a:satMod val="130000"/>
                  </a:srgbClr>
                </a:gs>
                <a:gs pos="100000">
                  <a:srgbClr val="4BACC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19" name="Прямоугольник: скругленные углы 4">
              <a:extLst>
                <a:ext uri="{FF2B5EF4-FFF2-40B4-BE49-F238E27FC236}">
                  <a16:creationId xmlns:a16="http://schemas.microsoft.com/office/drawing/2014/main" id="{7DFF8405-0B64-48A0-9E84-FA3FBBC27851}"/>
                </a:ext>
              </a:extLst>
            </p:cNvPr>
            <p:cNvSpPr txBox="1"/>
            <p:nvPr/>
          </p:nvSpPr>
          <p:spPr>
            <a:xfrm>
              <a:off x="170171" y="322576"/>
              <a:ext cx="3755631" cy="5713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60960" tIns="45720" rIns="60960" bIns="45720" numCol="1" spcCol="1270" anchor="ctr" anchorCtr="0">
              <a:noAutofit/>
            </a:bodyPr>
            <a:lstStyle/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СИЛЬНЫЕ СТОРОНЫ</a:t>
              </a:r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0BDC714-3D97-4D0B-BF68-EFA98E910A45}"/>
              </a:ext>
            </a:extLst>
          </p:cNvPr>
          <p:cNvGrpSpPr/>
          <p:nvPr/>
        </p:nvGrpSpPr>
        <p:grpSpPr>
          <a:xfrm>
            <a:off x="3237646" y="1308402"/>
            <a:ext cx="2839400" cy="660749"/>
            <a:chOff x="4571988" y="273064"/>
            <a:chExt cx="3521757" cy="592863"/>
          </a:xfrm>
        </p:grpSpPr>
        <p:sp>
          <p:nvSpPr>
            <p:cNvPr id="21" name="Прямоугольник: скругленные углы 20">
              <a:extLst>
                <a:ext uri="{FF2B5EF4-FFF2-40B4-BE49-F238E27FC236}">
                  <a16:creationId xmlns:a16="http://schemas.microsoft.com/office/drawing/2014/main" id="{A7A90BEF-4641-4C65-A8C7-8C721130CE54}"/>
                </a:ext>
              </a:extLst>
            </p:cNvPr>
            <p:cNvSpPr/>
            <p:nvPr/>
          </p:nvSpPr>
          <p:spPr>
            <a:xfrm>
              <a:off x="4571988" y="273064"/>
              <a:ext cx="3521757" cy="592863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22" name="Прямоугольник: скругленные углы 4">
              <a:extLst>
                <a:ext uri="{FF2B5EF4-FFF2-40B4-BE49-F238E27FC236}">
                  <a16:creationId xmlns:a16="http://schemas.microsoft.com/office/drawing/2014/main" id="{81C66073-22AC-4EB2-98D1-3F3D02EAB6D3}"/>
                </a:ext>
              </a:extLst>
            </p:cNvPr>
            <p:cNvSpPr txBox="1"/>
            <p:nvPr/>
          </p:nvSpPr>
          <p:spPr>
            <a:xfrm>
              <a:off x="4589352" y="290428"/>
              <a:ext cx="3487029" cy="558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55880" tIns="41910" rIns="55880" bIns="41910" numCol="1" spcCol="1270" anchor="ctr" anchorCtr="0">
              <a:noAutofit/>
            </a:bodyPr>
            <a:lstStyle/>
            <a:p>
              <a:pPr marL="0" marR="0" lvl="0" indent="0" algn="ctr" defTabSz="9779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СЛАБЫЕ СТОРОНЫ</a:t>
              </a:r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80443CE2-95D2-4274-9EC5-99E29D4DC3AE}"/>
              </a:ext>
            </a:extLst>
          </p:cNvPr>
          <p:cNvGrpSpPr/>
          <p:nvPr/>
        </p:nvGrpSpPr>
        <p:grpSpPr>
          <a:xfrm>
            <a:off x="6375355" y="1288134"/>
            <a:ext cx="2775670" cy="692030"/>
            <a:chOff x="8915414" y="228601"/>
            <a:chExt cx="3486996" cy="615229"/>
          </a:xfrm>
        </p:grpSpPr>
        <p:sp>
          <p:nvSpPr>
            <p:cNvPr id="24" name="Прямоугольник: скругленные углы 23">
              <a:extLst>
                <a:ext uri="{FF2B5EF4-FFF2-40B4-BE49-F238E27FC236}">
                  <a16:creationId xmlns:a16="http://schemas.microsoft.com/office/drawing/2014/main" id="{F00821DF-858A-4B09-9FB2-547EF838963A}"/>
                </a:ext>
              </a:extLst>
            </p:cNvPr>
            <p:cNvSpPr/>
            <p:nvPr/>
          </p:nvSpPr>
          <p:spPr>
            <a:xfrm>
              <a:off x="8915414" y="228601"/>
              <a:ext cx="3486996" cy="615229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9BBB59">
                    <a:shade val="51000"/>
                    <a:satMod val="130000"/>
                  </a:srgbClr>
                </a:gs>
                <a:gs pos="80000">
                  <a:srgbClr val="9BBB59">
                    <a:shade val="93000"/>
                    <a:satMod val="130000"/>
                  </a:srgbClr>
                </a:gs>
                <a:gs pos="100000">
                  <a:srgbClr val="9BBB59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25" name="Прямоугольник: скругленные углы 4">
              <a:extLst>
                <a:ext uri="{FF2B5EF4-FFF2-40B4-BE49-F238E27FC236}">
                  <a16:creationId xmlns:a16="http://schemas.microsoft.com/office/drawing/2014/main" id="{AE15CE7E-4856-4B3C-9AC0-A3622293B13A}"/>
                </a:ext>
              </a:extLst>
            </p:cNvPr>
            <p:cNvSpPr txBox="1"/>
            <p:nvPr/>
          </p:nvSpPr>
          <p:spPr>
            <a:xfrm>
              <a:off x="8933433" y="246620"/>
              <a:ext cx="3450958" cy="5791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55880" tIns="41910" rIns="55880" bIns="41910" numCol="1" spcCol="1270" anchor="ctr" anchorCtr="0">
              <a:noAutofit/>
            </a:bodyPr>
            <a:lstStyle/>
            <a:p>
              <a:pPr marL="0" marR="0" lvl="0" indent="0" algn="ctr" defTabSz="9779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ВОЗМОЖНОСТИ</a:t>
              </a:r>
              <a:endPara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8AC70B55-DE9B-481D-B2E9-EB8D450323A1}"/>
              </a:ext>
            </a:extLst>
          </p:cNvPr>
          <p:cNvGrpSpPr/>
          <p:nvPr/>
        </p:nvGrpSpPr>
        <p:grpSpPr>
          <a:xfrm>
            <a:off x="9340313" y="1290580"/>
            <a:ext cx="2749138" cy="659218"/>
            <a:chOff x="13258791" y="304798"/>
            <a:chExt cx="3394463" cy="635103"/>
          </a:xfrm>
        </p:grpSpPr>
        <p:sp>
          <p:nvSpPr>
            <p:cNvPr id="27" name="Прямоугольник: скругленные углы 26">
              <a:extLst>
                <a:ext uri="{FF2B5EF4-FFF2-40B4-BE49-F238E27FC236}">
                  <a16:creationId xmlns:a16="http://schemas.microsoft.com/office/drawing/2014/main" id="{BC98F8BB-8225-4C13-870B-4D77CCC8ACC2}"/>
                </a:ext>
              </a:extLst>
            </p:cNvPr>
            <p:cNvSpPr/>
            <p:nvPr/>
          </p:nvSpPr>
          <p:spPr>
            <a:xfrm>
              <a:off x="13258791" y="304798"/>
              <a:ext cx="3394463" cy="635103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28" name="Прямоугольник: скругленные углы 4">
              <a:extLst>
                <a:ext uri="{FF2B5EF4-FFF2-40B4-BE49-F238E27FC236}">
                  <a16:creationId xmlns:a16="http://schemas.microsoft.com/office/drawing/2014/main" id="{D3DBFCD9-A3F2-4A94-AA13-594624A19F08}"/>
                </a:ext>
              </a:extLst>
            </p:cNvPr>
            <p:cNvSpPr txBox="1"/>
            <p:nvPr/>
          </p:nvSpPr>
          <p:spPr>
            <a:xfrm>
              <a:off x="13277393" y="323400"/>
              <a:ext cx="3357259" cy="5978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55880" tIns="41910" rIns="55880" bIns="41910" numCol="1" spcCol="1270" anchor="ctr" anchorCtr="0">
              <a:noAutofit/>
            </a:bodyPr>
            <a:lstStyle/>
            <a:p>
              <a:pPr marL="0" marR="0" lvl="0" indent="0" algn="ctr" defTabSz="9779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УГРОЗЫ</a:t>
              </a: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CF00F10-01E2-4973-92FA-B3DB4B086B8F}"/>
              </a:ext>
            </a:extLst>
          </p:cNvPr>
          <p:cNvSpPr/>
          <p:nvPr/>
        </p:nvSpPr>
        <p:spPr>
          <a:xfrm>
            <a:off x="363357" y="2144637"/>
            <a:ext cx="25976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Все учебные дисциплины преподаются специалистами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80789F6-4A42-4AE1-AAE4-461370A84839}"/>
              </a:ext>
            </a:extLst>
          </p:cNvPr>
          <p:cNvSpPr/>
          <p:nvPr/>
        </p:nvSpPr>
        <p:spPr>
          <a:xfrm>
            <a:off x="88149" y="2158429"/>
            <a:ext cx="2888853" cy="150315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неформального образования: кружки по интересам, спортивные секции 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00BFCFE-8A76-4735-B65D-ED68E5489514}"/>
              </a:ext>
            </a:extLst>
          </p:cNvPr>
          <p:cNvSpPr/>
          <p:nvPr/>
        </p:nvSpPr>
        <p:spPr>
          <a:xfrm>
            <a:off x="3079331" y="2144635"/>
            <a:ext cx="2942897" cy="150315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Нежелание учеников участвовать во внеурочной деятельности из-за учебной нагрузки.</a:t>
            </a:r>
            <a:endParaRPr lang="ru-MD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57FA29A3-217B-49D9-BCA1-5D2442E2EA73}"/>
              </a:ext>
            </a:extLst>
          </p:cNvPr>
          <p:cNvSpPr/>
          <p:nvPr/>
        </p:nvSpPr>
        <p:spPr>
          <a:xfrm>
            <a:off x="96134" y="3760540"/>
            <a:ext cx="2864897" cy="115297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Участие в проекте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TEKWILL</a:t>
            </a:r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(«Цифровое образование»)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1EEA730E-3795-4E92-8C19-B24F6CE7DE42}"/>
              </a:ext>
            </a:extLst>
          </p:cNvPr>
          <p:cNvSpPr/>
          <p:nvPr/>
        </p:nvSpPr>
        <p:spPr>
          <a:xfrm>
            <a:off x="6139846" y="2158427"/>
            <a:ext cx="3122038" cy="148936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Активное участие во внеклассной деятельности на уровне 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гимназии</a:t>
            </a:r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региона, республики. 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8623CF4-DFE6-4732-A76E-41BF2157A971}"/>
              </a:ext>
            </a:extLst>
          </p:cNvPr>
          <p:cNvSpPr/>
          <p:nvPr/>
        </p:nvSpPr>
        <p:spPr>
          <a:xfrm>
            <a:off x="3079331" y="3777796"/>
            <a:ext cx="2942897" cy="1142074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Много времени ученики проводят в соцсетях. 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65AD15D7-D461-4E6C-916E-461EA8A7CBE7}"/>
              </a:ext>
            </a:extLst>
          </p:cNvPr>
          <p:cNvSpPr/>
          <p:nvPr/>
        </p:nvSpPr>
        <p:spPr>
          <a:xfrm>
            <a:off x="102549" y="5012328"/>
            <a:ext cx="2858482" cy="125033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Участие в конкурсах, играх и НПК на уровне гимназии, региона и республики.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DC5A944B-F4F5-4D06-A4F0-00F78138317D}"/>
              </a:ext>
            </a:extLst>
          </p:cNvPr>
          <p:cNvSpPr/>
          <p:nvPr/>
        </p:nvSpPr>
        <p:spPr>
          <a:xfrm>
            <a:off x="9390738" y="2155642"/>
            <a:ext cx="2717667" cy="14739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мотивации в социализации из-за чрезмерного использования интернет-ресурсов.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6780C056-138F-4E6D-B62B-B328143A3706}"/>
              </a:ext>
            </a:extLst>
          </p:cNvPr>
          <p:cNvSpPr/>
          <p:nvPr/>
        </p:nvSpPr>
        <p:spPr>
          <a:xfrm>
            <a:off x="6122504" y="5081926"/>
            <a:ext cx="3148537" cy="143968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 поездок и экскурсий по родному краю, по республике.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2527749-C7EB-4D27-90A3-8E2CCF1B4763}"/>
              </a:ext>
            </a:extLst>
          </p:cNvPr>
          <p:cNvSpPr/>
          <p:nvPr/>
        </p:nvSpPr>
        <p:spPr>
          <a:xfrm>
            <a:off x="6123245" y="3791884"/>
            <a:ext cx="3147797" cy="112479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Сотрудничество с ученическими сообществами Гагаузии.</a:t>
            </a:r>
          </a:p>
        </p:txBody>
      </p:sp>
    </p:spTree>
    <p:extLst>
      <p:ext uri="{BB962C8B-B14F-4D97-AF65-F5344CB8AC3E}">
        <p14:creationId xmlns:p14="http://schemas.microsoft.com/office/powerpoint/2010/main" val="40172718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4">
            <a:extLst>
              <a:ext uri="{FF2B5EF4-FFF2-40B4-BE49-F238E27FC236}">
                <a16:creationId xmlns:a16="http://schemas.microsoft.com/office/drawing/2014/main" id="{A048597E-33B7-4956-926B-C8091900D4A7}"/>
              </a:ext>
            </a:extLst>
          </p:cNvPr>
          <p:cNvSpPr txBox="1"/>
          <p:nvPr/>
        </p:nvSpPr>
        <p:spPr>
          <a:xfrm>
            <a:off x="4159772" y="-784906"/>
            <a:ext cx="3872456" cy="2422815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marL="0" marR="0" lvl="0" indent="0" algn="ctr" defTabSz="1422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E86A681-06AE-4B92-A4B7-96FF230BD1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32BB622-ED19-4EBC-A7F6-BA749F64D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9" y="1319415"/>
            <a:ext cx="3075077" cy="553520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0350511-3F49-4094-9E8A-0BC316234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626" y="1339364"/>
            <a:ext cx="2918374" cy="551525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47ADBB4-EAB7-461A-A07B-9D1DA05ED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4887" y="1488700"/>
            <a:ext cx="2858121" cy="5369300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6D6DEE8-D97A-449C-8177-4B60B54B7FE7}"/>
              </a:ext>
            </a:extLst>
          </p:cNvPr>
          <p:cNvSpPr/>
          <p:nvPr/>
        </p:nvSpPr>
        <p:spPr>
          <a:xfrm>
            <a:off x="1920485" y="407690"/>
            <a:ext cx="8438721" cy="7354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Финансово- материальное обеспечение</a:t>
            </a:r>
            <a:endParaRPr lang="ru-M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95C86541-97BA-4495-982C-58AD124D822C}"/>
              </a:ext>
            </a:extLst>
          </p:cNvPr>
          <p:cNvGrpSpPr/>
          <p:nvPr/>
        </p:nvGrpSpPr>
        <p:grpSpPr>
          <a:xfrm>
            <a:off x="89070" y="1288134"/>
            <a:ext cx="2874715" cy="692031"/>
            <a:chOff x="152395" y="304800"/>
            <a:chExt cx="3791183" cy="606934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8F91FA67-E96F-4CA7-AF77-CA4296B547D9}"/>
                </a:ext>
              </a:extLst>
            </p:cNvPr>
            <p:cNvSpPr/>
            <p:nvPr/>
          </p:nvSpPr>
          <p:spPr>
            <a:xfrm>
              <a:off x="152395" y="304800"/>
              <a:ext cx="3791183" cy="606934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4BACC6">
                    <a:shade val="51000"/>
                    <a:satMod val="130000"/>
                  </a:srgbClr>
                </a:gs>
                <a:gs pos="80000">
                  <a:srgbClr val="4BACC6">
                    <a:shade val="93000"/>
                    <a:satMod val="130000"/>
                  </a:srgbClr>
                </a:gs>
                <a:gs pos="100000">
                  <a:srgbClr val="4BACC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19" name="Прямоугольник: скругленные углы 4">
              <a:extLst>
                <a:ext uri="{FF2B5EF4-FFF2-40B4-BE49-F238E27FC236}">
                  <a16:creationId xmlns:a16="http://schemas.microsoft.com/office/drawing/2014/main" id="{7DFF8405-0B64-48A0-9E84-FA3FBBC27851}"/>
                </a:ext>
              </a:extLst>
            </p:cNvPr>
            <p:cNvSpPr txBox="1"/>
            <p:nvPr/>
          </p:nvSpPr>
          <p:spPr>
            <a:xfrm>
              <a:off x="170171" y="322576"/>
              <a:ext cx="3755631" cy="5713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60960" tIns="45720" rIns="60960" bIns="45720" numCol="1" spcCol="1270" anchor="ctr" anchorCtr="0">
              <a:noAutofit/>
            </a:bodyPr>
            <a:lstStyle/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СИЛЬНЫЕ СТОРОНЫ</a:t>
              </a:r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0BDC714-3D97-4D0B-BF68-EFA98E910A45}"/>
              </a:ext>
            </a:extLst>
          </p:cNvPr>
          <p:cNvGrpSpPr/>
          <p:nvPr/>
        </p:nvGrpSpPr>
        <p:grpSpPr>
          <a:xfrm>
            <a:off x="3237646" y="1308402"/>
            <a:ext cx="2839400" cy="660749"/>
            <a:chOff x="4571988" y="273064"/>
            <a:chExt cx="3521757" cy="592863"/>
          </a:xfrm>
        </p:grpSpPr>
        <p:sp>
          <p:nvSpPr>
            <p:cNvPr id="21" name="Прямоугольник: скругленные углы 20">
              <a:extLst>
                <a:ext uri="{FF2B5EF4-FFF2-40B4-BE49-F238E27FC236}">
                  <a16:creationId xmlns:a16="http://schemas.microsoft.com/office/drawing/2014/main" id="{A7A90BEF-4641-4C65-A8C7-8C721130CE54}"/>
                </a:ext>
              </a:extLst>
            </p:cNvPr>
            <p:cNvSpPr/>
            <p:nvPr/>
          </p:nvSpPr>
          <p:spPr>
            <a:xfrm>
              <a:off x="4571988" y="273064"/>
              <a:ext cx="3521757" cy="592863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22" name="Прямоугольник: скругленные углы 4">
              <a:extLst>
                <a:ext uri="{FF2B5EF4-FFF2-40B4-BE49-F238E27FC236}">
                  <a16:creationId xmlns:a16="http://schemas.microsoft.com/office/drawing/2014/main" id="{81C66073-22AC-4EB2-98D1-3F3D02EAB6D3}"/>
                </a:ext>
              </a:extLst>
            </p:cNvPr>
            <p:cNvSpPr txBox="1"/>
            <p:nvPr/>
          </p:nvSpPr>
          <p:spPr>
            <a:xfrm>
              <a:off x="4589352" y="290428"/>
              <a:ext cx="3487029" cy="558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55880" tIns="41910" rIns="55880" bIns="41910" numCol="1" spcCol="1270" anchor="ctr" anchorCtr="0">
              <a:noAutofit/>
            </a:bodyPr>
            <a:lstStyle/>
            <a:p>
              <a:pPr marL="0" marR="0" lvl="0" indent="0" algn="ctr" defTabSz="9779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СЛАБЫЕ СТОРОНЫ</a:t>
              </a:r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80443CE2-95D2-4274-9EC5-99E29D4DC3AE}"/>
              </a:ext>
            </a:extLst>
          </p:cNvPr>
          <p:cNvGrpSpPr/>
          <p:nvPr/>
        </p:nvGrpSpPr>
        <p:grpSpPr>
          <a:xfrm>
            <a:off x="6375355" y="1288134"/>
            <a:ext cx="2775670" cy="692030"/>
            <a:chOff x="8915414" y="228601"/>
            <a:chExt cx="3486996" cy="615229"/>
          </a:xfrm>
        </p:grpSpPr>
        <p:sp>
          <p:nvSpPr>
            <p:cNvPr id="24" name="Прямоугольник: скругленные углы 23">
              <a:extLst>
                <a:ext uri="{FF2B5EF4-FFF2-40B4-BE49-F238E27FC236}">
                  <a16:creationId xmlns:a16="http://schemas.microsoft.com/office/drawing/2014/main" id="{F00821DF-858A-4B09-9FB2-547EF838963A}"/>
                </a:ext>
              </a:extLst>
            </p:cNvPr>
            <p:cNvSpPr/>
            <p:nvPr/>
          </p:nvSpPr>
          <p:spPr>
            <a:xfrm>
              <a:off x="8915414" y="228601"/>
              <a:ext cx="3486996" cy="615229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9BBB59">
                    <a:shade val="51000"/>
                    <a:satMod val="130000"/>
                  </a:srgbClr>
                </a:gs>
                <a:gs pos="80000">
                  <a:srgbClr val="9BBB59">
                    <a:shade val="93000"/>
                    <a:satMod val="130000"/>
                  </a:srgbClr>
                </a:gs>
                <a:gs pos="100000">
                  <a:srgbClr val="9BBB59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25" name="Прямоугольник: скругленные углы 4">
              <a:extLst>
                <a:ext uri="{FF2B5EF4-FFF2-40B4-BE49-F238E27FC236}">
                  <a16:creationId xmlns:a16="http://schemas.microsoft.com/office/drawing/2014/main" id="{AE15CE7E-4856-4B3C-9AC0-A3622293B13A}"/>
                </a:ext>
              </a:extLst>
            </p:cNvPr>
            <p:cNvSpPr txBox="1"/>
            <p:nvPr/>
          </p:nvSpPr>
          <p:spPr>
            <a:xfrm>
              <a:off x="8933433" y="246620"/>
              <a:ext cx="3450958" cy="5791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55880" tIns="41910" rIns="55880" bIns="41910" numCol="1" spcCol="1270" anchor="ctr" anchorCtr="0">
              <a:noAutofit/>
            </a:bodyPr>
            <a:lstStyle/>
            <a:p>
              <a:pPr marL="0" marR="0" lvl="0" indent="0" algn="ctr" defTabSz="9779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ВОЗМОЖНОСТИ</a:t>
              </a:r>
              <a:endPara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8AC70B55-DE9B-481D-B2E9-EB8D450323A1}"/>
              </a:ext>
            </a:extLst>
          </p:cNvPr>
          <p:cNvGrpSpPr/>
          <p:nvPr/>
        </p:nvGrpSpPr>
        <p:grpSpPr>
          <a:xfrm>
            <a:off x="9340313" y="1290580"/>
            <a:ext cx="2749138" cy="659218"/>
            <a:chOff x="13258791" y="304798"/>
            <a:chExt cx="3394463" cy="635103"/>
          </a:xfrm>
        </p:grpSpPr>
        <p:sp>
          <p:nvSpPr>
            <p:cNvPr id="27" name="Прямоугольник: скругленные углы 26">
              <a:extLst>
                <a:ext uri="{FF2B5EF4-FFF2-40B4-BE49-F238E27FC236}">
                  <a16:creationId xmlns:a16="http://schemas.microsoft.com/office/drawing/2014/main" id="{BC98F8BB-8225-4C13-870B-4D77CCC8ACC2}"/>
                </a:ext>
              </a:extLst>
            </p:cNvPr>
            <p:cNvSpPr/>
            <p:nvPr/>
          </p:nvSpPr>
          <p:spPr>
            <a:xfrm>
              <a:off x="13258791" y="304798"/>
              <a:ext cx="3394463" cy="635103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28" name="Прямоугольник: скругленные углы 4">
              <a:extLst>
                <a:ext uri="{FF2B5EF4-FFF2-40B4-BE49-F238E27FC236}">
                  <a16:creationId xmlns:a16="http://schemas.microsoft.com/office/drawing/2014/main" id="{D3DBFCD9-A3F2-4A94-AA13-594624A19F08}"/>
                </a:ext>
              </a:extLst>
            </p:cNvPr>
            <p:cNvSpPr txBox="1"/>
            <p:nvPr/>
          </p:nvSpPr>
          <p:spPr>
            <a:xfrm>
              <a:off x="13277393" y="323400"/>
              <a:ext cx="3357259" cy="5978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55880" tIns="41910" rIns="55880" bIns="41910" numCol="1" spcCol="1270" anchor="ctr" anchorCtr="0">
              <a:noAutofit/>
            </a:bodyPr>
            <a:lstStyle/>
            <a:p>
              <a:pPr marL="0" marR="0" lvl="0" indent="0" algn="ctr" defTabSz="9779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УГРОЗЫ</a:t>
              </a: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CF00F10-01E2-4973-92FA-B3DB4B086B8F}"/>
              </a:ext>
            </a:extLst>
          </p:cNvPr>
          <p:cNvSpPr/>
          <p:nvPr/>
        </p:nvSpPr>
        <p:spPr>
          <a:xfrm>
            <a:off x="363357" y="2144637"/>
            <a:ext cx="25976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ru-RU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80789F6-4A42-4AE1-AAE4-461370A84839}"/>
              </a:ext>
            </a:extLst>
          </p:cNvPr>
          <p:cNvSpPr/>
          <p:nvPr/>
        </p:nvSpPr>
        <p:spPr>
          <a:xfrm>
            <a:off x="82000" y="5067215"/>
            <a:ext cx="2858483" cy="115297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Книжный фонд библиотеки обновляется. 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00BFCFE-8A76-4735-B65D-ED68E5489514}"/>
              </a:ext>
            </a:extLst>
          </p:cNvPr>
          <p:cNvSpPr/>
          <p:nvPr/>
        </p:nvSpPr>
        <p:spPr>
          <a:xfrm>
            <a:off x="3079331" y="2155642"/>
            <a:ext cx="2942897" cy="143635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Библиотечная мебель устарела, требуется полная замена на современные стеллажи и оборудование.</a:t>
            </a:r>
            <a:endParaRPr lang="ru-MD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57FA29A3-217B-49D9-BCA1-5D2442E2EA73}"/>
              </a:ext>
            </a:extLst>
          </p:cNvPr>
          <p:cNvSpPr/>
          <p:nvPr/>
        </p:nvSpPr>
        <p:spPr>
          <a:xfrm>
            <a:off x="85409" y="2168315"/>
            <a:ext cx="2864897" cy="115297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ru-MD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алажена</a:t>
            </a:r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работа страницы в </a:t>
            </a:r>
            <a:r>
              <a:rPr lang="ru-MD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Фэйсбуке</a:t>
            </a:r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MD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которы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й</a:t>
            </a:r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MD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освеща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 работу учебного заведения. 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1EEA730E-3795-4E92-8C19-B24F6CE7DE42}"/>
              </a:ext>
            </a:extLst>
          </p:cNvPr>
          <p:cNvSpPr/>
          <p:nvPr/>
        </p:nvSpPr>
        <p:spPr>
          <a:xfrm>
            <a:off x="6139846" y="2144637"/>
            <a:ext cx="3122038" cy="144735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Привлечение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соцпартнёров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 развитию материально-технической базы.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8623CF4-DFE6-4732-A76E-41BF2157A971}"/>
              </a:ext>
            </a:extLst>
          </p:cNvPr>
          <p:cNvSpPr/>
          <p:nvPr/>
        </p:nvSpPr>
        <p:spPr>
          <a:xfrm>
            <a:off x="3042353" y="3768249"/>
            <a:ext cx="2942897" cy="1340276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Частичное отсутствие ограждения снижает безопасность и затрудняет контроль за посторонними.</a:t>
            </a:r>
            <a:endParaRPr lang="ru-MD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65AD15D7-D461-4E6C-916E-461EA8A7CBE7}"/>
              </a:ext>
            </a:extLst>
          </p:cNvPr>
          <p:cNvSpPr/>
          <p:nvPr/>
        </p:nvSpPr>
        <p:spPr>
          <a:xfrm>
            <a:off x="83806" y="3471823"/>
            <a:ext cx="2858482" cy="1444858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 кабинеты подключены к интернету, у большинства педагогов- личные ноутбуки.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DC5A944B-F4F5-4D06-A4F0-00F78138317D}"/>
              </a:ext>
            </a:extLst>
          </p:cNvPr>
          <p:cNvSpPr/>
          <p:nvPr/>
        </p:nvSpPr>
        <p:spPr>
          <a:xfrm>
            <a:off x="9390738" y="2155642"/>
            <a:ext cx="2768971" cy="14739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Нестабильная экономическая ситуация в стране и мире.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6780C056-138F-4E6D-B62B-B328143A3706}"/>
              </a:ext>
            </a:extLst>
          </p:cNvPr>
          <p:cNvSpPr/>
          <p:nvPr/>
        </p:nvSpPr>
        <p:spPr>
          <a:xfrm>
            <a:off x="3056360" y="5263422"/>
            <a:ext cx="2939465" cy="143968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Устаревшая электропроводка и слабое освещение снижают комфорт, безопасность и качество обучения.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2527749-C7EB-4D27-90A3-8E2CCF1B4763}"/>
              </a:ext>
            </a:extLst>
          </p:cNvPr>
          <p:cNvSpPr/>
          <p:nvPr/>
        </p:nvSpPr>
        <p:spPr>
          <a:xfrm>
            <a:off x="6123245" y="3791884"/>
            <a:ext cx="3147797" cy="112479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Участие в проектах.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0475793-7F6C-4866-B0D6-E8C1CFD086C8}"/>
              </a:ext>
            </a:extLst>
          </p:cNvPr>
          <p:cNvSpPr/>
          <p:nvPr/>
        </p:nvSpPr>
        <p:spPr>
          <a:xfrm>
            <a:off x="6123245" y="5116573"/>
            <a:ext cx="3147797" cy="115297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Привлечение родительского сообщества.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F7729B7B-1D8E-4246-8C90-5042D5DB81FA}"/>
              </a:ext>
            </a:extLst>
          </p:cNvPr>
          <p:cNvSpPr/>
          <p:nvPr/>
        </p:nvSpPr>
        <p:spPr>
          <a:xfrm>
            <a:off x="9340313" y="3798722"/>
            <a:ext cx="2782418" cy="111795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Изношенность действующего оборудования и техники.</a:t>
            </a:r>
            <a:endParaRPr lang="ru-MD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41DA49DA-0B7A-484B-9D34-C72248E69604}"/>
              </a:ext>
            </a:extLst>
          </p:cNvPr>
          <p:cNvSpPr/>
          <p:nvPr/>
        </p:nvSpPr>
        <p:spPr>
          <a:xfrm>
            <a:off x="9390737" y="5116573"/>
            <a:ext cx="2717667" cy="1152974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Недофинансирование новых проектов, оборудования и ремонта помещений.</a:t>
            </a:r>
            <a:endParaRPr lang="ru-MD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9972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4">
            <a:extLst>
              <a:ext uri="{FF2B5EF4-FFF2-40B4-BE49-F238E27FC236}">
                <a16:creationId xmlns:a16="http://schemas.microsoft.com/office/drawing/2014/main" id="{A048597E-33B7-4956-926B-C8091900D4A7}"/>
              </a:ext>
            </a:extLst>
          </p:cNvPr>
          <p:cNvSpPr txBox="1"/>
          <p:nvPr/>
        </p:nvSpPr>
        <p:spPr>
          <a:xfrm>
            <a:off x="4159772" y="-784906"/>
            <a:ext cx="3872456" cy="2422815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marL="0" marR="0" lvl="0" indent="0" algn="ctr" defTabSz="1422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E86A681-06AE-4B92-A4B7-96FF230BD1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32BB622-ED19-4EBC-A7F6-BA749F64D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9" y="1319415"/>
            <a:ext cx="3075077" cy="553858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0350511-3F49-4094-9E8A-0BC316234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9403" y="1415233"/>
            <a:ext cx="2972464" cy="551525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47ADBB4-EAB7-461A-A07B-9D1DA05ED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9839" y="1488700"/>
            <a:ext cx="6323170" cy="5369300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6D6DEE8-D97A-449C-8177-4B60B54B7FE7}"/>
              </a:ext>
            </a:extLst>
          </p:cNvPr>
          <p:cNvSpPr/>
          <p:nvPr/>
        </p:nvSpPr>
        <p:spPr>
          <a:xfrm>
            <a:off x="1932506" y="426501"/>
            <a:ext cx="8438721" cy="7354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Управленческая концепция программы</a:t>
            </a:r>
            <a:endParaRPr lang="ru-M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95C86541-97BA-4495-982C-58AD124D822C}"/>
              </a:ext>
            </a:extLst>
          </p:cNvPr>
          <p:cNvGrpSpPr/>
          <p:nvPr/>
        </p:nvGrpSpPr>
        <p:grpSpPr>
          <a:xfrm>
            <a:off x="164227" y="1328108"/>
            <a:ext cx="2816803" cy="692031"/>
            <a:chOff x="152395" y="304800"/>
            <a:chExt cx="3791183" cy="606934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8F91FA67-E96F-4CA7-AF77-CA4296B547D9}"/>
                </a:ext>
              </a:extLst>
            </p:cNvPr>
            <p:cNvSpPr/>
            <p:nvPr/>
          </p:nvSpPr>
          <p:spPr>
            <a:xfrm>
              <a:off x="152395" y="304800"/>
              <a:ext cx="3791183" cy="606934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4BACC6">
                    <a:shade val="51000"/>
                    <a:satMod val="130000"/>
                  </a:srgbClr>
                </a:gs>
                <a:gs pos="80000">
                  <a:srgbClr val="4BACC6">
                    <a:shade val="93000"/>
                    <a:satMod val="130000"/>
                  </a:srgbClr>
                </a:gs>
                <a:gs pos="100000">
                  <a:srgbClr val="4BACC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19" name="Прямоугольник: скругленные углы 4">
              <a:extLst>
                <a:ext uri="{FF2B5EF4-FFF2-40B4-BE49-F238E27FC236}">
                  <a16:creationId xmlns:a16="http://schemas.microsoft.com/office/drawing/2014/main" id="{7DFF8405-0B64-48A0-9E84-FA3FBBC27851}"/>
                </a:ext>
              </a:extLst>
            </p:cNvPr>
            <p:cNvSpPr txBox="1"/>
            <p:nvPr/>
          </p:nvSpPr>
          <p:spPr>
            <a:xfrm>
              <a:off x="170171" y="322576"/>
              <a:ext cx="3755631" cy="5713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60960" tIns="45720" rIns="60960" bIns="45720" numCol="1" spcCol="1270" anchor="ctr" anchorCtr="0">
              <a:noAutofit/>
            </a:bodyPr>
            <a:lstStyle/>
            <a:p>
              <a:pPr marL="0" marR="0" lvl="0" indent="0" algn="ctr" defTabSz="10668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6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Цель программы</a:t>
              </a:r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0BDC714-3D97-4D0B-BF68-EFA98E910A45}"/>
              </a:ext>
            </a:extLst>
          </p:cNvPr>
          <p:cNvGrpSpPr/>
          <p:nvPr/>
        </p:nvGrpSpPr>
        <p:grpSpPr>
          <a:xfrm>
            <a:off x="3190665" y="1319415"/>
            <a:ext cx="2839400" cy="660749"/>
            <a:chOff x="4571988" y="273064"/>
            <a:chExt cx="3521757" cy="592863"/>
          </a:xfrm>
        </p:grpSpPr>
        <p:sp>
          <p:nvSpPr>
            <p:cNvPr id="21" name="Прямоугольник: скругленные углы 20">
              <a:extLst>
                <a:ext uri="{FF2B5EF4-FFF2-40B4-BE49-F238E27FC236}">
                  <a16:creationId xmlns:a16="http://schemas.microsoft.com/office/drawing/2014/main" id="{A7A90BEF-4641-4C65-A8C7-8C721130CE54}"/>
                </a:ext>
              </a:extLst>
            </p:cNvPr>
            <p:cNvSpPr/>
            <p:nvPr/>
          </p:nvSpPr>
          <p:spPr>
            <a:xfrm>
              <a:off x="4571988" y="273064"/>
              <a:ext cx="3521757" cy="592863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22" name="Прямоугольник: скругленные углы 4">
              <a:extLst>
                <a:ext uri="{FF2B5EF4-FFF2-40B4-BE49-F238E27FC236}">
                  <a16:creationId xmlns:a16="http://schemas.microsoft.com/office/drawing/2014/main" id="{81C66073-22AC-4EB2-98D1-3F3D02EAB6D3}"/>
                </a:ext>
              </a:extLst>
            </p:cNvPr>
            <p:cNvSpPr txBox="1"/>
            <p:nvPr/>
          </p:nvSpPr>
          <p:spPr>
            <a:xfrm>
              <a:off x="4589352" y="290428"/>
              <a:ext cx="3487029" cy="558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55880" tIns="41910" rIns="55880" bIns="41910" numCol="1" spcCol="1270" anchor="ctr" anchorCtr="0">
              <a:noAutofit/>
            </a:bodyPr>
            <a:lstStyle/>
            <a:p>
              <a:pPr marL="0" marR="0" lvl="0" indent="0" algn="ctr" defTabSz="9779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6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Миссия</a:t>
              </a:r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80443CE2-95D2-4274-9EC5-99E29D4DC3AE}"/>
              </a:ext>
            </a:extLst>
          </p:cNvPr>
          <p:cNvGrpSpPr/>
          <p:nvPr/>
        </p:nvGrpSpPr>
        <p:grpSpPr>
          <a:xfrm>
            <a:off x="6300191" y="1277121"/>
            <a:ext cx="2775670" cy="692030"/>
            <a:chOff x="8915414" y="228601"/>
            <a:chExt cx="3486996" cy="615229"/>
          </a:xfrm>
        </p:grpSpPr>
        <p:sp>
          <p:nvSpPr>
            <p:cNvPr id="24" name="Прямоугольник: скругленные углы 23">
              <a:extLst>
                <a:ext uri="{FF2B5EF4-FFF2-40B4-BE49-F238E27FC236}">
                  <a16:creationId xmlns:a16="http://schemas.microsoft.com/office/drawing/2014/main" id="{F00821DF-858A-4B09-9FB2-547EF838963A}"/>
                </a:ext>
              </a:extLst>
            </p:cNvPr>
            <p:cNvSpPr/>
            <p:nvPr/>
          </p:nvSpPr>
          <p:spPr>
            <a:xfrm>
              <a:off x="8915414" y="228601"/>
              <a:ext cx="3486996" cy="615229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9BBB59">
                    <a:shade val="51000"/>
                    <a:satMod val="130000"/>
                  </a:srgbClr>
                </a:gs>
                <a:gs pos="80000">
                  <a:srgbClr val="9BBB59">
                    <a:shade val="93000"/>
                    <a:satMod val="130000"/>
                  </a:srgbClr>
                </a:gs>
                <a:gs pos="100000">
                  <a:srgbClr val="9BBB59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25" name="Прямоугольник: скругленные углы 4">
              <a:extLst>
                <a:ext uri="{FF2B5EF4-FFF2-40B4-BE49-F238E27FC236}">
                  <a16:creationId xmlns:a16="http://schemas.microsoft.com/office/drawing/2014/main" id="{AE15CE7E-4856-4B3C-9AC0-A3622293B13A}"/>
                </a:ext>
              </a:extLst>
            </p:cNvPr>
            <p:cNvSpPr txBox="1"/>
            <p:nvPr/>
          </p:nvSpPr>
          <p:spPr>
            <a:xfrm>
              <a:off x="8933433" y="246620"/>
              <a:ext cx="3450958" cy="5791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55880" tIns="41910" rIns="55880" bIns="41910" numCol="1" spcCol="1270" anchor="ctr" anchorCtr="0">
              <a:noAutofit/>
            </a:bodyPr>
            <a:lstStyle/>
            <a:p>
              <a:pPr marL="0" marR="0" lvl="0" indent="0" algn="ctr" defTabSz="9779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2600" b="1" dirty="0">
                  <a:solidFill>
                    <a:sysClr val="window" lastClr="FFFFFF"/>
                  </a:solidFill>
                  <a:latin typeface="Times New Roman" pitchFamily="18" charset="0"/>
                  <a:cs typeface="Times New Roman" pitchFamily="18" charset="0"/>
                </a:rPr>
                <a:t>Видение</a:t>
              </a:r>
              <a:endPara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8AC70B55-DE9B-481D-B2E9-EB8D450323A1}"/>
              </a:ext>
            </a:extLst>
          </p:cNvPr>
          <p:cNvGrpSpPr/>
          <p:nvPr/>
        </p:nvGrpSpPr>
        <p:grpSpPr>
          <a:xfrm>
            <a:off x="9295880" y="1289664"/>
            <a:ext cx="2749138" cy="659218"/>
            <a:chOff x="13258791" y="304798"/>
            <a:chExt cx="3394463" cy="635103"/>
          </a:xfrm>
        </p:grpSpPr>
        <p:sp>
          <p:nvSpPr>
            <p:cNvPr id="27" name="Прямоугольник: скругленные углы 26">
              <a:extLst>
                <a:ext uri="{FF2B5EF4-FFF2-40B4-BE49-F238E27FC236}">
                  <a16:creationId xmlns:a16="http://schemas.microsoft.com/office/drawing/2014/main" id="{BC98F8BB-8225-4C13-870B-4D77CCC8ACC2}"/>
                </a:ext>
              </a:extLst>
            </p:cNvPr>
            <p:cNvSpPr/>
            <p:nvPr/>
          </p:nvSpPr>
          <p:spPr>
            <a:xfrm>
              <a:off x="13258791" y="304798"/>
              <a:ext cx="3394463" cy="635103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28" name="Прямоугольник: скругленные углы 4">
              <a:extLst>
                <a:ext uri="{FF2B5EF4-FFF2-40B4-BE49-F238E27FC236}">
                  <a16:creationId xmlns:a16="http://schemas.microsoft.com/office/drawing/2014/main" id="{D3DBFCD9-A3F2-4A94-AA13-594624A19F08}"/>
                </a:ext>
              </a:extLst>
            </p:cNvPr>
            <p:cNvSpPr txBox="1"/>
            <p:nvPr/>
          </p:nvSpPr>
          <p:spPr>
            <a:xfrm>
              <a:off x="13277393" y="323400"/>
              <a:ext cx="3357259" cy="5978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55880" tIns="41910" rIns="55880" bIns="41910" numCol="1" spcCol="1270" anchor="ctr" anchorCtr="0">
              <a:noAutofit/>
            </a:bodyPr>
            <a:lstStyle/>
            <a:p>
              <a:pPr marL="0" marR="0" lvl="0" indent="0" algn="ctr" defTabSz="9779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6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Ресурсы</a:t>
              </a:r>
              <a:endPara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CF00F10-01E2-4973-92FA-B3DB4B086B8F}"/>
              </a:ext>
            </a:extLst>
          </p:cNvPr>
          <p:cNvSpPr/>
          <p:nvPr/>
        </p:nvSpPr>
        <p:spPr>
          <a:xfrm>
            <a:off x="363357" y="2144637"/>
            <a:ext cx="25976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ru-RU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95F6452B-8F73-4989-BA96-2133E2A11D3C}"/>
              </a:ext>
            </a:extLst>
          </p:cNvPr>
          <p:cNvSpPr/>
          <p:nvPr/>
        </p:nvSpPr>
        <p:spPr>
          <a:xfrm>
            <a:off x="100332" y="2306896"/>
            <a:ext cx="3008350" cy="42618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современных управленческих подходов для развития инновационной образовательной модели, обеспечивающей качество обучения, воспитания и социализации в соответствии с национальным и международными стандартами.</a:t>
            </a:r>
            <a:endParaRPr lang="ru-MD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83CBE1A-3088-438A-9C95-AAC16407E34D}"/>
              </a:ext>
            </a:extLst>
          </p:cNvPr>
          <p:cNvSpPr/>
          <p:nvPr/>
        </p:nvSpPr>
        <p:spPr>
          <a:xfrm>
            <a:off x="3222058" y="2306896"/>
            <a:ext cx="3042365" cy="42618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современной и безопасной образовательной среды, обеспечивающей качественное обучение, развитие потенциала каждого ученика и его успешную социализацию.</a:t>
            </a:r>
            <a:endParaRPr lang="ru-MD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22EA56F-3A1D-4DD6-AA40-DCF5E7FB61F8}"/>
              </a:ext>
            </a:extLst>
          </p:cNvPr>
          <p:cNvSpPr/>
          <p:nvPr/>
        </p:nvSpPr>
        <p:spPr>
          <a:xfrm>
            <a:off x="6356810" y="2306896"/>
            <a:ext cx="2871166" cy="41246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современной, безопасной и открытой гимназии, обеспечивающей качественное образование, развитие потенциала каждого ученика и активное сотрудничество с семьёй и обществом.</a:t>
            </a:r>
            <a:endParaRPr lang="ru-MD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25B757D-5A40-4DED-A5C4-19E5085B4A3D}"/>
              </a:ext>
            </a:extLst>
          </p:cNvPr>
          <p:cNvSpPr/>
          <p:nvPr/>
        </p:nvSpPr>
        <p:spPr>
          <a:xfrm>
            <a:off x="9340533" y="2275614"/>
            <a:ext cx="2749138" cy="41558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2025–2030 гг. учреждение будет финансироваться по формульной модели с привлечением альтернативных источников, что обеспечит общий объём средств в 30 млн. для реализации приоритетных направлений развития.</a:t>
            </a:r>
            <a:endParaRPr lang="ru-MD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45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A1A2020-011E-43DB-9312-232B0A14FD26}"/>
              </a:ext>
            </a:extLst>
          </p:cNvPr>
          <p:cNvGrpSpPr/>
          <p:nvPr/>
        </p:nvGrpSpPr>
        <p:grpSpPr>
          <a:xfrm>
            <a:off x="3834882" y="586585"/>
            <a:ext cx="4338735" cy="1009202"/>
            <a:chOff x="0" y="6508486"/>
            <a:chExt cx="12192000" cy="1613703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353BF90D-38CA-4882-A92F-0033837CBD43}"/>
                </a:ext>
              </a:extLst>
            </p:cNvPr>
            <p:cNvSpPr/>
            <p:nvPr/>
          </p:nvSpPr>
          <p:spPr>
            <a:xfrm>
              <a:off x="0" y="6508486"/>
              <a:ext cx="12192000" cy="1613703"/>
            </a:xfrm>
            <a:prstGeom prst="roundRect">
              <a:avLst>
                <a:gd name="adj" fmla="val 10000"/>
              </a:avLst>
            </a:prstGeom>
            <a:grp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6" name="Прямоугольник: скругленные углы 4">
              <a:extLst>
                <a:ext uri="{FF2B5EF4-FFF2-40B4-BE49-F238E27FC236}">
                  <a16:creationId xmlns:a16="http://schemas.microsoft.com/office/drawing/2014/main" id="{11447E46-B967-4CB6-8716-C4D3D11DE6D1}"/>
                </a:ext>
              </a:extLst>
            </p:cNvPr>
            <p:cNvSpPr txBox="1"/>
            <p:nvPr/>
          </p:nvSpPr>
          <p:spPr>
            <a:xfrm>
              <a:off x="47264" y="6555750"/>
              <a:ext cx="12097472" cy="1519175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spcFirstLastPara="0" vert="horz" wrap="square" lIns="129540" tIns="129540" rIns="129540" bIns="129540" numCol="1" spcCol="1270" anchor="ctr" anchorCtr="0">
              <a:noAutofit/>
            </a:bodyPr>
            <a:lstStyle/>
            <a:p>
              <a:pPr marL="0" marR="0" lvl="0" indent="0" algn="ctr" defTabSz="1511300" eaLnBrk="1" fontAlgn="auto" latinLnBrk="0" hangingPunct="1"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2800" b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ОТВЕТСТВЕННЫЕ</a:t>
              </a:r>
              <a:endPara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" name="Стрелка: вниз 6">
            <a:extLst>
              <a:ext uri="{FF2B5EF4-FFF2-40B4-BE49-F238E27FC236}">
                <a16:creationId xmlns:a16="http://schemas.microsoft.com/office/drawing/2014/main" id="{5DAC9B59-9BF3-4795-AEAD-E56F8B09E7D5}"/>
              </a:ext>
            </a:extLst>
          </p:cNvPr>
          <p:cNvSpPr/>
          <p:nvPr/>
        </p:nvSpPr>
        <p:spPr>
          <a:xfrm>
            <a:off x="5794310" y="1610439"/>
            <a:ext cx="457200" cy="522514"/>
          </a:xfrm>
          <a:prstGeom prst="down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4E5EC737-E171-4608-8314-50D8398C96F5}"/>
              </a:ext>
            </a:extLst>
          </p:cNvPr>
          <p:cNvGrpSpPr/>
          <p:nvPr/>
        </p:nvGrpSpPr>
        <p:grpSpPr>
          <a:xfrm>
            <a:off x="2486573" y="2161265"/>
            <a:ext cx="7386668" cy="1009202"/>
            <a:chOff x="-263214" y="6509148"/>
            <a:chExt cx="12502477" cy="1613703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D882CF65-5651-4D69-A198-09556462CFF3}"/>
                </a:ext>
              </a:extLst>
            </p:cNvPr>
            <p:cNvSpPr/>
            <p:nvPr/>
          </p:nvSpPr>
          <p:spPr>
            <a:xfrm>
              <a:off x="-263214" y="6509148"/>
              <a:ext cx="12192000" cy="1613703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4F81BD">
                    <a:shade val="51000"/>
                    <a:satMod val="130000"/>
                  </a:srgbClr>
                </a:gs>
                <a:gs pos="80000">
                  <a:srgbClr val="4F81BD">
                    <a:shade val="93000"/>
                    <a:satMod val="130000"/>
                  </a:srgbClr>
                </a:gs>
                <a:gs pos="100000">
                  <a:srgbClr val="4F81B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0" name="Прямоугольник: скругленные углы 4">
              <a:extLst>
                <a:ext uri="{FF2B5EF4-FFF2-40B4-BE49-F238E27FC236}">
                  <a16:creationId xmlns:a16="http://schemas.microsoft.com/office/drawing/2014/main" id="{3899A812-8527-4524-A1B3-C14934B990A8}"/>
                </a:ext>
              </a:extLst>
            </p:cNvPr>
            <p:cNvSpPr txBox="1"/>
            <p:nvPr/>
          </p:nvSpPr>
          <p:spPr>
            <a:xfrm>
              <a:off x="47263" y="6555751"/>
              <a:ext cx="12192000" cy="15191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29540" tIns="129540" rIns="129540" bIns="129540" numCol="1" spcCol="1270" anchor="ctr" anchorCtr="0">
              <a:noAutofit/>
            </a:bodyPr>
            <a:lstStyle/>
            <a:p>
              <a:pPr marL="0" marR="0" lvl="0" indent="0" algn="ctr" defTabSz="1511300" eaLnBrk="1" fontAlgn="auto" latinLnBrk="0" hangingPunct="1"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2800" b="1" dirty="0"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Административный совет ПУ Гимназии </a:t>
              </a:r>
            </a:p>
            <a:p>
              <a:pPr marL="0" marR="0" lvl="0" indent="0" algn="ctr" defTabSz="1511300" eaLnBrk="1" fontAlgn="auto" latinLnBrk="0" hangingPunct="1"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2800" b="1" dirty="0"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с. Томай</a:t>
              </a:r>
              <a:endPara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6F00A49A-17AF-4EF5-80BA-9941FAE16BCE}"/>
              </a:ext>
            </a:extLst>
          </p:cNvPr>
          <p:cNvGrpSpPr/>
          <p:nvPr/>
        </p:nvGrpSpPr>
        <p:grpSpPr>
          <a:xfrm>
            <a:off x="2550367" y="3743981"/>
            <a:ext cx="7203233" cy="1009202"/>
            <a:chOff x="0" y="6508486"/>
            <a:chExt cx="12192000" cy="1613703"/>
          </a:xfrm>
        </p:grpSpPr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651DE124-E5F0-4683-B30A-D7F836DD21D5}"/>
                </a:ext>
              </a:extLst>
            </p:cNvPr>
            <p:cNvSpPr/>
            <p:nvPr/>
          </p:nvSpPr>
          <p:spPr>
            <a:xfrm>
              <a:off x="0" y="6508486"/>
              <a:ext cx="12192000" cy="1613703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4F81BD">
                    <a:shade val="51000"/>
                    <a:satMod val="130000"/>
                  </a:srgbClr>
                </a:gs>
                <a:gs pos="80000">
                  <a:srgbClr val="4F81BD">
                    <a:shade val="93000"/>
                    <a:satMod val="130000"/>
                  </a:srgbClr>
                </a:gs>
                <a:gs pos="100000">
                  <a:srgbClr val="4F81B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4" name="Прямоугольник: скругленные углы 4">
              <a:extLst>
                <a:ext uri="{FF2B5EF4-FFF2-40B4-BE49-F238E27FC236}">
                  <a16:creationId xmlns:a16="http://schemas.microsoft.com/office/drawing/2014/main" id="{94883A68-B7B7-4FAA-8CA6-D3D3066BA28F}"/>
                </a:ext>
              </a:extLst>
            </p:cNvPr>
            <p:cNvSpPr txBox="1"/>
            <p:nvPr/>
          </p:nvSpPr>
          <p:spPr>
            <a:xfrm>
              <a:off x="47264" y="6555750"/>
              <a:ext cx="12097472" cy="15191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29540" tIns="129540" rIns="129540" bIns="129540" numCol="1" spcCol="1270" anchor="ctr" anchorCtr="0">
              <a:noAutofit/>
            </a:bodyPr>
            <a:lstStyle/>
            <a:p>
              <a:pPr marL="0" marR="0" lvl="0" indent="0" algn="ctr" defTabSz="1511300" eaLnBrk="1" fontAlgn="auto" latinLnBrk="0" hangingPunct="1"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2800" b="1" dirty="0"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Педсовет ПУ Гимназии с. Томай</a:t>
              </a:r>
              <a:endPara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FE6C4B46-8474-403D-AD23-3F4756CE739F}"/>
              </a:ext>
            </a:extLst>
          </p:cNvPr>
          <p:cNvGrpSpPr/>
          <p:nvPr/>
        </p:nvGrpSpPr>
        <p:grpSpPr>
          <a:xfrm>
            <a:off x="2578291" y="5282743"/>
            <a:ext cx="7203234" cy="1009202"/>
            <a:chOff x="0" y="6508486"/>
            <a:chExt cx="12192000" cy="1613703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9C059C30-256A-4E54-918C-7681790F9D29}"/>
                </a:ext>
              </a:extLst>
            </p:cNvPr>
            <p:cNvSpPr/>
            <p:nvPr/>
          </p:nvSpPr>
          <p:spPr>
            <a:xfrm>
              <a:off x="0" y="6508486"/>
              <a:ext cx="12192000" cy="1613703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4F81BD">
                    <a:shade val="51000"/>
                    <a:satMod val="130000"/>
                  </a:srgbClr>
                </a:gs>
                <a:gs pos="80000">
                  <a:srgbClr val="4F81BD">
                    <a:shade val="93000"/>
                    <a:satMod val="130000"/>
                  </a:srgbClr>
                </a:gs>
                <a:gs pos="100000">
                  <a:srgbClr val="4F81B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7" name="Прямоугольник: скругленные углы 4">
              <a:extLst>
                <a:ext uri="{FF2B5EF4-FFF2-40B4-BE49-F238E27FC236}">
                  <a16:creationId xmlns:a16="http://schemas.microsoft.com/office/drawing/2014/main" id="{DF20B403-29C8-4C5C-AA70-93E8E674E093}"/>
                </a:ext>
              </a:extLst>
            </p:cNvPr>
            <p:cNvSpPr txBox="1"/>
            <p:nvPr/>
          </p:nvSpPr>
          <p:spPr>
            <a:xfrm>
              <a:off x="47264" y="6555750"/>
              <a:ext cx="12097472" cy="15191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29540" tIns="129540" rIns="129540" bIns="129540" numCol="1" spcCol="1270" anchor="ctr" anchorCtr="0">
              <a:noAutofit/>
            </a:bodyPr>
            <a:lstStyle/>
            <a:p>
              <a:pPr marL="0" marR="0" lvl="0" indent="0" algn="ctr" defTabSz="1511300" eaLnBrk="1" fontAlgn="auto" latinLnBrk="0" hangingPunct="1"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2800" b="1" dirty="0"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Все структуры ПУ Гимназии с. Томай</a:t>
              </a:r>
              <a:endPara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8" name="Стрелка: вниз 17">
            <a:extLst>
              <a:ext uri="{FF2B5EF4-FFF2-40B4-BE49-F238E27FC236}">
                <a16:creationId xmlns:a16="http://schemas.microsoft.com/office/drawing/2014/main" id="{23984684-25D6-455E-BE22-11A106DDFBB3}"/>
              </a:ext>
            </a:extLst>
          </p:cNvPr>
          <p:cNvSpPr/>
          <p:nvPr/>
        </p:nvSpPr>
        <p:spPr>
          <a:xfrm>
            <a:off x="4344955" y="3200025"/>
            <a:ext cx="457200" cy="522514"/>
          </a:xfrm>
          <a:prstGeom prst="down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/>
          </a:p>
        </p:txBody>
      </p:sp>
      <p:sp>
        <p:nvSpPr>
          <p:cNvPr id="19" name="Стрелка: вниз 18">
            <a:extLst>
              <a:ext uri="{FF2B5EF4-FFF2-40B4-BE49-F238E27FC236}">
                <a16:creationId xmlns:a16="http://schemas.microsoft.com/office/drawing/2014/main" id="{D6CB8E08-D558-4BCA-B6E6-4393A0EA1E39}"/>
              </a:ext>
            </a:extLst>
          </p:cNvPr>
          <p:cNvSpPr/>
          <p:nvPr/>
        </p:nvSpPr>
        <p:spPr>
          <a:xfrm>
            <a:off x="7371184" y="4757448"/>
            <a:ext cx="485192" cy="522514"/>
          </a:xfrm>
          <a:prstGeom prst="down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/>
          </a:p>
        </p:txBody>
      </p:sp>
    </p:spTree>
    <p:extLst>
      <p:ext uri="{BB962C8B-B14F-4D97-AF65-F5344CB8AC3E}">
        <p14:creationId xmlns:p14="http://schemas.microsoft.com/office/powerpoint/2010/main" val="2292853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4">
            <a:extLst>
              <a:ext uri="{FF2B5EF4-FFF2-40B4-BE49-F238E27FC236}">
                <a16:creationId xmlns:a16="http://schemas.microsoft.com/office/drawing/2014/main" id="{7BC67FAA-26CB-41D6-B511-26D853DFFA2F}"/>
              </a:ext>
            </a:extLst>
          </p:cNvPr>
          <p:cNvSpPr txBox="1"/>
          <p:nvPr/>
        </p:nvSpPr>
        <p:spPr>
          <a:xfrm>
            <a:off x="2768079" y="753636"/>
            <a:ext cx="6503437" cy="878293"/>
          </a:xfrm>
          <a:prstGeom prst="rect">
            <a:avLst/>
          </a:prstGeom>
          <a:gradFill flip="none" rotWithShape="1">
            <a:gsLst>
              <a:gs pos="0">
                <a:srgbClr val="F0A318">
                  <a:shade val="30000"/>
                  <a:satMod val="115000"/>
                </a:srgbClr>
              </a:gs>
              <a:gs pos="50000">
                <a:srgbClr val="F0A318">
                  <a:shade val="67500"/>
                  <a:satMod val="115000"/>
                </a:srgbClr>
              </a:gs>
              <a:gs pos="100000">
                <a:srgbClr val="F0A318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tx1"/>
            </a:solidFill>
            <a:prstDash val="lgDashDot"/>
          </a:ln>
          <a:effectLst/>
        </p:spPr>
        <p:txBody>
          <a:bodyPr spcFirstLastPara="0" vert="horz" wrap="square" lIns="152400" tIns="152400" rIns="152400" bIns="152400" numCol="1" spcCol="1270" anchor="ctr" anchorCtr="0">
            <a:noAutofit/>
          </a:bodyPr>
          <a:lstStyle/>
          <a:p>
            <a:pPr marL="0" marR="0" lvl="0" indent="0" algn="ctr" defTabSz="17780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ru-RU" sz="2800" b="1" dirty="0">
                <a:solidFill>
                  <a:sysClr val="window" lastClr="FFFFFF"/>
                </a:solidFill>
                <a:latin typeface="Times New Roman" pitchFamily="18" charset="0"/>
                <a:cs typeface="Times New Roman" pitchFamily="18" charset="0"/>
              </a:rPr>
              <a:t>Управление реализацией программы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7" name="Прямоугольник: скругленные углы 4">
            <a:extLst>
              <a:ext uri="{FF2B5EF4-FFF2-40B4-BE49-F238E27FC236}">
                <a16:creationId xmlns:a16="http://schemas.microsoft.com/office/drawing/2014/main" id="{E8A74066-6385-4E25-AE6F-E9F6909A70FA}"/>
              </a:ext>
            </a:extLst>
          </p:cNvPr>
          <p:cNvSpPr txBox="1"/>
          <p:nvPr/>
        </p:nvSpPr>
        <p:spPr>
          <a:xfrm>
            <a:off x="2341980" y="2141253"/>
            <a:ext cx="7336969" cy="993710"/>
          </a:xfrm>
          <a:prstGeom prst="rect">
            <a:avLst/>
          </a:prstGeom>
          <a:gradFill flip="none" rotWithShape="1">
            <a:gsLst>
              <a:gs pos="0">
                <a:srgbClr val="F0A318">
                  <a:shade val="30000"/>
                  <a:satMod val="115000"/>
                </a:srgbClr>
              </a:gs>
              <a:gs pos="50000">
                <a:srgbClr val="F0A318">
                  <a:shade val="67500"/>
                  <a:satMod val="115000"/>
                </a:srgbClr>
              </a:gs>
              <a:gs pos="100000">
                <a:srgbClr val="F0A318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tx1"/>
            </a:solidFill>
            <a:prstDash val="lgDashDot"/>
          </a:ln>
          <a:effectLst/>
        </p:spPr>
        <p:txBody>
          <a:bodyPr spcFirstLastPara="0" vert="horz" wrap="square" lIns="152400" tIns="152400" rIns="152400" bIns="152400" numCol="1" spcCol="1270" anchor="ctr" anchorCtr="0">
            <a:noAutofit/>
          </a:bodyPr>
          <a:lstStyle/>
          <a:p>
            <a:pPr marL="0" marR="0" lvl="0" indent="0" algn="ctr" defTabSz="17780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ru-RU" sz="2800" b="1" dirty="0">
                <a:solidFill>
                  <a:sysClr val="window" lastClr="FFFFFF"/>
                </a:solidFill>
                <a:latin typeface="Times New Roman" pitchFamily="18" charset="0"/>
                <a:cs typeface="Times New Roman" pitchFamily="18" charset="0"/>
              </a:rPr>
              <a:t>Стандарты качества образовательных учреждений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" name="Прямоугольник: скругленные углы 4">
            <a:extLst>
              <a:ext uri="{FF2B5EF4-FFF2-40B4-BE49-F238E27FC236}">
                <a16:creationId xmlns:a16="http://schemas.microsoft.com/office/drawing/2014/main" id="{C7144373-89FC-4AFC-A5D6-C077A1C95183}"/>
              </a:ext>
            </a:extLst>
          </p:cNvPr>
          <p:cNvSpPr txBox="1"/>
          <p:nvPr/>
        </p:nvSpPr>
        <p:spPr>
          <a:xfrm>
            <a:off x="3183295" y="3585289"/>
            <a:ext cx="5825410" cy="884077"/>
          </a:xfrm>
          <a:prstGeom prst="rect">
            <a:avLst/>
          </a:prstGeom>
          <a:gradFill flip="none" rotWithShape="1">
            <a:gsLst>
              <a:gs pos="0">
                <a:srgbClr val="F0A318">
                  <a:shade val="30000"/>
                  <a:satMod val="115000"/>
                </a:srgbClr>
              </a:gs>
              <a:gs pos="50000">
                <a:srgbClr val="F0A318">
                  <a:shade val="67500"/>
                  <a:satMod val="115000"/>
                </a:srgbClr>
              </a:gs>
              <a:gs pos="100000">
                <a:srgbClr val="F0A318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tx1"/>
            </a:solidFill>
            <a:prstDash val="lgDashDot"/>
          </a:ln>
          <a:effectLst/>
        </p:spPr>
        <p:txBody>
          <a:bodyPr spcFirstLastPara="0" vert="horz" wrap="square" lIns="152400" tIns="152400" rIns="152400" bIns="152400" numCol="1" spcCol="1270" anchor="ctr" anchorCtr="0">
            <a:noAutofit/>
          </a:bodyPr>
          <a:lstStyle/>
          <a:p>
            <a:pPr marL="0" marR="0" lvl="0" indent="0" algn="ctr" defTabSz="17780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Годовой план  УЗ</a:t>
            </a:r>
          </a:p>
        </p:txBody>
      </p:sp>
      <p:sp>
        <p:nvSpPr>
          <p:cNvPr id="9" name="Прямоугольник: скругленные углы 4">
            <a:extLst>
              <a:ext uri="{FF2B5EF4-FFF2-40B4-BE49-F238E27FC236}">
                <a16:creationId xmlns:a16="http://schemas.microsoft.com/office/drawing/2014/main" id="{152FDF53-3AA7-41B0-A50F-6CB82C81A178}"/>
              </a:ext>
            </a:extLst>
          </p:cNvPr>
          <p:cNvSpPr txBox="1"/>
          <p:nvPr/>
        </p:nvSpPr>
        <p:spPr>
          <a:xfrm>
            <a:off x="2341979" y="4940408"/>
            <a:ext cx="7336969" cy="884076"/>
          </a:xfrm>
          <a:prstGeom prst="rect">
            <a:avLst/>
          </a:prstGeom>
          <a:gradFill flip="none" rotWithShape="1">
            <a:gsLst>
              <a:gs pos="0">
                <a:srgbClr val="F0A318">
                  <a:shade val="30000"/>
                  <a:satMod val="115000"/>
                </a:srgbClr>
              </a:gs>
              <a:gs pos="50000">
                <a:srgbClr val="F0A318">
                  <a:shade val="67500"/>
                  <a:satMod val="115000"/>
                </a:srgbClr>
              </a:gs>
              <a:gs pos="100000">
                <a:srgbClr val="F0A318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tx1"/>
            </a:solidFill>
            <a:prstDash val="lgDashDot"/>
          </a:ln>
          <a:effectLst/>
        </p:spPr>
        <p:txBody>
          <a:bodyPr spcFirstLastPara="0" vert="horz" wrap="square" lIns="152400" tIns="152400" rIns="152400" bIns="152400" numCol="1" spcCol="1270" anchor="ctr" anchorCtr="0">
            <a:noAutofit/>
          </a:bodyPr>
          <a:lstStyle/>
          <a:p>
            <a:pPr marL="0" marR="0" lvl="0" indent="0" algn="ctr" defTabSz="17780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Долгосрочные планы по дисциплинам</a:t>
            </a:r>
          </a:p>
        </p:txBody>
      </p:sp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3666F085-58BE-4DEA-8D58-ABDBE8303139}"/>
              </a:ext>
            </a:extLst>
          </p:cNvPr>
          <p:cNvSpPr/>
          <p:nvPr/>
        </p:nvSpPr>
        <p:spPr>
          <a:xfrm rot="5400000">
            <a:off x="4747026" y="1697664"/>
            <a:ext cx="471041" cy="359842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Стрелка: вправо 11">
            <a:extLst>
              <a:ext uri="{FF2B5EF4-FFF2-40B4-BE49-F238E27FC236}">
                <a16:creationId xmlns:a16="http://schemas.microsoft.com/office/drawing/2014/main" id="{39CAFDAD-9923-4B55-A5D0-A6BB18136A02}"/>
              </a:ext>
            </a:extLst>
          </p:cNvPr>
          <p:cNvSpPr/>
          <p:nvPr/>
        </p:nvSpPr>
        <p:spPr>
          <a:xfrm rot="5400000">
            <a:off x="6461385" y="3186344"/>
            <a:ext cx="447995" cy="345233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D31C6835-0204-4CD6-B5E3-087A24427733}"/>
              </a:ext>
            </a:extLst>
          </p:cNvPr>
          <p:cNvSpPr/>
          <p:nvPr/>
        </p:nvSpPr>
        <p:spPr>
          <a:xfrm rot="5400000">
            <a:off x="4843442" y="4524966"/>
            <a:ext cx="471041" cy="359842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191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4">
            <a:extLst>
              <a:ext uri="{FF2B5EF4-FFF2-40B4-BE49-F238E27FC236}">
                <a16:creationId xmlns:a16="http://schemas.microsoft.com/office/drawing/2014/main" id="{A048597E-33B7-4956-926B-C8091900D4A7}"/>
              </a:ext>
            </a:extLst>
          </p:cNvPr>
          <p:cNvSpPr txBox="1"/>
          <p:nvPr/>
        </p:nvSpPr>
        <p:spPr>
          <a:xfrm>
            <a:off x="4159772" y="-784906"/>
            <a:ext cx="3872456" cy="2422815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marL="0" marR="0" lvl="0" indent="0" algn="ctr" defTabSz="1422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E86A681-06AE-4B92-A4B7-96FF230BD1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6D6DEE8-D97A-449C-8177-4B60B54B7FE7}"/>
              </a:ext>
            </a:extLst>
          </p:cNvPr>
          <p:cNvSpPr/>
          <p:nvPr/>
        </p:nvSpPr>
        <p:spPr>
          <a:xfrm>
            <a:off x="3617633" y="351549"/>
            <a:ext cx="4956734" cy="73546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Приоритетные направления </a:t>
            </a:r>
            <a:endParaRPr lang="ru-MD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CF00F10-01E2-4973-92FA-B3DB4B086B8F}"/>
              </a:ext>
            </a:extLst>
          </p:cNvPr>
          <p:cNvSpPr/>
          <p:nvPr/>
        </p:nvSpPr>
        <p:spPr>
          <a:xfrm>
            <a:off x="363357" y="2144637"/>
            <a:ext cx="25976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ru-RU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95F6452B-8F73-4989-BA96-2133E2A11D3C}"/>
              </a:ext>
            </a:extLst>
          </p:cNvPr>
          <p:cNvSpPr/>
          <p:nvPr/>
        </p:nvSpPr>
        <p:spPr>
          <a:xfrm>
            <a:off x="76266" y="1313048"/>
            <a:ext cx="2210288" cy="2637018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19050">
            <a:solidFill>
              <a:srgbClr val="00206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и поддержание здоровой, безопасной и комфортной образовательной среды.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83CBE1A-3088-438A-9C95-AAC16407E34D}"/>
              </a:ext>
            </a:extLst>
          </p:cNvPr>
          <p:cNvSpPr/>
          <p:nvPr/>
        </p:nvSpPr>
        <p:spPr>
          <a:xfrm>
            <a:off x="2355514" y="1313048"/>
            <a:ext cx="2404381" cy="266174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19050">
            <a:solidFill>
              <a:srgbClr val="002060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Усиление профессионального развития педагогов, внедрение систем мотивации и наставничества.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22EA56F-3A1D-4DD6-AA40-DCF5E7FB61F8}"/>
              </a:ext>
            </a:extLst>
          </p:cNvPr>
          <p:cNvSpPr/>
          <p:nvPr/>
        </p:nvSpPr>
        <p:spPr>
          <a:xfrm>
            <a:off x="4813874" y="1313048"/>
            <a:ext cx="2404381" cy="263701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8100000" scaled="1"/>
            <a:tileRect/>
          </a:gradFill>
          <a:ln w="19050"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и развитие способностей одарённых учащихся через специализированные программы и психологическую помощь.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25B757D-5A40-4DED-A5C4-19E5085B4A3D}"/>
              </a:ext>
            </a:extLst>
          </p:cNvPr>
          <p:cNvSpPr/>
          <p:nvPr/>
        </p:nvSpPr>
        <p:spPr>
          <a:xfrm>
            <a:off x="9711352" y="1313048"/>
            <a:ext cx="2404382" cy="263701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8100000" scaled="1"/>
            <a:tileRect/>
          </a:gradFill>
          <a:ln w="19050"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Поддерживать самоуправление и индивидуальный подход через развитие компетенций и </a:t>
            </a:r>
            <a:r>
              <a:rPr lang="ru-RU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межпредметность</a:t>
            </a:r>
            <a:r>
              <a:rPr lang="ru-RU" sz="2000" dirty="0"/>
              <a:t>.</a:t>
            </a:r>
            <a:endParaRPr lang="ru-MD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48314D2C-8EA9-4D40-A05F-55B440CF5607}"/>
              </a:ext>
            </a:extLst>
          </p:cNvPr>
          <p:cNvSpPr/>
          <p:nvPr/>
        </p:nvSpPr>
        <p:spPr>
          <a:xfrm>
            <a:off x="7279908" y="1313049"/>
            <a:ext cx="2369790" cy="268090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19050"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Развивать цифровую инфраструктуру и повышать цифровую грамотность.</a:t>
            </a:r>
            <a:endParaRPr lang="ru-MD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5F5D97DF-C136-4A8B-B2F2-0F1016399392}"/>
              </a:ext>
            </a:extLst>
          </p:cNvPr>
          <p:cNvSpPr/>
          <p:nvPr/>
        </p:nvSpPr>
        <p:spPr>
          <a:xfrm>
            <a:off x="85262" y="4071785"/>
            <a:ext cx="2270252" cy="261311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Расширять партнёрство с родителями, властями, соц. учреждениями и выпускниками.</a:t>
            </a:r>
            <a:endParaRPr lang="ru-MD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30DF5792-EA22-4AE4-A9A5-F7B2252581F6}"/>
              </a:ext>
            </a:extLst>
          </p:cNvPr>
          <p:cNvSpPr/>
          <p:nvPr/>
        </p:nvSpPr>
        <p:spPr>
          <a:xfrm>
            <a:off x="2422671" y="4071785"/>
            <a:ext cx="2309939" cy="258784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инклюзивного образования и комплексная поддержка детей с особыми образовательными потребностями.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2EF7F97E-3A71-4E60-8898-EC960351509D}"/>
              </a:ext>
            </a:extLst>
          </p:cNvPr>
          <p:cNvSpPr/>
          <p:nvPr/>
        </p:nvSpPr>
        <p:spPr>
          <a:xfrm>
            <a:off x="4808875" y="4041696"/>
            <a:ext cx="2374973" cy="259027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9050"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MD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Модернизация материально-технической базы гимназии и обеспечение безопасности.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BA021F95-99A1-4DDC-8ACC-3CF8CE302E61}"/>
              </a:ext>
            </a:extLst>
          </p:cNvPr>
          <p:cNvSpPr/>
          <p:nvPr/>
        </p:nvSpPr>
        <p:spPr>
          <a:xfrm>
            <a:off x="7260114" y="4044127"/>
            <a:ext cx="2451238" cy="261792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9050"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 научно-методического сопровождения проектно-исследовательской деятельности учащихся.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B350AE0D-8C2B-4887-AFAA-5CD686CA2CCE}"/>
              </a:ext>
            </a:extLst>
          </p:cNvPr>
          <p:cNvSpPr/>
          <p:nvPr/>
        </p:nvSpPr>
        <p:spPr>
          <a:xfrm>
            <a:off x="9787505" y="4041697"/>
            <a:ext cx="2328229" cy="259027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19050"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внеурочной деятельности, поддержка творческих инициатив и социализации учащихся.</a:t>
            </a:r>
          </a:p>
        </p:txBody>
      </p:sp>
    </p:spTree>
    <p:extLst>
      <p:ext uri="{BB962C8B-B14F-4D97-AF65-F5344CB8AC3E}">
        <p14:creationId xmlns:p14="http://schemas.microsoft.com/office/powerpoint/2010/main" val="37255363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4">
            <a:extLst>
              <a:ext uri="{FF2B5EF4-FFF2-40B4-BE49-F238E27FC236}">
                <a16:creationId xmlns:a16="http://schemas.microsoft.com/office/drawing/2014/main" id="{A048597E-33B7-4956-926B-C8091900D4A7}"/>
              </a:ext>
            </a:extLst>
          </p:cNvPr>
          <p:cNvSpPr txBox="1"/>
          <p:nvPr/>
        </p:nvSpPr>
        <p:spPr>
          <a:xfrm>
            <a:off x="4159772" y="-784906"/>
            <a:ext cx="3872456" cy="2422815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marL="0" marR="0" lvl="0" indent="0" algn="ctr" defTabSz="1422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E86A681-06AE-4B92-A4B7-96FF230BD1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6D6DEE8-D97A-449C-8177-4B60B54B7FE7}"/>
              </a:ext>
            </a:extLst>
          </p:cNvPr>
          <p:cNvSpPr/>
          <p:nvPr/>
        </p:nvSpPr>
        <p:spPr>
          <a:xfrm>
            <a:off x="902890" y="390516"/>
            <a:ext cx="10226351" cy="73546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IV</a:t>
            </a:r>
            <a:r>
              <a:rPr lang="ru-MD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ru-RU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Приоритетные направления развития и ключевые действия</a:t>
            </a:r>
            <a:endParaRPr lang="ru-MD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CF00F10-01E2-4973-92FA-B3DB4B086B8F}"/>
              </a:ext>
            </a:extLst>
          </p:cNvPr>
          <p:cNvSpPr/>
          <p:nvPr/>
        </p:nvSpPr>
        <p:spPr>
          <a:xfrm>
            <a:off x="363357" y="2144637"/>
            <a:ext cx="25976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ru-RU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95F6452B-8F73-4989-BA96-2133E2A11D3C}"/>
              </a:ext>
            </a:extLst>
          </p:cNvPr>
          <p:cNvSpPr/>
          <p:nvPr/>
        </p:nvSpPr>
        <p:spPr>
          <a:xfrm>
            <a:off x="76266" y="1266589"/>
            <a:ext cx="2210288" cy="268347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Обеспечить здоровую, безопасную и комфортную образовательную среду.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83CBE1A-3088-438A-9C95-AAC16407E34D}"/>
              </a:ext>
            </a:extLst>
          </p:cNvPr>
          <p:cNvSpPr/>
          <p:nvPr/>
        </p:nvSpPr>
        <p:spPr>
          <a:xfrm>
            <a:off x="2346518" y="1313048"/>
            <a:ext cx="2404381" cy="266174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Усилить развитие педагогов, внедрить мотивацию и наставничество.</a:t>
            </a:r>
            <a:endParaRPr lang="ru-MD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22EA56F-3A1D-4DD6-AA40-DCF5E7FB61F8}"/>
              </a:ext>
            </a:extLst>
          </p:cNvPr>
          <p:cNvSpPr/>
          <p:nvPr/>
        </p:nvSpPr>
        <p:spPr>
          <a:xfrm>
            <a:off x="4813874" y="1313048"/>
            <a:ext cx="2404381" cy="263701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Внедрить программы поддержки одарённых и психологическую помощь.</a:t>
            </a:r>
            <a:endParaRPr lang="ru-MD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25B757D-5A40-4DED-A5C4-19E5085B4A3D}"/>
              </a:ext>
            </a:extLst>
          </p:cNvPr>
          <p:cNvSpPr/>
          <p:nvPr/>
        </p:nvSpPr>
        <p:spPr>
          <a:xfrm>
            <a:off x="9711352" y="1313050"/>
            <a:ext cx="2404382" cy="263701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Поддерживать  самоуправление и индивидуализацию через развитие компетенций и интеграцию.</a:t>
            </a:r>
            <a:endParaRPr lang="ru-MD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48314D2C-8EA9-4D40-A05F-55B440CF5607}"/>
              </a:ext>
            </a:extLst>
          </p:cNvPr>
          <p:cNvSpPr/>
          <p:nvPr/>
        </p:nvSpPr>
        <p:spPr>
          <a:xfrm>
            <a:off x="7279908" y="1332207"/>
            <a:ext cx="2369790" cy="266174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Развивать цифровую инфраструктуру и цифровую грамотность.</a:t>
            </a:r>
            <a:endParaRPr lang="ru-MD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5F5D97DF-C136-4A8B-B2F2-0F1016399392}"/>
              </a:ext>
            </a:extLst>
          </p:cNvPr>
          <p:cNvSpPr/>
          <p:nvPr/>
        </p:nvSpPr>
        <p:spPr>
          <a:xfrm>
            <a:off x="76266" y="4018857"/>
            <a:ext cx="2251963" cy="261311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Расширять партнёрство с родителями, властями, </a:t>
            </a:r>
            <a:r>
              <a:rPr lang="ru-RU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соцучреждениями</a:t>
            </a:r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и выпускниками.</a:t>
            </a:r>
            <a:endParaRPr lang="ru-MD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30DF5792-EA22-4AE4-A9A5-F7B2252581F6}"/>
              </a:ext>
            </a:extLst>
          </p:cNvPr>
          <p:cNvSpPr/>
          <p:nvPr/>
        </p:nvSpPr>
        <p:spPr>
          <a:xfrm>
            <a:off x="2404495" y="4071785"/>
            <a:ext cx="2328115" cy="258784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Обеспечить инклюзию и поддержку детей с особыми потребностями.</a:t>
            </a:r>
            <a:endParaRPr lang="ru-MD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2EF7F97E-3A71-4E60-8898-EC960351509D}"/>
              </a:ext>
            </a:extLst>
          </p:cNvPr>
          <p:cNvSpPr/>
          <p:nvPr/>
        </p:nvSpPr>
        <p:spPr>
          <a:xfrm>
            <a:off x="4808875" y="4041696"/>
            <a:ext cx="2374973" cy="259027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MD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Модернизировать материально-техническую базу гимназии и усилить меры безопасности.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BA021F95-99A1-4DDC-8ACC-3CF8CE302E61}"/>
              </a:ext>
            </a:extLst>
          </p:cNvPr>
          <p:cNvSpPr/>
          <p:nvPr/>
        </p:nvSpPr>
        <p:spPr>
          <a:xfrm>
            <a:off x="7260114" y="4044127"/>
            <a:ext cx="2451238" cy="261792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Организовать научно-методическую поддержку проектной деятельности учащихся</a:t>
            </a:r>
            <a:endParaRPr lang="ru-MD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B350AE0D-8C2B-4887-AFAA-5CD686CA2CCE}"/>
              </a:ext>
            </a:extLst>
          </p:cNvPr>
          <p:cNvSpPr/>
          <p:nvPr/>
        </p:nvSpPr>
        <p:spPr>
          <a:xfrm>
            <a:off x="9787505" y="4041697"/>
            <a:ext cx="2328229" cy="259027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Развивать внеурочную деятельность, поддерживать творчество и самореализацию учащихся</a:t>
            </a:r>
            <a:endParaRPr lang="ru-MD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988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4">
            <a:extLst>
              <a:ext uri="{FF2B5EF4-FFF2-40B4-BE49-F238E27FC236}">
                <a16:creationId xmlns:a16="http://schemas.microsoft.com/office/drawing/2014/main" id="{A048597E-33B7-4956-926B-C8091900D4A7}"/>
              </a:ext>
            </a:extLst>
          </p:cNvPr>
          <p:cNvSpPr txBox="1"/>
          <p:nvPr/>
        </p:nvSpPr>
        <p:spPr>
          <a:xfrm>
            <a:off x="4159772" y="-784906"/>
            <a:ext cx="3872456" cy="2422815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marL="0" marR="0" lvl="0" indent="0" algn="ctr" defTabSz="1422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E86A681-06AE-4B92-A4B7-96FF230BD1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6D6DEE8-D97A-449C-8177-4B60B54B7FE7}"/>
              </a:ext>
            </a:extLst>
          </p:cNvPr>
          <p:cNvSpPr/>
          <p:nvPr/>
        </p:nvSpPr>
        <p:spPr>
          <a:xfrm>
            <a:off x="231381" y="388773"/>
            <a:ext cx="11666534" cy="128636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MD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Оперативное планирование, анализ ресурсов и источников финансирования Программы </a:t>
            </a:r>
            <a:r>
              <a:rPr lang="ru-RU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MD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Гимназия равных шансов и высоких достижений: путь к качеству, инновациям и успеху</a:t>
            </a:r>
            <a:r>
              <a:rPr lang="ru-RU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MD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/>
              <a:t> </a:t>
            </a:r>
            <a:endParaRPr lang="ru-MD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CF00F10-01E2-4973-92FA-B3DB4B086B8F}"/>
              </a:ext>
            </a:extLst>
          </p:cNvPr>
          <p:cNvSpPr/>
          <p:nvPr/>
        </p:nvSpPr>
        <p:spPr>
          <a:xfrm>
            <a:off x="363357" y="2144637"/>
            <a:ext cx="25976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ru-RU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95F6452B-8F73-4989-BA96-2133E2A11D3C}"/>
              </a:ext>
            </a:extLst>
          </p:cNvPr>
          <p:cNvSpPr/>
          <p:nvPr/>
        </p:nvSpPr>
        <p:spPr>
          <a:xfrm>
            <a:off x="286411" y="2740131"/>
            <a:ext cx="3443533" cy="157158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19050">
            <a:solidFill>
              <a:srgbClr val="00206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качества образовательного процесса</a:t>
            </a:r>
            <a:endParaRPr lang="ru-MD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83CBE1A-3088-438A-9C95-AAC16407E34D}"/>
              </a:ext>
            </a:extLst>
          </p:cNvPr>
          <p:cNvSpPr/>
          <p:nvPr/>
        </p:nvSpPr>
        <p:spPr>
          <a:xfrm>
            <a:off x="3806890" y="4400042"/>
            <a:ext cx="3747916" cy="180436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19050">
            <a:solidFill>
              <a:srgbClr val="002060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и развитие внеклассной деятельности</a:t>
            </a:r>
            <a:endParaRPr lang="ru-MD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22EA56F-3A1D-4DD6-AA40-DCF5E7FB61F8}"/>
              </a:ext>
            </a:extLst>
          </p:cNvPr>
          <p:cNvSpPr/>
          <p:nvPr/>
        </p:nvSpPr>
        <p:spPr>
          <a:xfrm>
            <a:off x="4016355" y="2436007"/>
            <a:ext cx="3597584" cy="15715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8100000" scaled="1"/>
            <a:tileRect/>
          </a:gradFill>
          <a:ln w="19050"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</a:t>
            </a:r>
            <a:r>
              <a:rPr lang="ru-RU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кадрового потенциала</a:t>
            </a:r>
            <a:endParaRPr lang="ru-MD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25B757D-5A40-4DED-A5C4-19E5085B4A3D}"/>
              </a:ext>
            </a:extLst>
          </p:cNvPr>
          <p:cNvSpPr/>
          <p:nvPr/>
        </p:nvSpPr>
        <p:spPr>
          <a:xfrm>
            <a:off x="7823404" y="4080475"/>
            <a:ext cx="4074510" cy="179819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8100000" scaled="1"/>
            <a:tileRect/>
          </a:gradFill>
          <a:ln w="19050"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Укрепление материально-технической базы и финансовой устойчивости</a:t>
            </a:r>
            <a:endParaRPr lang="ru-MD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48314D2C-8EA9-4D40-A05F-55B440CF5607}"/>
              </a:ext>
            </a:extLst>
          </p:cNvPr>
          <p:cNvSpPr/>
          <p:nvPr/>
        </p:nvSpPr>
        <p:spPr>
          <a:xfrm>
            <a:off x="7823404" y="2146452"/>
            <a:ext cx="4074510" cy="146451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19050"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Совершенствование </a:t>
            </a:r>
            <a:r>
              <a:rPr lang="ru-MD" sz="2400" b="1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куррикулярной</a:t>
            </a:r>
            <a:r>
              <a:rPr lang="ru-MD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политики</a:t>
            </a:r>
            <a:endParaRPr lang="ru-MD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5F5D97DF-C136-4A8B-B2F2-0F1016399392}"/>
              </a:ext>
            </a:extLst>
          </p:cNvPr>
          <p:cNvSpPr/>
          <p:nvPr/>
        </p:nvSpPr>
        <p:spPr>
          <a:xfrm>
            <a:off x="231380" y="4682675"/>
            <a:ext cx="3318644" cy="18043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партнёрских отношений с сообществом</a:t>
            </a:r>
            <a:endParaRPr lang="ru-MD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0584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B378652-796D-4994-8005-694383F98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259254"/>
              </p:ext>
            </p:extLst>
          </p:nvPr>
        </p:nvGraphicFramePr>
        <p:xfrm>
          <a:off x="0" y="1"/>
          <a:ext cx="12192001" cy="78471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052">
                  <a:extLst>
                    <a:ext uri="{9D8B030D-6E8A-4147-A177-3AD203B41FA5}">
                      <a16:colId xmlns:a16="http://schemas.microsoft.com/office/drawing/2014/main" val="2647079902"/>
                    </a:ext>
                  </a:extLst>
                </a:gridCol>
                <a:gridCol w="2005950">
                  <a:extLst>
                    <a:ext uri="{9D8B030D-6E8A-4147-A177-3AD203B41FA5}">
                      <a16:colId xmlns:a16="http://schemas.microsoft.com/office/drawing/2014/main" val="2377177703"/>
                    </a:ext>
                  </a:extLst>
                </a:gridCol>
                <a:gridCol w="2123309">
                  <a:extLst>
                    <a:ext uri="{9D8B030D-6E8A-4147-A177-3AD203B41FA5}">
                      <a16:colId xmlns:a16="http://schemas.microsoft.com/office/drawing/2014/main" val="671361109"/>
                    </a:ext>
                  </a:extLst>
                </a:gridCol>
                <a:gridCol w="2005950">
                  <a:extLst>
                    <a:ext uri="{9D8B030D-6E8A-4147-A177-3AD203B41FA5}">
                      <a16:colId xmlns:a16="http://schemas.microsoft.com/office/drawing/2014/main" val="2653269507"/>
                    </a:ext>
                  </a:extLst>
                </a:gridCol>
                <a:gridCol w="1651372">
                  <a:extLst>
                    <a:ext uri="{9D8B030D-6E8A-4147-A177-3AD203B41FA5}">
                      <a16:colId xmlns:a16="http://schemas.microsoft.com/office/drawing/2014/main" val="1433165055"/>
                    </a:ext>
                  </a:extLst>
                </a:gridCol>
                <a:gridCol w="1180264">
                  <a:extLst>
                    <a:ext uri="{9D8B030D-6E8A-4147-A177-3AD203B41FA5}">
                      <a16:colId xmlns:a16="http://schemas.microsoft.com/office/drawing/2014/main" val="1337275945"/>
                    </a:ext>
                  </a:extLst>
                </a:gridCol>
                <a:gridCol w="1177732">
                  <a:extLst>
                    <a:ext uri="{9D8B030D-6E8A-4147-A177-3AD203B41FA5}">
                      <a16:colId xmlns:a16="http://schemas.microsoft.com/office/drawing/2014/main" val="1315150500"/>
                    </a:ext>
                  </a:extLst>
                </a:gridCol>
                <a:gridCol w="1651372">
                  <a:extLst>
                    <a:ext uri="{9D8B030D-6E8A-4147-A177-3AD203B41FA5}">
                      <a16:colId xmlns:a16="http://schemas.microsoft.com/office/drawing/2014/main" val="3987141163"/>
                    </a:ext>
                  </a:extLst>
                </a:gridCol>
              </a:tblGrid>
              <a:tr h="620827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MD" sz="900" dirty="0">
                          <a:effectLst/>
                        </a:rPr>
                        <a:t>№</a:t>
                      </a:r>
                      <a:endParaRPr lang="ru-MD" sz="9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MD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Проблема </a:t>
                      </a:r>
                    </a:p>
                  </a:txBody>
                  <a:tcPr marL="53868" marR="5386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MD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Аргумент </a:t>
                      </a:r>
                    </a:p>
                  </a:txBody>
                  <a:tcPr marL="53868" marR="5386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MD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Реализация </a:t>
                      </a:r>
                    </a:p>
                  </a:txBody>
                  <a:tcPr marL="53868" marR="5386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MD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Ответственный </a:t>
                      </a:r>
                    </a:p>
                  </a:txBody>
                  <a:tcPr marL="53868" marR="5386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MD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Период </a:t>
                      </a:r>
                    </a:p>
                  </a:txBody>
                  <a:tcPr marL="53868" marR="5386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MD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Финансирование </a:t>
                      </a:r>
                    </a:p>
                  </a:txBody>
                  <a:tcPr marL="53868" marR="5386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MD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 </a:t>
                      </a:r>
                    </a:p>
                  </a:txBody>
                  <a:tcPr marL="53868" marR="53868" marT="0" marB="0"/>
                </a:tc>
                <a:extLst>
                  <a:ext uri="{0D108BD9-81ED-4DB2-BD59-A6C34878D82A}">
                    <a16:rowId xmlns:a16="http://schemas.microsoft.com/office/drawing/2014/main" val="3485153708"/>
                  </a:ext>
                </a:extLst>
              </a:tr>
              <a:tr h="501333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V.1.  Повышение качества образовательного процесса</a:t>
                      </a:r>
                      <a:endParaRPr lang="ru-MD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456661"/>
                  </a:ext>
                </a:extLst>
              </a:tr>
              <a:tr h="485953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MD" sz="20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MD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Менеджмент</a:t>
                      </a:r>
                    </a:p>
                  </a:txBody>
                  <a:tcPr marL="53868" marR="53868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275495"/>
                  </a:ext>
                </a:extLst>
              </a:tr>
              <a:tr h="1110271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400" dirty="0">
                        <a:effectLst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400" dirty="0">
                          <a:effectLst/>
                        </a:rPr>
                        <a:t>1</a:t>
                      </a:r>
                      <a:r>
                        <a:rPr lang="ru-MD" sz="1400" dirty="0">
                          <a:effectLst/>
                        </a:rPr>
                        <a:t>.</a:t>
                      </a:r>
                      <a:endParaRPr lang="ru-MD" sz="14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Недостаточная работа с родительским сообществом при определении детей с ООП.</a:t>
                      </a: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Внедрение и реализации политики инклюзивного образования.</a:t>
                      </a: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Расширение деятельности Ресурсного центра.</a:t>
                      </a: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Администра</a:t>
                      </a: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ия</a:t>
                      </a:r>
                      <a:r>
                        <a:rPr lang="ru-MD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МВК.</a:t>
                      </a: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</a:t>
                      </a:r>
                      <a:r>
                        <a:rPr lang="ru-MD" sz="18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остоянно</a:t>
                      </a:r>
                      <a:r>
                        <a:rPr lang="ru-MD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2% бюджета УЗ</a:t>
                      </a: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Вовлечение детей с ООП в образов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ательный</a:t>
                      </a:r>
                      <a:r>
                        <a:rPr lang="ru-MD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процесс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269219"/>
                  </a:ext>
                </a:extLst>
              </a:tr>
              <a:tr h="1324947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400" dirty="0">
                        <a:effectLst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400" dirty="0">
                          <a:effectLst/>
                        </a:rPr>
                        <a:t>2. </a:t>
                      </a:r>
                      <a:endParaRPr lang="ru-MD" sz="14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Низкий уровень мотивации учителей </a:t>
                      </a: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Успех ученика зависит от мотивации и вдохновения, которое даёт учитель.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Мотивированный учитель- успех ученика.</a:t>
                      </a: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Проведение тренингов, внедрение системы поощрений. Внедрение системы поощрения.</a:t>
                      </a: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Администрация гимназии, методическая комиссия</a:t>
                      </a: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</a:t>
                      </a:r>
                      <a:r>
                        <a:rPr lang="ru-MD" sz="18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остоянно</a:t>
                      </a: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требует финансовых расходов</a:t>
                      </a: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MD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Рост участников программ и положительные результаты анкетирования.</a:t>
                      </a:r>
                      <a:endParaRPr lang="ru-MD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240952"/>
                  </a:ext>
                </a:extLst>
              </a:tr>
              <a:tr h="1058521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400" dirty="0">
                        <a:effectLst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400" dirty="0">
                          <a:effectLst/>
                        </a:rPr>
                        <a:t>3.</a:t>
                      </a:r>
                      <a:endParaRPr lang="ru-MD" sz="14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Контроль и оценка качества</a:t>
                      </a: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Недостаточная система мониторинга успеваемости.</a:t>
                      </a: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Введение системы регулярных проверок, аттестация учителей.</a:t>
                      </a: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Заместитель по УВР, методическая комиссия.</a:t>
                      </a: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</a:t>
                      </a:r>
                      <a:r>
                        <a:rPr lang="ru-MD" sz="18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остоянно</a:t>
                      </a: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требует финансовых расходов</a:t>
                      </a: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Улучшение качества знаний</a:t>
                      </a: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798958"/>
                  </a:ext>
                </a:extLst>
              </a:tr>
              <a:tr h="242005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400" dirty="0">
                        <a:effectLst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400" dirty="0">
                          <a:effectLst/>
                        </a:rPr>
                        <a:t>4.</a:t>
                      </a:r>
                      <a:endParaRPr lang="ru-MD" sz="14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endParaRPr lang="ru-MD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Слабые результаты на выпускных экзаменах требуют </a:t>
                      </a:r>
                      <a:r>
                        <a:rPr lang="ru-MD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допзанятий</a:t>
                      </a:r>
                      <a:r>
                        <a:rPr lang="ru-MD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и улучшения качества знаний.</a:t>
                      </a: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Недостаточная подготовка к урокам затрудняет усвоение материала и негативно влияет на результаты экзаменов.</a:t>
                      </a:r>
                      <a:endParaRPr lang="ru-MD" sz="1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Дополнительные занятия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 кружках, </a:t>
                      </a:r>
                      <a:r>
                        <a:rPr lang="ru-MD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консультации, внедрение интерактивных методов обучения.</a:t>
                      </a: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Учителя предметники, замдиректора по УВР</a:t>
                      </a: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течение года</a:t>
                      </a: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Школьный бюджет, гранты, поддержка местных органов</a:t>
                      </a: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Повышение уровня успеваемости, улучшение результатов на тестировании, активность на уроках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868" marR="5386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545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9603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A640A47-56EE-43DC-A9F8-2B2997F28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660026"/>
              </p:ext>
            </p:extLst>
          </p:nvPr>
        </p:nvGraphicFramePr>
        <p:xfrm>
          <a:off x="0" y="0"/>
          <a:ext cx="12192002" cy="74056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053">
                  <a:extLst>
                    <a:ext uri="{9D8B030D-6E8A-4147-A177-3AD203B41FA5}">
                      <a16:colId xmlns:a16="http://schemas.microsoft.com/office/drawing/2014/main" val="3893920181"/>
                    </a:ext>
                  </a:extLst>
                </a:gridCol>
                <a:gridCol w="2005952">
                  <a:extLst>
                    <a:ext uri="{9D8B030D-6E8A-4147-A177-3AD203B41FA5}">
                      <a16:colId xmlns:a16="http://schemas.microsoft.com/office/drawing/2014/main" val="4278797571"/>
                    </a:ext>
                  </a:extLst>
                </a:gridCol>
                <a:gridCol w="2123311">
                  <a:extLst>
                    <a:ext uri="{9D8B030D-6E8A-4147-A177-3AD203B41FA5}">
                      <a16:colId xmlns:a16="http://schemas.microsoft.com/office/drawing/2014/main" val="956664924"/>
                    </a:ext>
                  </a:extLst>
                </a:gridCol>
                <a:gridCol w="2005952">
                  <a:extLst>
                    <a:ext uri="{9D8B030D-6E8A-4147-A177-3AD203B41FA5}">
                      <a16:colId xmlns:a16="http://schemas.microsoft.com/office/drawing/2014/main" val="566019131"/>
                    </a:ext>
                  </a:extLst>
                </a:gridCol>
                <a:gridCol w="1651370">
                  <a:extLst>
                    <a:ext uri="{9D8B030D-6E8A-4147-A177-3AD203B41FA5}">
                      <a16:colId xmlns:a16="http://schemas.microsoft.com/office/drawing/2014/main" val="124048315"/>
                    </a:ext>
                  </a:extLst>
                </a:gridCol>
                <a:gridCol w="1180264">
                  <a:extLst>
                    <a:ext uri="{9D8B030D-6E8A-4147-A177-3AD203B41FA5}">
                      <a16:colId xmlns:a16="http://schemas.microsoft.com/office/drawing/2014/main" val="2160234438"/>
                    </a:ext>
                  </a:extLst>
                </a:gridCol>
                <a:gridCol w="1177730">
                  <a:extLst>
                    <a:ext uri="{9D8B030D-6E8A-4147-A177-3AD203B41FA5}">
                      <a16:colId xmlns:a16="http://schemas.microsoft.com/office/drawing/2014/main" val="2310787313"/>
                    </a:ext>
                  </a:extLst>
                </a:gridCol>
                <a:gridCol w="1651370">
                  <a:extLst>
                    <a:ext uri="{9D8B030D-6E8A-4147-A177-3AD203B41FA5}">
                      <a16:colId xmlns:a16="http://schemas.microsoft.com/office/drawing/2014/main" val="1538476515"/>
                    </a:ext>
                  </a:extLst>
                </a:gridCol>
              </a:tblGrid>
              <a:tr h="1498924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endParaRPr lang="ru-RU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ru-MD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57" marR="4045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Недостаточная интеграция гагаузского языка в образовательный процесс ограничивает развитие языковой и культурной идентичности учащихся.</a:t>
                      </a: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Отсутствие регулярного общения на гагаузском языке в семье снижает интерес учащихся к родной культуре и усиливает риск утраты языковой идентичности.</a:t>
                      </a: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Расширение применения гагаузского языка через культурные мероприятия, проекты и повышение квалификации педагогов.</a:t>
                      </a: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Администрация гимназии, учителя гагаузского языка, методическая комиссия, 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завуч по ВР.</a:t>
                      </a: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2025–20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гг. (с поэтапной </a:t>
                      </a:r>
                      <a:r>
                        <a:rPr lang="ru-MD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реализаци</a:t>
                      </a: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ей и ежегодной оценкой эффективности).</a:t>
                      </a: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Школьный бюджет, помощь УО АТО Гагаузия, спонсоры.</a:t>
                      </a: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учащихся, мероприятий, уровень владения гагаузским языком и отзывы учащихся с родителями.</a:t>
                      </a: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994364"/>
                  </a:ext>
                </a:extLst>
              </a:tr>
              <a:tr h="183482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endParaRPr lang="ru-RU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  <a:endParaRPr lang="ru-MD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57" marR="4045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Недостаточная подготовка 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некоторых </a:t>
                      </a: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первоклассников 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затрудняет их</a:t>
                      </a: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MD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адаптаци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ю</a:t>
                      </a: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успешный старт обучения в школе (подпрограмма «Стартовая программа для будущего»).</a:t>
                      </a: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57" marR="4045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Недостаточный набор базовых учебных и социальных навыков у некоторых детей приводит к трудностям в обучении и стрессу в начале года.</a:t>
                      </a:r>
                    </a:p>
                  </a:txBody>
                  <a:tcPr marL="40457" marR="4045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Проведение занятий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MD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развивающи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</a:t>
                      </a: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игр, обучение базовым навыкам, знакомство 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 учителем, </a:t>
                      </a: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 школой.</a:t>
                      </a:r>
                    </a:p>
                  </a:txBody>
                  <a:tcPr marL="40457" marR="4045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Учителя начальных классов, заместитель директора по воспитательной работе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родители</a:t>
                      </a: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57" marR="4045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Август 2025 года</a:t>
                      </a:r>
                    </a:p>
                  </a:txBody>
                  <a:tcPr marL="40457" marR="4045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Школьный бюджет, помощь родителей, спонсорская поддержка</a:t>
                      </a:r>
                    </a:p>
                  </a:txBody>
                  <a:tcPr marL="40457" marR="4045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Уровень адаптации первоклассников, участие в занятиях, обратная связь от родителей и учителей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57" marR="40457" marT="0" marB="0"/>
                </a:tc>
                <a:extLst>
                  <a:ext uri="{0D108BD9-81ED-4DB2-BD59-A6C34878D82A}">
                    <a16:rowId xmlns:a16="http://schemas.microsoft.com/office/drawing/2014/main" val="3345144355"/>
                  </a:ext>
                </a:extLst>
              </a:tr>
              <a:tr h="1071858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endParaRPr lang="ru-RU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  <a:endParaRPr lang="ru-MD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57" marR="4045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Отсутствие школьной формы снижает дисциплину и единство гимназии, требуя её поэтапного введения.</a:t>
                      </a: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Отсутствие единого стиля ведёт к снижению дисциплины и ухудшению имиджа образовательного учреждения.</a:t>
                      </a: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Поэтапное внедрение обязательной школьной формы через программу «Единый стиль — единые ценности».</a:t>
                      </a: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Администрация гимназии, совет родителей, классные руководители</a:t>
                      </a: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2025–2026 учебный год</a:t>
                      </a: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Школьный бюджет, спонсорская помощь, родительские взносы</a:t>
                      </a: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Уровень дисциплины, процент учащихся в форме, отзывы учителей и родителей</a:t>
                      </a: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197895"/>
                  </a:ext>
                </a:extLst>
              </a:tr>
              <a:tr h="270005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MD" sz="20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MD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Институциональный потенциал</a:t>
                      </a:r>
                    </a:p>
                  </a:txBody>
                  <a:tcPr marL="40457" marR="40457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336204"/>
                  </a:ext>
                </a:extLst>
              </a:tr>
              <a:tr h="91564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</a:t>
                      </a:r>
                      <a:endParaRPr lang="ru-MD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57" marR="4045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Недостаточная информированность родительского сообщества о деятельности реализации УВП. </a:t>
                      </a: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Недостаточная обратная связь и участие родителей в школьной жизни.</a:t>
                      </a: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Регулярные встречи, родительские собрания, информационные встречи и онлайн-опросы.</a:t>
                      </a: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Заместитель по ВР, классные руководители.</a:t>
                      </a: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</a:t>
                      </a:r>
                      <a:r>
                        <a:rPr lang="ru-MD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остоянно</a:t>
                      </a: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требует финансовых расходов</a:t>
                      </a: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Рост участия родителей, улучшение имиджа УЗ и качества образования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379795"/>
                  </a:ext>
                </a:extLst>
              </a:tr>
              <a:tr h="304566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MD" sz="20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MD" sz="2000" b="1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Куррикулум</a:t>
                      </a:r>
                      <a:endParaRPr lang="ru-MD" sz="20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57" marR="40457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198515"/>
                  </a:ext>
                </a:extLst>
              </a:tr>
              <a:tr h="956484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</a:t>
                      </a:r>
                      <a:endParaRPr lang="ru-MD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57" marR="40457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MD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MD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Немотивированные пропуски уроков учащимися </a:t>
                      </a:r>
                      <a:r>
                        <a:rPr lang="ru-MD" sz="16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гимнази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и.</a:t>
                      </a:r>
                      <a:endParaRPr lang="ru-MD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MD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MD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Сокращение немотивированных пропусков.</a:t>
                      </a:r>
                    </a:p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Проведение бесед с учениками. Работа с родителями.</a:t>
                      </a:r>
                    </a:p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Директор, ЗУВР, ЗВ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</a:t>
                      </a:r>
                      <a:r>
                        <a:rPr lang="ru-MD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классный руководитель, </a:t>
                      </a:r>
                      <a:r>
                        <a:rPr lang="ru-MD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родительский комитет.</a:t>
                      </a:r>
                    </a:p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</a:t>
                      </a:r>
                      <a:r>
                        <a:rPr lang="ru-MD" sz="16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остоян</a:t>
                      </a:r>
                      <a:endParaRPr lang="ru-MD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 </a:t>
                      </a:r>
                    </a:p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MD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требует финансовых расходов</a:t>
                      </a:r>
                    </a:p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Повышение качества знаний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дисциплины.</a:t>
                      </a:r>
                      <a:endParaRPr lang="ru-MD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457" marR="40457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265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26438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D31B2FC-37F3-4A93-ACF2-BC0191BC8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058854"/>
              </p:ext>
            </p:extLst>
          </p:nvPr>
        </p:nvGraphicFramePr>
        <p:xfrm>
          <a:off x="0" y="-2"/>
          <a:ext cx="12192000" cy="69838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4368">
                  <a:extLst>
                    <a:ext uri="{9D8B030D-6E8A-4147-A177-3AD203B41FA5}">
                      <a16:colId xmlns:a16="http://schemas.microsoft.com/office/drawing/2014/main" val="1471151598"/>
                    </a:ext>
                  </a:extLst>
                </a:gridCol>
                <a:gridCol w="2136574">
                  <a:extLst>
                    <a:ext uri="{9D8B030D-6E8A-4147-A177-3AD203B41FA5}">
                      <a16:colId xmlns:a16="http://schemas.microsoft.com/office/drawing/2014/main" val="1580039276"/>
                    </a:ext>
                  </a:extLst>
                </a:gridCol>
                <a:gridCol w="2064981">
                  <a:extLst>
                    <a:ext uri="{9D8B030D-6E8A-4147-A177-3AD203B41FA5}">
                      <a16:colId xmlns:a16="http://schemas.microsoft.com/office/drawing/2014/main" val="3336644860"/>
                    </a:ext>
                  </a:extLst>
                </a:gridCol>
                <a:gridCol w="1950845">
                  <a:extLst>
                    <a:ext uri="{9D8B030D-6E8A-4147-A177-3AD203B41FA5}">
                      <a16:colId xmlns:a16="http://schemas.microsoft.com/office/drawing/2014/main" val="750076824"/>
                    </a:ext>
                  </a:extLst>
                </a:gridCol>
                <a:gridCol w="1606007">
                  <a:extLst>
                    <a:ext uri="{9D8B030D-6E8A-4147-A177-3AD203B41FA5}">
                      <a16:colId xmlns:a16="http://schemas.microsoft.com/office/drawing/2014/main" val="3656114554"/>
                    </a:ext>
                  </a:extLst>
                </a:gridCol>
                <a:gridCol w="1147841">
                  <a:extLst>
                    <a:ext uri="{9D8B030D-6E8A-4147-A177-3AD203B41FA5}">
                      <a16:colId xmlns:a16="http://schemas.microsoft.com/office/drawing/2014/main" val="2322707209"/>
                    </a:ext>
                  </a:extLst>
                </a:gridCol>
                <a:gridCol w="1145377">
                  <a:extLst>
                    <a:ext uri="{9D8B030D-6E8A-4147-A177-3AD203B41FA5}">
                      <a16:colId xmlns:a16="http://schemas.microsoft.com/office/drawing/2014/main" val="3983485558"/>
                    </a:ext>
                  </a:extLst>
                </a:gridCol>
                <a:gridCol w="1606007">
                  <a:extLst>
                    <a:ext uri="{9D8B030D-6E8A-4147-A177-3AD203B41FA5}">
                      <a16:colId xmlns:a16="http://schemas.microsoft.com/office/drawing/2014/main" val="684113806"/>
                    </a:ext>
                  </a:extLst>
                </a:gridCol>
              </a:tblGrid>
              <a:tr h="422543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MD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MD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V.2.  Развитие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кадрового потенциала</a:t>
                      </a:r>
                      <a:endParaRPr lang="ru-MD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03" marR="55003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544424"/>
                  </a:ext>
                </a:extLst>
              </a:tr>
              <a:tr h="407625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MD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MD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Менеджмент</a:t>
                      </a:r>
                    </a:p>
                  </a:txBody>
                  <a:tcPr marL="55003" marR="55003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815345"/>
                  </a:ext>
                </a:extLst>
              </a:tr>
              <a:tr h="1535437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03" marR="550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Отсутствие эффективной системы наставничества для молодых специалистов.</a:t>
                      </a: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Молодые педагоги часто сталкиваются с трудностями адаптации, что влияет на качество преподавания и их мотивацию.</a:t>
                      </a: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 наставников</a:t>
                      </a:r>
                      <a:r>
                        <a:rPr lang="ru-RU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регулярной встречи и планирование адаптационного маршрута.</a:t>
                      </a: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Заместитель по ВР, руководители МК.</a:t>
                      </a: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течение уч. года</a:t>
                      </a: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Бюджет УЗ</a:t>
                      </a: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Каждый молодой специалист закреплен за наставником.</a:t>
                      </a: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12989"/>
                  </a:ext>
                </a:extLst>
              </a:tr>
              <a:tr h="1421173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03" marR="550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Отсутствие прозрачности в процессе оценивания эффективности </a:t>
                      </a:r>
                      <a:r>
                        <a:rPr lang="ru-MD" sz="17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препод.деятельн</a:t>
                      </a: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./работников УЗ</a:t>
                      </a: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6900"/>
                        </a:spcBef>
                        <a:spcAft>
                          <a:spcPts val="0"/>
                        </a:spcAft>
                      </a:pPr>
                      <a:r>
                        <a:rPr lang="ru-RU" sz="1700" spc="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Улучшение показателей работы персонала учреждения.</a:t>
                      </a:r>
                      <a:endParaRPr lang="ru-MD" sz="1700" spc="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Положения оценивания </a:t>
                      </a:r>
                      <a:r>
                        <a:rPr lang="ru-MD" sz="17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професс</a:t>
                      </a: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достижений путем вовлечения всех структур.</a:t>
                      </a: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Директор</a:t>
                      </a:r>
                      <a:r>
                        <a:rPr lang="ru-RU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 гимназии</a:t>
                      </a: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течение года</a:t>
                      </a: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Бюджет УЗ</a:t>
                      </a: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Ст. «</a:t>
                      </a:r>
                      <a:r>
                        <a:rPr lang="ru-MD" sz="17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надбав</a:t>
                      </a: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</a:t>
                      </a: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Повышение мотивации и эффективности работы.</a:t>
                      </a: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640228"/>
                  </a:ext>
                </a:extLst>
              </a:tr>
              <a:tr h="1428593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03" marR="550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Отсутствие системы признания и продвижения профессиональных достижений.</a:t>
                      </a: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6900"/>
                        </a:spcBef>
                        <a:spcAft>
                          <a:spcPts val="0"/>
                        </a:spcAft>
                      </a:pPr>
                      <a:r>
                        <a:rPr lang="ru-RU" sz="1700" spc="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Педагоги чувствуют </a:t>
                      </a:r>
                      <a:r>
                        <a:rPr lang="ru-RU" sz="1700" spc="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недооценённость</a:t>
                      </a:r>
                      <a:r>
                        <a:rPr lang="ru-RU" sz="1700" spc="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труда, отсутствует стимул для развития</a:t>
                      </a:r>
                      <a:endParaRPr lang="ru-MD" sz="1700" b="1" spc="5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Введение системы портфолио достижений: «Конкурс Учитель года»</a:t>
                      </a:r>
                      <a:r>
                        <a:rPr lang="ru-RU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др.</a:t>
                      </a: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Администрация гимназии</a:t>
                      </a: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течение года</a:t>
                      </a: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Бюджет УЗ</a:t>
                      </a: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Сбор данных по </a:t>
                      </a:r>
                      <a:r>
                        <a:rPr lang="ru-RU" sz="17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профессион</a:t>
                      </a:r>
                      <a:r>
                        <a:rPr lang="ru-RU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достижениям</a:t>
                      </a: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03" marR="5500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29081"/>
                  </a:ext>
                </a:extLst>
              </a:tr>
              <a:tr h="423803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MD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MD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Институциональный потенциал</a:t>
                      </a:r>
                    </a:p>
                  </a:txBody>
                  <a:tcPr marL="55003" marR="55003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862047"/>
                  </a:ext>
                </a:extLst>
              </a:tr>
              <a:tr h="1218828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55003" marR="550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Низкий процент педагогов с 1 </a:t>
                      </a:r>
                      <a:r>
                        <a:rPr lang="ru-MD" sz="17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дидактич.ст</a:t>
                      </a: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55003" marR="550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Стимулирование педагогов к повышению квалификации.</a:t>
                      </a:r>
                    </a:p>
                  </a:txBody>
                  <a:tcPr marL="55003" marR="550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Активизация эффективной работы МК</a:t>
                      </a:r>
                    </a:p>
                  </a:txBody>
                  <a:tcPr marL="55003" marR="550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ЗУВР</a:t>
                      </a:r>
                    </a:p>
                  </a:txBody>
                  <a:tcPr marL="55003" marR="550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lang="ru-MD" sz="17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жегодно</a:t>
                      </a: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03" marR="550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Бюджет УЗ</a:t>
                      </a: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Ст. курсы </a:t>
                      </a:r>
                      <a:r>
                        <a:rPr lang="ru-MD" sz="17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повыш</a:t>
                      </a: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ru-MD" sz="17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квалиф</a:t>
                      </a: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</a:p>
                  </a:txBody>
                  <a:tcPr marL="55003" marR="5500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MD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Рост % педагогов с первой </a:t>
                      </a:r>
                      <a:r>
                        <a:rPr lang="ru-MD" sz="17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квалификац</a:t>
                      </a:r>
                      <a:r>
                        <a:rPr lang="ru-RU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03" marR="55003" marT="0" marB="0"/>
                </a:tc>
                <a:extLst>
                  <a:ext uri="{0D108BD9-81ED-4DB2-BD59-A6C34878D82A}">
                    <a16:rowId xmlns:a16="http://schemas.microsoft.com/office/drawing/2014/main" val="459667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11134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EFB6B20-89C5-43DD-AF22-5864AC775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590134"/>
              </p:ext>
            </p:extLst>
          </p:nvPr>
        </p:nvGraphicFramePr>
        <p:xfrm>
          <a:off x="0" y="0"/>
          <a:ext cx="12191998" cy="75026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6815">
                  <a:extLst>
                    <a:ext uri="{9D8B030D-6E8A-4147-A177-3AD203B41FA5}">
                      <a16:colId xmlns:a16="http://schemas.microsoft.com/office/drawing/2014/main" val="2394431911"/>
                    </a:ext>
                  </a:extLst>
                </a:gridCol>
                <a:gridCol w="2243489">
                  <a:extLst>
                    <a:ext uri="{9D8B030D-6E8A-4147-A177-3AD203B41FA5}">
                      <a16:colId xmlns:a16="http://schemas.microsoft.com/office/drawing/2014/main" val="987807650"/>
                    </a:ext>
                  </a:extLst>
                </a:gridCol>
                <a:gridCol w="2073794">
                  <a:extLst>
                    <a:ext uri="{9D8B030D-6E8A-4147-A177-3AD203B41FA5}">
                      <a16:colId xmlns:a16="http://schemas.microsoft.com/office/drawing/2014/main" val="2639848638"/>
                    </a:ext>
                  </a:extLst>
                </a:gridCol>
                <a:gridCol w="1959172">
                  <a:extLst>
                    <a:ext uri="{9D8B030D-6E8A-4147-A177-3AD203B41FA5}">
                      <a16:colId xmlns:a16="http://schemas.microsoft.com/office/drawing/2014/main" val="1505793655"/>
                    </a:ext>
                  </a:extLst>
                </a:gridCol>
                <a:gridCol w="1612861">
                  <a:extLst>
                    <a:ext uri="{9D8B030D-6E8A-4147-A177-3AD203B41FA5}">
                      <a16:colId xmlns:a16="http://schemas.microsoft.com/office/drawing/2014/main" val="2123691407"/>
                    </a:ext>
                  </a:extLst>
                </a:gridCol>
                <a:gridCol w="1152741">
                  <a:extLst>
                    <a:ext uri="{9D8B030D-6E8A-4147-A177-3AD203B41FA5}">
                      <a16:colId xmlns:a16="http://schemas.microsoft.com/office/drawing/2014/main" val="1643255982"/>
                    </a:ext>
                  </a:extLst>
                </a:gridCol>
                <a:gridCol w="1150265">
                  <a:extLst>
                    <a:ext uri="{9D8B030D-6E8A-4147-A177-3AD203B41FA5}">
                      <a16:colId xmlns:a16="http://schemas.microsoft.com/office/drawing/2014/main" val="627190564"/>
                    </a:ext>
                  </a:extLst>
                </a:gridCol>
                <a:gridCol w="1612861">
                  <a:extLst>
                    <a:ext uri="{9D8B030D-6E8A-4147-A177-3AD203B41FA5}">
                      <a16:colId xmlns:a16="http://schemas.microsoft.com/office/drawing/2014/main" val="1366025844"/>
                    </a:ext>
                  </a:extLst>
                </a:gridCol>
              </a:tblGrid>
              <a:tr h="621808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Зрелый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возрастной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преподавательск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ого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состав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Привлечение в УЗ молодых 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специалистов</a:t>
                      </a: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43513" marR="4351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Сотрудничество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ВУЗами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Администрация гимназии</a:t>
                      </a: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остоян</a:t>
                      </a: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</a:t>
                      </a: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Бюджет УЗ</a:t>
                      </a: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Ст.З</a:t>
                      </a: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/П</a:t>
                      </a:r>
                    </a:p>
                  </a:txBody>
                  <a:tcPr marL="43513" marR="4351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Омоложение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преподавательского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коллектива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353200"/>
                  </a:ext>
                </a:extLst>
              </a:tr>
              <a:tr h="273931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Куррикулум</a:t>
                      </a:r>
                      <a:endParaRPr lang="ru-MD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73771"/>
                  </a:ext>
                </a:extLst>
              </a:tr>
              <a:tr h="1636982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Недостаточное внимание к формированию экологического мышления и устойчивого развития учебных программ.</a:t>
                      </a:r>
                      <a:endParaRPr lang="ru-MD" sz="7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Изменения климата требуют формирования экологической ответственности у школьников, но учебные курсы это освещают фрагментарно.</a:t>
                      </a:r>
                    </a:p>
                  </a:txBody>
                  <a:tcPr marL="43513" marR="4351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Введение в </a:t>
                      </a:r>
                      <a:r>
                        <a:rPr lang="ru-MD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куррикулу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 </a:t>
                      </a: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элементов экологического образования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темы проект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ы,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часы, д</a:t>
                      </a: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 экологии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с</a:t>
                      </a:r>
                      <a:r>
                        <a:rPr lang="ru-MD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отрудничество</a:t>
                      </a: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 экологическими организациями.</a:t>
                      </a:r>
                    </a:p>
                  </a:txBody>
                  <a:tcPr marL="43513" marR="4351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Учителя биологии, географии, классные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руков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., заместитель директора по ВР.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2025-2026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Бюджет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УЗ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«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надбав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реализованных экологических мероприятий и проектов, участие учеников в акции, повышение уровня экологической осведомлённости.</a:t>
                      </a:r>
                    </a:p>
                  </a:txBody>
                  <a:tcPr marL="43513" marR="43513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650535"/>
                  </a:ext>
                </a:extLst>
              </a:tr>
              <a:tr h="290400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V.3.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Совершенствование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куррикулярной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политики</a:t>
                      </a:r>
                      <a:endParaRPr lang="ru-MD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594033"/>
                  </a:ext>
                </a:extLst>
              </a:tr>
              <a:tr h="287095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Менеджмент</a:t>
                      </a:r>
                      <a:endParaRPr lang="ru-MD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5549"/>
                  </a:ext>
                </a:extLst>
              </a:tr>
              <a:tr h="1043574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Недостаточная мотивация педагогов к участию в разработке и обновлении </a:t>
                      </a:r>
                      <a:r>
                        <a:rPr lang="ru-MD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куррикул</a:t>
                      </a: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Без заинтересованности учителей качество и актуальность учебных программ снижаются.</a:t>
                      </a:r>
                      <a:endParaRPr lang="ru-MD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Введение системы поощрений, признание заслуг, возможности профессионального роста.</a:t>
                      </a: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Администрация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МК гимназии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-202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гг.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Бюджет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УЗ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«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надбав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Рост участников </a:t>
                      </a:r>
                      <a:r>
                        <a:rPr lang="ru-MD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курикулума</a:t>
                      </a: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удовлетворён</a:t>
                      </a: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ность</a:t>
                      </a: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педагогов.</a:t>
                      </a:r>
                    </a:p>
                  </a:txBody>
                  <a:tcPr marL="43513" marR="43513" marT="0" marB="0"/>
                </a:tc>
                <a:extLst>
                  <a:ext uri="{0D108BD9-81ED-4DB2-BD59-A6C34878D82A}">
                    <a16:rowId xmlns:a16="http://schemas.microsoft.com/office/drawing/2014/main" val="2148252325"/>
                  </a:ext>
                </a:extLst>
              </a:tr>
              <a:tr h="293820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Институциональный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потенциал</a:t>
                      </a:r>
                      <a:endParaRPr lang="ru-MD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653264"/>
                  </a:ext>
                </a:extLst>
              </a:tr>
              <a:tr h="891351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Недостаточная интеграция межпредметных связей в </a:t>
                      </a:r>
                      <a:r>
                        <a:rPr lang="ru-MD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учебн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ые</a:t>
                      </a: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программ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ы</a:t>
                      </a: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</a:t>
                      </a:r>
                      <a:r>
                        <a:rPr lang="ru-MD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огда</a:t>
                      </a: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предметы преподают отдельно, ученики хуже понимают, как все связано между собой.</a:t>
                      </a: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Разработать совместные проекты и темы, где учителя разных предметов работают вместе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Руководители МК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течение года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требует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финансовых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вложений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Расширение кругозора учащегося.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extLst>
                  <a:ext uri="{0D108BD9-81ED-4DB2-BD59-A6C34878D82A}">
                    <a16:rowId xmlns:a16="http://schemas.microsoft.com/office/drawing/2014/main" val="2730918150"/>
                  </a:ext>
                </a:extLst>
              </a:tr>
              <a:tr h="248086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Куррикулум</a:t>
                      </a:r>
                      <a:endParaRPr lang="ru-MD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777978"/>
                  </a:ext>
                </a:extLst>
              </a:tr>
              <a:tr h="1258878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Недостаточное внимание к развитию критического мышления и навыков самостоятельного анализа учебных программ.</a:t>
                      </a: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Учебные планы сосредоточены на запоминании, снижая развитие критического мышления и готовность к жизни.</a:t>
                      </a: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Включение заданий и проектов, стимулирующих анализ, обсуждение и самостоятельное мышление».</a:t>
                      </a: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Методичес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кие комиссии,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учителя-предметники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остоян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требует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финансовых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вложений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заданий, успехи в проектах, отзывы педагогов.</a:t>
                      </a:r>
                    </a:p>
                  </a:txBody>
                  <a:tcPr marL="43513" marR="43513" marT="0" marB="0"/>
                </a:tc>
                <a:extLst>
                  <a:ext uri="{0D108BD9-81ED-4DB2-BD59-A6C34878D82A}">
                    <a16:rowId xmlns:a16="http://schemas.microsoft.com/office/drawing/2014/main" val="3129164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9217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F2A18BD9-93D4-4958-A661-71A4D3E66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086146"/>
              </p:ext>
            </p:extLst>
          </p:nvPr>
        </p:nvGraphicFramePr>
        <p:xfrm>
          <a:off x="9332" y="-184977"/>
          <a:ext cx="12182667" cy="12715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5748">
                  <a:extLst>
                    <a:ext uri="{9D8B030D-6E8A-4147-A177-3AD203B41FA5}">
                      <a16:colId xmlns:a16="http://schemas.microsoft.com/office/drawing/2014/main" val="930608207"/>
                    </a:ext>
                  </a:extLst>
                </a:gridCol>
                <a:gridCol w="2004415">
                  <a:extLst>
                    <a:ext uri="{9D8B030D-6E8A-4147-A177-3AD203B41FA5}">
                      <a16:colId xmlns:a16="http://schemas.microsoft.com/office/drawing/2014/main" val="2124112632"/>
                    </a:ext>
                  </a:extLst>
                </a:gridCol>
                <a:gridCol w="2121685">
                  <a:extLst>
                    <a:ext uri="{9D8B030D-6E8A-4147-A177-3AD203B41FA5}">
                      <a16:colId xmlns:a16="http://schemas.microsoft.com/office/drawing/2014/main" val="1991074151"/>
                    </a:ext>
                  </a:extLst>
                </a:gridCol>
                <a:gridCol w="2004415">
                  <a:extLst>
                    <a:ext uri="{9D8B030D-6E8A-4147-A177-3AD203B41FA5}">
                      <a16:colId xmlns:a16="http://schemas.microsoft.com/office/drawing/2014/main" val="2839107932"/>
                    </a:ext>
                  </a:extLst>
                </a:gridCol>
                <a:gridCol w="1650107">
                  <a:extLst>
                    <a:ext uri="{9D8B030D-6E8A-4147-A177-3AD203B41FA5}">
                      <a16:colId xmlns:a16="http://schemas.microsoft.com/office/drawing/2014/main" val="1002242971"/>
                    </a:ext>
                  </a:extLst>
                </a:gridCol>
                <a:gridCol w="1179361">
                  <a:extLst>
                    <a:ext uri="{9D8B030D-6E8A-4147-A177-3AD203B41FA5}">
                      <a16:colId xmlns:a16="http://schemas.microsoft.com/office/drawing/2014/main" val="2772605031"/>
                    </a:ext>
                  </a:extLst>
                </a:gridCol>
                <a:gridCol w="1176829">
                  <a:extLst>
                    <a:ext uri="{9D8B030D-6E8A-4147-A177-3AD203B41FA5}">
                      <a16:colId xmlns:a16="http://schemas.microsoft.com/office/drawing/2014/main" val="1147953288"/>
                    </a:ext>
                  </a:extLst>
                </a:gridCol>
                <a:gridCol w="1650107">
                  <a:extLst>
                    <a:ext uri="{9D8B030D-6E8A-4147-A177-3AD203B41FA5}">
                      <a16:colId xmlns:a16="http://schemas.microsoft.com/office/drawing/2014/main" val="3684006660"/>
                    </a:ext>
                  </a:extLst>
                </a:gridCol>
              </a:tblGrid>
              <a:tr h="299389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V.4. Развитие партнёрских отношений с сообществом</a:t>
                      </a:r>
                      <a:endParaRPr lang="ru-MD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933624"/>
                  </a:ext>
                </a:extLst>
              </a:tr>
              <a:tr h="243782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Менеджмент</a:t>
                      </a:r>
                      <a:endParaRPr lang="ru-MD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748518"/>
                  </a:ext>
                </a:extLst>
              </a:tr>
              <a:tr h="55531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Отсутствие эффективного сотрудничества с сообществом.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Развитие партнерства для обеспечения прогресса ОУ и сообщества.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Участие в различных образовательных проектах.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Админсовет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педагоги,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родители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остоян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Бюджет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УЗ,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спонсоры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Продвижение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имиджа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УЗ.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0956332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D51E4255-262C-4648-B6BF-8CB57F826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732865"/>
              </p:ext>
            </p:extLst>
          </p:nvPr>
        </p:nvGraphicFramePr>
        <p:xfrm>
          <a:off x="9332" y="1098486"/>
          <a:ext cx="12188668" cy="60719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6908">
                  <a:extLst>
                    <a:ext uri="{9D8B030D-6E8A-4147-A177-3AD203B41FA5}">
                      <a16:colId xmlns:a16="http://schemas.microsoft.com/office/drawing/2014/main" val="2037047752"/>
                    </a:ext>
                  </a:extLst>
                </a:gridCol>
                <a:gridCol w="2006939">
                  <a:extLst>
                    <a:ext uri="{9D8B030D-6E8A-4147-A177-3AD203B41FA5}">
                      <a16:colId xmlns:a16="http://schemas.microsoft.com/office/drawing/2014/main" val="2897416714"/>
                    </a:ext>
                  </a:extLst>
                </a:gridCol>
                <a:gridCol w="2124357">
                  <a:extLst>
                    <a:ext uri="{9D8B030D-6E8A-4147-A177-3AD203B41FA5}">
                      <a16:colId xmlns:a16="http://schemas.microsoft.com/office/drawing/2014/main" val="4055340151"/>
                    </a:ext>
                  </a:extLst>
                </a:gridCol>
                <a:gridCol w="2006939">
                  <a:extLst>
                    <a:ext uri="{9D8B030D-6E8A-4147-A177-3AD203B41FA5}">
                      <a16:colId xmlns:a16="http://schemas.microsoft.com/office/drawing/2014/main" val="1049633309"/>
                    </a:ext>
                  </a:extLst>
                </a:gridCol>
                <a:gridCol w="1652185">
                  <a:extLst>
                    <a:ext uri="{9D8B030D-6E8A-4147-A177-3AD203B41FA5}">
                      <a16:colId xmlns:a16="http://schemas.microsoft.com/office/drawing/2014/main" val="3641400441"/>
                    </a:ext>
                  </a:extLst>
                </a:gridCol>
                <a:gridCol w="1180844">
                  <a:extLst>
                    <a:ext uri="{9D8B030D-6E8A-4147-A177-3AD203B41FA5}">
                      <a16:colId xmlns:a16="http://schemas.microsoft.com/office/drawing/2014/main" val="3484951743"/>
                    </a:ext>
                  </a:extLst>
                </a:gridCol>
                <a:gridCol w="1178311">
                  <a:extLst>
                    <a:ext uri="{9D8B030D-6E8A-4147-A177-3AD203B41FA5}">
                      <a16:colId xmlns:a16="http://schemas.microsoft.com/office/drawing/2014/main" val="3083416444"/>
                    </a:ext>
                  </a:extLst>
                </a:gridCol>
                <a:gridCol w="1652185">
                  <a:extLst>
                    <a:ext uri="{9D8B030D-6E8A-4147-A177-3AD203B41FA5}">
                      <a16:colId xmlns:a16="http://schemas.microsoft.com/office/drawing/2014/main" val="2593568189"/>
                    </a:ext>
                  </a:extLst>
                </a:gridCol>
              </a:tblGrid>
              <a:tr h="330171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Институциональный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потенциал</a:t>
                      </a:r>
                      <a:endParaRPr lang="ru-MD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862288"/>
                  </a:ext>
                </a:extLst>
              </a:tr>
              <a:tr h="783407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>
                          <a:effectLst/>
                        </a:rPr>
                        <a:t>2</a:t>
                      </a:r>
                      <a:r>
                        <a:rPr lang="ru-RU" sz="1600" dirty="0">
                          <a:effectLst/>
                        </a:rPr>
                        <a:t>0</a:t>
                      </a:r>
                      <a:r>
                        <a:rPr lang="en-US" sz="1600" dirty="0">
                          <a:effectLst/>
                        </a:rPr>
                        <a:t>.</a:t>
                      </a:r>
                      <a:endParaRPr lang="ru-MD" sz="1600" dirty="0">
                        <a:effectLst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Пассивное привлечение учительского сообщества в управление УЗ.</a:t>
                      </a: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Активная работа всех структур.</a:t>
                      </a:r>
                      <a:endParaRPr lang="ru-MD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Эффективное планирование.</a:t>
                      </a:r>
                      <a:endParaRPr lang="ru-MD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MD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Админсовет, педсове, Совет по этике, УС</a:t>
                      </a: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остоян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требует финансовых ресурсов</a:t>
                      </a:r>
                      <a:endParaRPr lang="ru-MD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Продвижение имиджа </a:t>
                      </a: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гимназии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extLst>
                  <a:ext uri="{0D108BD9-81ED-4DB2-BD59-A6C34878D82A}">
                    <a16:rowId xmlns:a16="http://schemas.microsoft.com/office/drawing/2014/main" val="3847589172"/>
                  </a:ext>
                </a:extLst>
              </a:tr>
              <a:tr h="330171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Куррикулум</a:t>
                      </a:r>
                      <a:endParaRPr lang="ru-MD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337756"/>
                  </a:ext>
                </a:extLst>
              </a:tr>
              <a:tr h="668008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>
                          <a:effectLst/>
                        </a:rPr>
                        <a:t>2</a:t>
                      </a:r>
                      <a:r>
                        <a:rPr lang="ru-RU" sz="1600" dirty="0">
                          <a:effectLst/>
                        </a:rPr>
                        <a:t>1</a:t>
                      </a:r>
                      <a:r>
                        <a:rPr lang="en-US" sz="1600" dirty="0">
                          <a:effectLst/>
                        </a:rPr>
                        <a:t>.</a:t>
                      </a:r>
                      <a:endParaRPr lang="ru-MD" sz="1600" dirty="0">
                        <a:effectLst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ует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сотрудничеств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 выпускниками УЗ</a:t>
                      </a: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Развитие партнерства с выпускниками УЗ.</a:t>
                      </a: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Мониторинг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профессиональной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реализации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выпускников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Администрация,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УС, ЗВР.</a:t>
                      </a:r>
                      <a:endParaRPr lang="ru-MD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остоян</a:t>
                      </a:r>
                      <a:endParaRPr lang="ru-MD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</a:t>
                      </a:r>
                      <a:endParaRPr lang="ru-MD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требует финансовых ресурсов</a:t>
                      </a:r>
                      <a:endParaRPr lang="ru-MD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Продвижение имиджа </a:t>
                      </a: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гимназии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extLst>
                  <a:ext uri="{0D108BD9-81ED-4DB2-BD59-A6C34878D82A}">
                    <a16:rowId xmlns:a16="http://schemas.microsoft.com/office/drawing/2014/main" val="2226438771"/>
                  </a:ext>
                </a:extLst>
              </a:tr>
              <a:tr h="330171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V.5. Поддержка и развитие внеклассной деятельности</a:t>
                      </a:r>
                      <a:endParaRPr lang="ru-MD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149594"/>
                  </a:ext>
                </a:extLst>
              </a:tr>
              <a:tr h="349354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Менеджмент</a:t>
                      </a:r>
                      <a:endParaRPr lang="ru-MD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430674"/>
                  </a:ext>
                </a:extLst>
              </a:tr>
              <a:tr h="928812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>
                          <a:effectLst/>
                        </a:rPr>
                        <a:t>2</a:t>
                      </a:r>
                      <a:r>
                        <a:rPr lang="ru-RU" sz="1600" dirty="0">
                          <a:effectLst/>
                        </a:rPr>
                        <a:t>2</a:t>
                      </a:r>
                      <a:r>
                        <a:rPr lang="en-US" sz="1600" dirty="0">
                          <a:effectLst/>
                        </a:rPr>
                        <a:t>.</a:t>
                      </a:r>
                      <a:endParaRPr lang="ru-MD" sz="1600" dirty="0">
                        <a:effectLst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Недостаточная мотивация педагогов и учащихся к участию во внеклассных программах</a:t>
                      </a: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Недостаток поощрений снижает активность и качество мероприятий.</a:t>
                      </a: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Награды и признание повышают мотивацию и интерес</a:t>
                      </a: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ЗВР, </a:t>
                      </a: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Педагогическое и ученическое сообщество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остоян</a:t>
                      </a:r>
                      <a:endParaRPr lang="ru-MD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</a:t>
                      </a:r>
                      <a:endParaRPr lang="ru-MD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требует финансовых ресурсов</a:t>
                      </a:r>
                      <a:endParaRPr lang="ru-MD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Повышение участия, качества и имиджа педагогов.</a:t>
                      </a:r>
                    </a:p>
                  </a:txBody>
                  <a:tcPr marL="36309" marR="36309" marT="0" marB="0"/>
                </a:tc>
                <a:extLst>
                  <a:ext uri="{0D108BD9-81ED-4DB2-BD59-A6C34878D82A}">
                    <a16:rowId xmlns:a16="http://schemas.microsoft.com/office/drawing/2014/main" val="3612525700"/>
                  </a:ext>
                </a:extLst>
              </a:tr>
              <a:tr h="330171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Институциональный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потенциал</a:t>
                      </a:r>
                      <a:endParaRPr lang="ru-MD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148011"/>
                  </a:ext>
                </a:extLst>
              </a:tr>
              <a:tr h="892453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>
                          <a:effectLst/>
                        </a:rPr>
                        <a:t>2</a:t>
                      </a:r>
                      <a:r>
                        <a:rPr lang="ru-RU" sz="1600" dirty="0">
                          <a:effectLst/>
                        </a:rPr>
                        <a:t>3</a:t>
                      </a:r>
                      <a:r>
                        <a:rPr lang="en-US" sz="1600" dirty="0">
                          <a:effectLst/>
                        </a:rPr>
                        <a:t>.</a:t>
                      </a:r>
                      <a:endParaRPr lang="ru-MD" sz="1600" dirty="0">
                        <a:effectLst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Недостаточное материально-техническое обеспечение </a:t>
                      </a: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внеклассных </a:t>
                      </a:r>
                      <a:r>
                        <a:rPr lang="ru-MD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мероприятий.</a:t>
                      </a: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Недостаток ресурсов снижает качество и разнообразие внеурочной деятельности.</a:t>
                      </a: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Обновление базы и закупка оборудования для кружков и секций.</a:t>
                      </a: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Администрация школы, завхоз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остоян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Школьый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бюджет, спонсорская помощь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Обновление оборудования повысит качество и разнообразие мероприятий</a:t>
                      </a:r>
                    </a:p>
                  </a:txBody>
                  <a:tcPr marL="36309" marR="36309" marT="0" marB="0"/>
                </a:tc>
                <a:extLst>
                  <a:ext uri="{0D108BD9-81ED-4DB2-BD59-A6C34878D82A}">
                    <a16:rowId xmlns:a16="http://schemas.microsoft.com/office/drawing/2014/main" val="991477800"/>
                  </a:ext>
                </a:extLst>
              </a:tr>
              <a:tr h="251061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Куррикулум</a:t>
                      </a:r>
                      <a:endParaRPr lang="ru-MD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638330"/>
                  </a:ext>
                </a:extLst>
              </a:tr>
              <a:tr h="742712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>
                          <a:effectLst/>
                        </a:rPr>
                        <a:t>2</a:t>
                      </a:r>
                      <a:r>
                        <a:rPr lang="ru-RU" sz="1600" dirty="0">
                          <a:effectLst/>
                        </a:rPr>
                        <a:t>4</a:t>
                      </a:r>
                      <a:r>
                        <a:rPr lang="en-US" sz="1600" dirty="0">
                          <a:effectLst/>
                        </a:rPr>
                        <a:t>.</a:t>
                      </a:r>
                      <a:endParaRPr lang="ru-MD" sz="1600" dirty="0">
                        <a:effectLst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Отсутствие практики изучения интересов учащихся.</a:t>
                      </a: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Развитие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творческих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способностей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учащихся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Эффективная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организация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неформального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образования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Ученический Совет, ЗВР, родительское сообщество</a:t>
                      </a: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остоян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Бюджет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УЗ,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спонсорская помощь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309" marR="363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Результативное участие в различных конкурсах.</a:t>
                      </a:r>
                    </a:p>
                  </a:txBody>
                  <a:tcPr marL="36309" marR="36309" marT="0" marB="0"/>
                </a:tc>
                <a:extLst>
                  <a:ext uri="{0D108BD9-81ED-4DB2-BD59-A6C34878D82A}">
                    <a16:rowId xmlns:a16="http://schemas.microsoft.com/office/drawing/2014/main" val="3274924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95588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FAF3728-BB15-47E9-AE77-4437C14FE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372822"/>
              </p:ext>
            </p:extLst>
          </p:nvPr>
        </p:nvGraphicFramePr>
        <p:xfrm>
          <a:off x="0" y="-1"/>
          <a:ext cx="12191999" cy="27763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051">
                  <a:extLst>
                    <a:ext uri="{9D8B030D-6E8A-4147-A177-3AD203B41FA5}">
                      <a16:colId xmlns:a16="http://schemas.microsoft.com/office/drawing/2014/main" val="827520392"/>
                    </a:ext>
                  </a:extLst>
                </a:gridCol>
                <a:gridCol w="2005951">
                  <a:extLst>
                    <a:ext uri="{9D8B030D-6E8A-4147-A177-3AD203B41FA5}">
                      <a16:colId xmlns:a16="http://schemas.microsoft.com/office/drawing/2014/main" val="3966594495"/>
                    </a:ext>
                  </a:extLst>
                </a:gridCol>
                <a:gridCol w="2123310">
                  <a:extLst>
                    <a:ext uri="{9D8B030D-6E8A-4147-A177-3AD203B41FA5}">
                      <a16:colId xmlns:a16="http://schemas.microsoft.com/office/drawing/2014/main" val="3312781447"/>
                    </a:ext>
                  </a:extLst>
                </a:gridCol>
                <a:gridCol w="2005951">
                  <a:extLst>
                    <a:ext uri="{9D8B030D-6E8A-4147-A177-3AD203B41FA5}">
                      <a16:colId xmlns:a16="http://schemas.microsoft.com/office/drawing/2014/main" val="117597538"/>
                    </a:ext>
                  </a:extLst>
                </a:gridCol>
                <a:gridCol w="1651371">
                  <a:extLst>
                    <a:ext uri="{9D8B030D-6E8A-4147-A177-3AD203B41FA5}">
                      <a16:colId xmlns:a16="http://schemas.microsoft.com/office/drawing/2014/main" val="995215419"/>
                    </a:ext>
                  </a:extLst>
                </a:gridCol>
                <a:gridCol w="1180264">
                  <a:extLst>
                    <a:ext uri="{9D8B030D-6E8A-4147-A177-3AD203B41FA5}">
                      <a16:colId xmlns:a16="http://schemas.microsoft.com/office/drawing/2014/main" val="3442639117"/>
                    </a:ext>
                  </a:extLst>
                </a:gridCol>
                <a:gridCol w="1177730">
                  <a:extLst>
                    <a:ext uri="{9D8B030D-6E8A-4147-A177-3AD203B41FA5}">
                      <a16:colId xmlns:a16="http://schemas.microsoft.com/office/drawing/2014/main" val="2316899021"/>
                    </a:ext>
                  </a:extLst>
                </a:gridCol>
                <a:gridCol w="1651371">
                  <a:extLst>
                    <a:ext uri="{9D8B030D-6E8A-4147-A177-3AD203B41FA5}">
                      <a16:colId xmlns:a16="http://schemas.microsoft.com/office/drawing/2014/main" val="2597193560"/>
                    </a:ext>
                  </a:extLst>
                </a:gridCol>
              </a:tblGrid>
              <a:tr h="380145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V.6. Укрепление материально-технической базы и финансовой устойчивости</a:t>
                      </a:r>
                      <a:endParaRPr lang="ru-MD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639767"/>
                  </a:ext>
                </a:extLst>
              </a:tr>
              <a:tr h="297950">
                <a:tc gridSpan="8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Менеджмент</a:t>
                      </a:r>
                      <a:endParaRPr lang="ru-MD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326036"/>
                  </a:ext>
                </a:extLst>
              </a:tr>
              <a:tr h="1119884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>
                          <a:effectLst/>
                        </a:rPr>
                        <a:t>2</a:t>
                      </a:r>
                      <a:r>
                        <a:rPr lang="ru-RU" sz="1600" dirty="0">
                          <a:effectLst/>
                        </a:rPr>
                        <a:t>5</a:t>
                      </a:r>
                      <a:endParaRPr lang="ru-MD" sz="16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Неэффективное использование финансовых ресурсов внутри школы.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Обеспечение прозрачности в управлении финансами.</a:t>
                      </a: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Эффективное сотрудничество всех институциональных структур в управлении финансами</a:t>
                      </a: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Админсовет</a:t>
                      </a: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педсовет, родительское и ученическое сообщество.</a:t>
                      </a: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остоян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требует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финансовых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ресурсов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Эффективное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исполнение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бюджета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244155"/>
                  </a:ext>
                </a:extLst>
              </a:tr>
              <a:tr h="950161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</a:rPr>
                        <a:t>26</a:t>
                      </a:r>
                      <a:endParaRPr lang="ru-MD" sz="16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Недостаточная прозрачность финансовой отчетности перед коллективом и сообществом</a:t>
                      </a: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Снижает доверие и мешает привлечению финансирования.</a:t>
                      </a: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Публикация отчетов и регулярные встречи по вопросам бюджета.</a:t>
                      </a: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Администрация школы, бухгалтерия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течение года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Внутренние ресурсы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Публикация отчетов и встречи по бюджету.</a:t>
                      </a: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323772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2E159B5-6C3C-42F2-A748-BFA1BF777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8885"/>
              </p:ext>
            </p:extLst>
          </p:nvPr>
        </p:nvGraphicFramePr>
        <p:xfrm>
          <a:off x="2" y="2712378"/>
          <a:ext cx="12191998" cy="43505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051">
                  <a:extLst>
                    <a:ext uri="{9D8B030D-6E8A-4147-A177-3AD203B41FA5}">
                      <a16:colId xmlns:a16="http://schemas.microsoft.com/office/drawing/2014/main" val="2386800768"/>
                    </a:ext>
                  </a:extLst>
                </a:gridCol>
                <a:gridCol w="2005949">
                  <a:extLst>
                    <a:ext uri="{9D8B030D-6E8A-4147-A177-3AD203B41FA5}">
                      <a16:colId xmlns:a16="http://schemas.microsoft.com/office/drawing/2014/main" val="3423405866"/>
                    </a:ext>
                  </a:extLst>
                </a:gridCol>
                <a:gridCol w="2123311">
                  <a:extLst>
                    <a:ext uri="{9D8B030D-6E8A-4147-A177-3AD203B41FA5}">
                      <a16:colId xmlns:a16="http://schemas.microsoft.com/office/drawing/2014/main" val="1850614387"/>
                    </a:ext>
                  </a:extLst>
                </a:gridCol>
                <a:gridCol w="2005949">
                  <a:extLst>
                    <a:ext uri="{9D8B030D-6E8A-4147-A177-3AD203B41FA5}">
                      <a16:colId xmlns:a16="http://schemas.microsoft.com/office/drawing/2014/main" val="34881037"/>
                    </a:ext>
                  </a:extLst>
                </a:gridCol>
                <a:gridCol w="1651372">
                  <a:extLst>
                    <a:ext uri="{9D8B030D-6E8A-4147-A177-3AD203B41FA5}">
                      <a16:colId xmlns:a16="http://schemas.microsoft.com/office/drawing/2014/main" val="4130251875"/>
                    </a:ext>
                  </a:extLst>
                </a:gridCol>
                <a:gridCol w="1180265">
                  <a:extLst>
                    <a:ext uri="{9D8B030D-6E8A-4147-A177-3AD203B41FA5}">
                      <a16:colId xmlns:a16="http://schemas.microsoft.com/office/drawing/2014/main" val="4086430143"/>
                    </a:ext>
                  </a:extLst>
                </a:gridCol>
                <a:gridCol w="1177729">
                  <a:extLst>
                    <a:ext uri="{9D8B030D-6E8A-4147-A177-3AD203B41FA5}">
                      <a16:colId xmlns:a16="http://schemas.microsoft.com/office/drawing/2014/main" val="198801748"/>
                    </a:ext>
                  </a:extLst>
                </a:gridCol>
                <a:gridCol w="1651372">
                  <a:extLst>
                    <a:ext uri="{9D8B030D-6E8A-4147-A177-3AD203B41FA5}">
                      <a16:colId xmlns:a16="http://schemas.microsoft.com/office/drawing/2014/main" val="2526432111"/>
                    </a:ext>
                  </a:extLst>
                </a:gridCol>
              </a:tblGrid>
              <a:tr h="821932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238" marR="372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Отсутствие современной мебели согласно санитарным нормам.</a:t>
                      </a: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Оснащение кабинетов современной мебелью согласно санитарным требованиям.</a:t>
                      </a: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Составление плана по оснащению кабинетов мебелью.</a:t>
                      </a: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Админсовет</a:t>
                      </a: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педсовет, родительское и ученическое сообщество.</a:t>
                      </a: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2025-20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гг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Спонсоры, проекты, </a:t>
                      </a:r>
                      <a:r>
                        <a:rPr lang="ru-MD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мест.публ</a:t>
                      </a: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в</a:t>
                      </a:r>
                      <a:r>
                        <a:rPr lang="ru-MD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ласть</a:t>
                      </a: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Обеспечение кабинетов современной мебелью на 100%.</a:t>
                      </a: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584656"/>
                  </a:ext>
                </a:extLst>
              </a:tr>
              <a:tr h="65829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238" marR="372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Отсутствие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современной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безопасной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электропроводки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Устаревшая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электропроводка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соблюдение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ППБ.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Составление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проектной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сметы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Директор.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Рабочая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группа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5-2030 г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спонсоры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Обеспечение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безопасности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учебного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процесса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121241"/>
                  </a:ext>
                </a:extLst>
              </a:tr>
              <a:tr h="127399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238" marR="372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Отсутствие ограждения угрожает безопасности школы.</a:t>
                      </a: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Создание б</a:t>
                      </a:r>
                      <a:r>
                        <a:rPr lang="ru-MD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езопасн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ой среды</a:t>
                      </a: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благополучие участников образовательного процесса</a:t>
                      </a: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Проектные работы, закупка и установка безопасного ограждения.</a:t>
                      </a: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Директор, рабочая группа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2025-2029 гг.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Внебюджетные средства, спонсорская помощь, гранты, сотрудничество с властями.</a:t>
                      </a: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1598532 леев</a:t>
                      </a:r>
                      <a:endParaRPr lang="ru-MD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Установка ограждения для усиления безопасности.</a:t>
                      </a: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863480"/>
                  </a:ext>
                </a:extLst>
              </a:tr>
              <a:tr h="1305102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238" marR="372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Изношенное покрытие мини-футбольного поля создаёт риск травм и снижает качество спортивных занятий.</a:t>
                      </a: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Изношенное покрытие увеличивает риск травм и мешает полноценным тренировкам.</a:t>
                      </a: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Проектные работы. </a:t>
                      </a:r>
                      <a:r>
                        <a:rPr lang="ru-MD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Провести обследование покрытия, закупить и уложить новое покрытие.</a:t>
                      </a: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Директор, рабочая группа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2025-2029 гг.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Внебюджетные средства, участие в проекте совместно с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примарией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823501,79 леев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Уровень удовлетворённости учеников качеством поля, % снижения травматизма.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238" marR="37238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850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02300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42BDE45-7C87-45AD-9EBA-CCB757ACF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820764"/>
              </p:ext>
            </p:extLst>
          </p:nvPr>
        </p:nvGraphicFramePr>
        <p:xfrm>
          <a:off x="0" y="0"/>
          <a:ext cx="12191999" cy="70859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051">
                  <a:extLst>
                    <a:ext uri="{9D8B030D-6E8A-4147-A177-3AD203B41FA5}">
                      <a16:colId xmlns:a16="http://schemas.microsoft.com/office/drawing/2014/main" val="977668609"/>
                    </a:ext>
                  </a:extLst>
                </a:gridCol>
                <a:gridCol w="1884812">
                  <a:extLst>
                    <a:ext uri="{9D8B030D-6E8A-4147-A177-3AD203B41FA5}">
                      <a16:colId xmlns:a16="http://schemas.microsoft.com/office/drawing/2014/main" val="3362922083"/>
                    </a:ext>
                  </a:extLst>
                </a:gridCol>
                <a:gridCol w="121138">
                  <a:extLst>
                    <a:ext uri="{9D8B030D-6E8A-4147-A177-3AD203B41FA5}">
                      <a16:colId xmlns:a16="http://schemas.microsoft.com/office/drawing/2014/main" val="1526907841"/>
                    </a:ext>
                  </a:extLst>
                </a:gridCol>
                <a:gridCol w="1985064">
                  <a:extLst>
                    <a:ext uri="{9D8B030D-6E8A-4147-A177-3AD203B41FA5}">
                      <a16:colId xmlns:a16="http://schemas.microsoft.com/office/drawing/2014/main" val="2543351804"/>
                    </a:ext>
                  </a:extLst>
                </a:gridCol>
                <a:gridCol w="138246">
                  <a:extLst>
                    <a:ext uri="{9D8B030D-6E8A-4147-A177-3AD203B41FA5}">
                      <a16:colId xmlns:a16="http://schemas.microsoft.com/office/drawing/2014/main" val="1990848507"/>
                    </a:ext>
                  </a:extLst>
                </a:gridCol>
                <a:gridCol w="2005950">
                  <a:extLst>
                    <a:ext uri="{9D8B030D-6E8A-4147-A177-3AD203B41FA5}">
                      <a16:colId xmlns:a16="http://schemas.microsoft.com/office/drawing/2014/main" val="1180799236"/>
                    </a:ext>
                  </a:extLst>
                </a:gridCol>
                <a:gridCol w="136667">
                  <a:extLst>
                    <a:ext uri="{9D8B030D-6E8A-4147-A177-3AD203B41FA5}">
                      <a16:colId xmlns:a16="http://schemas.microsoft.com/office/drawing/2014/main" val="2045852907"/>
                    </a:ext>
                  </a:extLst>
                </a:gridCol>
                <a:gridCol w="1356189">
                  <a:extLst>
                    <a:ext uri="{9D8B030D-6E8A-4147-A177-3AD203B41FA5}">
                      <a16:colId xmlns:a16="http://schemas.microsoft.com/office/drawing/2014/main" val="497254896"/>
                    </a:ext>
                  </a:extLst>
                </a:gridCol>
                <a:gridCol w="158516">
                  <a:extLst>
                    <a:ext uri="{9D8B030D-6E8A-4147-A177-3AD203B41FA5}">
                      <a16:colId xmlns:a16="http://schemas.microsoft.com/office/drawing/2014/main" val="2219490102"/>
                    </a:ext>
                  </a:extLst>
                </a:gridCol>
                <a:gridCol w="1043560">
                  <a:extLst>
                    <a:ext uri="{9D8B030D-6E8A-4147-A177-3AD203B41FA5}">
                      <a16:colId xmlns:a16="http://schemas.microsoft.com/office/drawing/2014/main" val="980268287"/>
                    </a:ext>
                  </a:extLst>
                </a:gridCol>
                <a:gridCol w="136704">
                  <a:extLst>
                    <a:ext uri="{9D8B030D-6E8A-4147-A177-3AD203B41FA5}">
                      <a16:colId xmlns:a16="http://schemas.microsoft.com/office/drawing/2014/main" val="780376691"/>
                    </a:ext>
                  </a:extLst>
                </a:gridCol>
                <a:gridCol w="1177730">
                  <a:extLst>
                    <a:ext uri="{9D8B030D-6E8A-4147-A177-3AD203B41FA5}">
                      <a16:colId xmlns:a16="http://schemas.microsoft.com/office/drawing/2014/main" val="2553045919"/>
                    </a:ext>
                  </a:extLst>
                </a:gridCol>
                <a:gridCol w="1651372">
                  <a:extLst>
                    <a:ext uri="{9D8B030D-6E8A-4147-A177-3AD203B41FA5}">
                      <a16:colId xmlns:a16="http://schemas.microsoft.com/office/drawing/2014/main" val="2198607846"/>
                    </a:ext>
                  </a:extLst>
                </a:gridCol>
              </a:tblGrid>
              <a:tr h="2397243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endParaRPr lang="ru-MD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Существующая спортивная площадка устарела, не соответствует стандартам и ограничивает проведение полноценных занятий спортом и соревнований.</a:t>
                      </a:r>
                    </a:p>
                  </a:txBody>
                  <a:tcPr marL="62360" marR="6236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endParaRPr lang="ru-MD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Устаревшая площадка снижает мотивацию, повышает риск травм и мешает проведению </a:t>
                      </a: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спортивных мероприятий, </a:t>
                      </a:r>
                      <a:r>
                        <a:rPr lang="ru-MD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соревнований.</a:t>
                      </a:r>
                    </a:p>
                  </a:txBody>
                  <a:tcPr marL="62360" marR="6236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endParaRPr lang="ru-MD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Устаревшая площадка снижает мотивацию, повышает риск травм и мешает проведению </a:t>
                      </a: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спортивных мероприятий, </a:t>
                      </a:r>
                      <a:r>
                        <a:rPr lang="ru-MD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соревнований.</a:t>
                      </a:r>
                    </a:p>
                  </a:txBody>
                  <a:tcPr marL="62360" marR="6236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endParaRPr lang="ru-MD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Провести комплексное обследование, заменить покрытие и обновить </a:t>
                      </a: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современным </a:t>
                      </a:r>
                      <a:r>
                        <a:rPr lang="ru-MD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оборудование</a:t>
                      </a: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</a:t>
                      </a:r>
                      <a:r>
                        <a:rPr lang="ru-MD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2360" marR="6236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endParaRPr lang="ru-MD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Провести комплексное обследование, заменить покрытие и обновить </a:t>
                      </a: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современным </a:t>
                      </a:r>
                      <a:r>
                        <a:rPr lang="ru-MD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оборудование</a:t>
                      </a: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</a:t>
                      </a:r>
                      <a:r>
                        <a:rPr lang="ru-MD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2360" marR="62360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endParaRPr lang="ru-RU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Администрация школы, рабочая группа.</a:t>
                      </a:r>
                      <a:endParaRPr lang="ru-MD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endParaRPr lang="ru-RU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Администрация школы, рабочая группа.</a:t>
                      </a:r>
                      <a:endParaRPr lang="ru-MD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endParaRPr lang="ru-RU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2025-2030 гг.</a:t>
                      </a:r>
                      <a:endParaRPr lang="ru-MD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endParaRPr lang="ru-RU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2025-2030 гг.</a:t>
                      </a:r>
                      <a:endParaRPr lang="ru-MD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Внебюджетные средства, спонсорская помощь, участие в проектах.</a:t>
                      </a:r>
                      <a:endParaRPr lang="ru-MD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7 млн. леев</a:t>
                      </a:r>
                      <a:endParaRPr lang="ru-MD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Внебюджетные средства, спонсорская помощь, участие в проектах.</a:t>
                      </a:r>
                      <a:endParaRPr lang="ru-MD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7 млн. леев</a:t>
                      </a:r>
                      <a:endParaRPr lang="ru-MD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endParaRPr lang="ru-MD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Проведённые занятия, снижение травматизма, удовлетворённость учеников.</a:t>
                      </a:r>
                    </a:p>
                  </a:txBody>
                  <a:tcPr marL="62360" marR="6236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010714"/>
                  </a:ext>
                </a:extLst>
              </a:tr>
              <a:tr h="397328">
                <a:tc gridSpan="13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Институциональный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потенциал</a:t>
                      </a: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291121"/>
                  </a:ext>
                </a:extLst>
              </a:tr>
              <a:tr h="1676168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Слабое взаимодействие с донорами и низкая активность в привлечении внебюджетных средств</a:t>
                      </a:r>
                    </a:p>
                  </a:txBody>
                  <a:tcPr marL="62360" marR="6236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Упущенные возможности финансирования проектов и улучшения инфраструктуры</a:t>
                      </a:r>
                    </a:p>
                  </a:txBody>
                  <a:tcPr marL="62360" marR="6236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пакета предложений, подача заявок на гранты, установление партнёрств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Администрация </a:t>
                      </a: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остоян</a:t>
                      </a: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</a:t>
                      </a: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требует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финансовых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ресурсов</a:t>
                      </a: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поданных и одобренных заявок, привлечённые средства</a:t>
                      </a:r>
                    </a:p>
                  </a:txBody>
                  <a:tcPr marL="62360" marR="6236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743318"/>
                  </a:ext>
                </a:extLst>
              </a:tr>
              <a:tr h="366200">
                <a:tc gridSpan="13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Куррикулум</a:t>
                      </a: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826080"/>
                  </a:ext>
                </a:extLst>
              </a:tr>
              <a:tr h="217734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Недостаток современных ИТ-технологий (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</a:t>
                      </a:r>
                      <a:r>
                        <a:rPr lang="ru-MD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-панелей) ограничивает применение интерактивных методов и снижает качество обучения.</a:t>
                      </a:r>
                    </a:p>
                  </a:txBody>
                  <a:tcPr marL="62360" marR="62360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Использование современных цифровых инструментов в обучении.</a:t>
                      </a:r>
                    </a:p>
                  </a:txBody>
                  <a:tcPr marL="62360" marR="62360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ru-MD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Активное участие педагогов в различных образовательных проектах.</a:t>
                      </a:r>
                    </a:p>
                  </a:txBody>
                  <a:tcPr marL="62360" marR="6236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Рабочая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группа</a:t>
                      </a: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/>
                </a:tc>
                <a:tc hMerge="1"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2025-202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гг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MD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Участие в проектах, спонсоры,</a:t>
                      </a: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ru-MD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ru-MD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 леев</a:t>
                      </a:r>
                    </a:p>
                  </a:txBody>
                  <a:tcPr marL="62360" marR="623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Эффективная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организация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УВП</a:t>
                      </a:r>
                      <a:endParaRPr lang="ru-MD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60" marR="62360" marT="0" marB="0"/>
                </a:tc>
                <a:extLst>
                  <a:ext uri="{0D108BD9-81ED-4DB2-BD59-A6C34878D82A}">
                    <a16:rowId xmlns:a16="http://schemas.microsoft.com/office/drawing/2014/main" val="983942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32103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FD6EADA7-D7CC-474E-90A7-3B49F2F3C7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0466231"/>
              </p:ext>
            </p:extLst>
          </p:nvPr>
        </p:nvGraphicFramePr>
        <p:xfrm>
          <a:off x="174660" y="308225"/>
          <a:ext cx="11794733" cy="63186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18770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FD6EADA7-D7CC-474E-90A7-3B49F2F3C7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5658352"/>
              </p:ext>
            </p:extLst>
          </p:nvPr>
        </p:nvGraphicFramePr>
        <p:xfrm>
          <a:off x="174660" y="308225"/>
          <a:ext cx="11794733" cy="63186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21391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FD6EADA7-D7CC-474E-90A7-3B49F2F3C7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1541616"/>
              </p:ext>
            </p:extLst>
          </p:nvPr>
        </p:nvGraphicFramePr>
        <p:xfrm>
          <a:off x="174660" y="308224"/>
          <a:ext cx="11794733" cy="63597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05476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FD6EADA7-D7CC-474E-90A7-3B49F2F3C7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2813060"/>
              </p:ext>
            </p:extLst>
          </p:nvPr>
        </p:nvGraphicFramePr>
        <p:xfrm>
          <a:off x="174660" y="308224"/>
          <a:ext cx="11794733" cy="63597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15087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FD6EADA7-D7CC-474E-90A7-3B49F2F3C7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2509763"/>
              </p:ext>
            </p:extLst>
          </p:nvPr>
        </p:nvGraphicFramePr>
        <p:xfrm>
          <a:off x="174660" y="256854"/>
          <a:ext cx="11794733" cy="6411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88322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FD6EADA7-D7CC-474E-90A7-3B49F2F3C7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77755"/>
              </p:ext>
            </p:extLst>
          </p:nvPr>
        </p:nvGraphicFramePr>
        <p:xfrm>
          <a:off x="174660" y="256854"/>
          <a:ext cx="11794733" cy="6411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15158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09FE423E-764E-47FB-8E6B-391B678CDC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381838"/>
              </p:ext>
            </p:extLst>
          </p:nvPr>
        </p:nvGraphicFramePr>
        <p:xfrm>
          <a:off x="0" y="0"/>
          <a:ext cx="12192000" cy="685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3852">
                  <a:extLst>
                    <a:ext uri="{9D8B030D-6E8A-4147-A177-3AD203B41FA5}">
                      <a16:colId xmlns:a16="http://schemas.microsoft.com/office/drawing/2014/main" val="1129537620"/>
                    </a:ext>
                  </a:extLst>
                </a:gridCol>
                <a:gridCol w="4695290">
                  <a:extLst>
                    <a:ext uri="{9D8B030D-6E8A-4147-A177-3AD203B41FA5}">
                      <a16:colId xmlns:a16="http://schemas.microsoft.com/office/drawing/2014/main" val="2774117985"/>
                    </a:ext>
                  </a:extLst>
                </a:gridCol>
                <a:gridCol w="3349375">
                  <a:extLst>
                    <a:ext uri="{9D8B030D-6E8A-4147-A177-3AD203B41FA5}">
                      <a16:colId xmlns:a16="http://schemas.microsoft.com/office/drawing/2014/main" val="1350830450"/>
                    </a:ext>
                  </a:extLst>
                </a:gridCol>
                <a:gridCol w="3253483">
                  <a:extLst>
                    <a:ext uri="{9D8B030D-6E8A-4147-A177-3AD203B41FA5}">
                      <a16:colId xmlns:a16="http://schemas.microsoft.com/office/drawing/2014/main" val="4288284808"/>
                    </a:ext>
                  </a:extLst>
                </a:gridCol>
              </a:tblGrid>
              <a:tr h="994152">
                <a:tc>
                  <a:txBody>
                    <a:bodyPr/>
                    <a:lstStyle/>
                    <a:p>
                      <a:endParaRPr lang="ru-RU" sz="2800" dirty="0"/>
                    </a:p>
                    <a:p>
                      <a:r>
                        <a:rPr lang="ru-RU" sz="2800" dirty="0"/>
                        <a:t>№</a:t>
                      </a:r>
                      <a:endParaRPr lang="ru-M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Проблема</a:t>
                      </a:r>
                      <a:endParaRPr lang="ru-MD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Период</a:t>
                      </a:r>
                      <a:endParaRPr lang="ru-MD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  <a:p>
                      <a:pPr algn="ctr"/>
                      <a:r>
                        <a:rPr lang="ru-RU" sz="2800" dirty="0"/>
                        <a:t>Финансирование</a:t>
                      </a:r>
                      <a:endParaRPr lang="ru-MD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431711"/>
                  </a:ext>
                </a:extLst>
              </a:tr>
              <a:tr h="1024490">
                <a:tc>
                  <a:txBody>
                    <a:bodyPr/>
                    <a:lstStyle/>
                    <a:p>
                      <a:r>
                        <a:rPr lang="ru-RU" sz="2400" i="0" dirty="0"/>
                        <a:t>       1.</a:t>
                      </a:r>
                      <a:endParaRPr lang="ru-MD" sz="24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Отсутствие современной безопасной электропроводки.</a:t>
                      </a:r>
                      <a:endParaRPr lang="ru-RU" sz="2000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2026-2030</a:t>
                      </a:r>
                      <a:endParaRPr lang="ru-MD" sz="200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pPr algn="ctr"/>
                      <a:endParaRPr lang="ru-MD" sz="2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млн. леев</a:t>
                      </a:r>
                      <a:endParaRPr lang="ru-MD" sz="2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066733"/>
                  </a:ext>
                </a:extLst>
              </a:tr>
              <a:tr h="1024490">
                <a:tc>
                  <a:txBody>
                    <a:bodyPr/>
                    <a:lstStyle/>
                    <a:p>
                      <a:r>
                        <a:rPr lang="ru-RU" sz="2400" i="0" dirty="0"/>
                        <a:t>       2.</a:t>
                      </a:r>
                      <a:endParaRPr lang="ru-MD" sz="24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MD" sz="200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Отсутствие ограждения угрожает безопасности школы.</a:t>
                      </a:r>
                      <a:endParaRPr lang="ru-MD" sz="2000" i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i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2026-2028</a:t>
                      </a:r>
                      <a:endParaRPr lang="ru-MD" sz="2000" i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ru-MD" sz="2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1.598 532 леев</a:t>
                      </a:r>
                      <a:endParaRPr lang="ru-MD" sz="2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ru-MD" sz="2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187776"/>
                  </a:ext>
                </a:extLst>
              </a:tr>
              <a:tr h="1024490">
                <a:tc>
                  <a:txBody>
                    <a:bodyPr/>
                    <a:lstStyle/>
                    <a:p>
                      <a:r>
                        <a:rPr lang="ru-RU" sz="2400" i="0" dirty="0"/>
                        <a:t>       3.</a:t>
                      </a:r>
                      <a:endParaRPr lang="ru-MD" sz="24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Отсутствие современной мебели согласно санитарным нормам</a:t>
                      </a:r>
                      <a:endParaRPr lang="ru-RU" sz="2000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2025-2028</a:t>
                      </a:r>
                      <a:endParaRPr lang="ru-MD" sz="2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200 000</a:t>
                      </a:r>
                      <a:endParaRPr lang="ru-MD" sz="200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ru-MD" sz="2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962761"/>
                  </a:ext>
                </a:extLst>
              </a:tr>
              <a:tr h="1334942">
                <a:tc>
                  <a:txBody>
                    <a:bodyPr/>
                    <a:lstStyle/>
                    <a:p>
                      <a:r>
                        <a:rPr lang="ru-RU" sz="2400" i="0" dirty="0"/>
                        <a:t>       4.</a:t>
                      </a:r>
                      <a:endParaRPr lang="ru-MD" sz="24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Спортплощадка устарела, не отвечает стандартам и мешает полноценным занятиям.</a:t>
                      </a:r>
                      <a:endParaRPr lang="ru-MD" sz="2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ru-MD" sz="2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2025-2029</a:t>
                      </a:r>
                      <a:endParaRPr lang="ru-MD" sz="2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 </a:t>
                      </a:r>
                      <a:r>
                        <a:rPr lang="ru-RU" sz="2000" kern="1200" dirty="0" err="1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млн.леев</a:t>
                      </a:r>
                      <a:endParaRPr lang="ru-MD" sz="200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ru-MD" sz="2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430086"/>
                  </a:ext>
                </a:extLst>
              </a:tr>
              <a:tr h="755879">
                <a:tc>
                  <a:txBody>
                    <a:bodyPr/>
                    <a:lstStyle/>
                    <a:p>
                      <a:r>
                        <a:rPr lang="ru-RU" sz="2400" i="0" dirty="0"/>
                        <a:t>       5.</a:t>
                      </a:r>
                      <a:endParaRPr lang="ru-MD" sz="24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Износ покрытия поля повышает </a:t>
                      </a:r>
                      <a:r>
                        <a:rPr lang="ru-RU" sz="200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травмоопасность</a:t>
                      </a:r>
                      <a:r>
                        <a:rPr lang="ru-RU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мешает занятиям.</a:t>
                      </a:r>
                      <a:endParaRPr lang="ru-MD" sz="2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2025-2029 гг.</a:t>
                      </a:r>
                      <a:endParaRPr lang="ru-MD" sz="2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8.23501,79 леев</a:t>
                      </a:r>
                      <a:endParaRPr lang="ru-MD" sz="2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550416"/>
                  </a:ext>
                </a:extLst>
              </a:tr>
              <a:tr h="699556">
                <a:tc>
                  <a:txBody>
                    <a:bodyPr/>
                    <a:lstStyle/>
                    <a:p>
                      <a:endParaRPr lang="ru-M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 ПЛАНИРУЕТСЯ ОСВОИТЬ</a:t>
                      </a:r>
                      <a:endParaRPr lang="ru-MD" sz="20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2025-2030 гг.</a:t>
                      </a:r>
                      <a:endParaRPr lang="ru-MD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35,622033 леев</a:t>
                      </a:r>
                      <a:endParaRPr lang="ru-MD" sz="24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691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8493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9FDF6D8-F9B0-4871-9E77-0760920C4B0F}"/>
              </a:ext>
            </a:extLst>
          </p:cNvPr>
          <p:cNvSpPr/>
          <p:nvPr/>
        </p:nvSpPr>
        <p:spPr>
          <a:xfrm>
            <a:off x="2345932" y="276118"/>
            <a:ext cx="7500135" cy="70891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VI. </a:t>
            </a: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Заключение</a:t>
            </a:r>
            <a:endParaRPr lang="ru-MD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18D6825-F598-4BCB-B011-8338CDF7B419}"/>
              </a:ext>
            </a:extLst>
          </p:cNvPr>
          <p:cNvSpPr/>
          <p:nvPr/>
        </p:nvSpPr>
        <p:spPr>
          <a:xfrm>
            <a:off x="246580" y="2658437"/>
            <a:ext cx="2517166" cy="236562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VI.1. </a:t>
            </a:r>
            <a:r>
              <a:rPr lang="ru-RU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Основные этапы реализации программы</a:t>
            </a:r>
            <a:endParaRPr lang="ru-MD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4A715C2-0E84-4973-BFF1-23D5AF51CFE6}"/>
              </a:ext>
            </a:extLst>
          </p:cNvPr>
          <p:cNvSpPr/>
          <p:nvPr/>
        </p:nvSpPr>
        <p:spPr>
          <a:xfrm>
            <a:off x="4520629" y="1186665"/>
            <a:ext cx="7500135" cy="267256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MD" dirty="0"/>
              <a:t> </a:t>
            </a:r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Констатирующий этап (2025):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MD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ru-MD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иагностика образовательного процесса, инфраструктуры, кадрового и ресурсного потенциала. Выявление сильных и слабых сторон учреждения, внутренних и внешних факторов влияния. Проведение опросов среди учащихся, родителей и педагогов с целью выявления ожиданий и проблем. Формулировка приоритетных направлений развития и уточнение стратегических целей </a:t>
            </a:r>
          </a:p>
          <a:p>
            <a:r>
              <a:rPr lang="ru-MD" dirty="0"/>
              <a:t> </a:t>
            </a:r>
            <a:endParaRPr lang="ru-MD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0A1F1A6-D82D-4CB1-8181-C5FE9F839672}"/>
              </a:ext>
            </a:extLst>
          </p:cNvPr>
          <p:cNvSpPr/>
          <p:nvPr/>
        </p:nvSpPr>
        <p:spPr>
          <a:xfrm>
            <a:off x="4520627" y="3960045"/>
            <a:ext cx="7500135" cy="1325366"/>
          </a:xfrm>
          <a:prstGeom prst="roundRect">
            <a:avLst/>
          </a:prstGeom>
          <a:solidFill>
            <a:schemeClr val="accent1">
              <a:tint val="66000"/>
              <a:satMod val="1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Формирующий этап (2025-2029): </a:t>
            </a:r>
            <a:r>
              <a:rPr lang="ru-MD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стратегических направлений и создание условий для перехода гимназии на новый качественный уровень функционирования.</a:t>
            </a:r>
            <a:r>
              <a:rPr lang="ru-RU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MD" sz="2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EC3D666D-0E07-4FA2-AC25-0930A745447A}"/>
              </a:ext>
            </a:extLst>
          </p:cNvPr>
          <p:cNvSpPr/>
          <p:nvPr/>
        </p:nvSpPr>
        <p:spPr>
          <a:xfrm>
            <a:off x="4520628" y="5386226"/>
            <a:ext cx="7500135" cy="135105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Обобщающий этап (2030): </a:t>
            </a:r>
            <a:r>
              <a:rPr lang="ru-MD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достигнутых результатов, оценка эффективности реализованных мероприятий, корректировка стратегий развития.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34874709-4504-4F19-8E8E-234573A9D8B8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2763746" y="2522948"/>
            <a:ext cx="1756883" cy="131830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10A4FDF3-2C00-429E-B8F7-6DA480E97DE6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763746" y="3841250"/>
            <a:ext cx="1756881" cy="78147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DC1A4CB0-6C03-42F6-953A-CA7DD4D8E778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>
            <a:off x="2763746" y="3841250"/>
            <a:ext cx="1756882" cy="222050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2131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B40CC50E-75F7-4063-A0A5-8B89EA098D18}"/>
              </a:ext>
            </a:extLst>
          </p:cNvPr>
          <p:cNvSpPr/>
          <p:nvPr/>
        </p:nvSpPr>
        <p:spPr>
          <a:xfrm>
            <a:off x="1387011" y="256854"/>
            <a:ext cx="10171416" cy="67809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MD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VI.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MD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Планирование и реализация внедрения мероприятий</a:t>
            </a:r>
            <a:endParaRPr lang="ru-MD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4278C84-D622-482D-A94F-FA3ABCDDB9B0}"/>
              </a:ext>
            </a:extLst>
          </p:cNvPr>
          <p:cNvSpPr/>
          <p:nvPr/>
        </p:nvSpPr>
        <p:spPr>
          <a:xfrm>
            <a:off x="667822" y="1425539"/>
            <a:ext cx="3606229" cy="200346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и укрепление здоровья всех участников учебного процесса.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A642F24-F0D4-41E0-8DFF-DE8578054C62}"/>
              </a:ext>
            </a:extLst>
          </p:cNvPr>
          <p:cNvSpPr/>
          <p:nvPr/>
        </p:nvSpPr>
        <p:spPr>
          <a:xfrm>
            <a:off x="4376791" y="1042826"/>
            <a:ext cx="3667874" cy="237333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Развитие, поддержка и стимулирование педагогического коллектива для обеспечения высокого качества образования.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7697D13-7390-4F9D-BCBF-C294468937F2}"/>
              </a:ext>
            </a:extLst>
          </p:cNvPr>
          <p:cNvSpPr/>
          <p:nvPr/>
        </p:nvSpPr>
        <p:spPr>
          <a:xfrm>
            <a:off x="8126857" y="1425538"/>
            <a:ext cx="3284305" cy="200346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Мотивация и сопровождение талантливых и одарённых учеников.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3BAB1B8-962B-4C91-9F17-5C601EE288D2}"/>
              </a:ext>
            </a:extLst>
          </p:cNvPr>
          <p:cNvSpPr/>
          <p:nvPr/>
        </p:nvSpPr>
        <p:spPr>
          <a:xfrm>
            <a:off x="458915" y="3519754"/>
            <a:ext cx="3815136" cy="200346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MD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Информатизация образовательного процесса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MD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AF7BDC3C-68E1-42B7-8963-7576DDC8E098}"/>
              </a:ext>
            </a:extLst>
          </p:cNvPr>
          <p:cNvSpPr/>
          <p:nvPr/>
        </p:nvSpPr>
        <p:spPr>
          <a:xfrm>
            <a:off x="4376791" y="3520609"/>
            <a:ext cx="3667874" cy="200346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и поддержка ученического коллектива как ключевого ресурса успеха гимназии.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06019570-A04E-4A42-A3F2-DE87677FB430}"/>
              </a:ext>
            </a:extLst>
          </p:cNvPr>
          <p:cNvSpPr/>
          <p:nvPr/>
        </p:nvSpPr>
        <p:spPr>
          <a:xfrm>
            <a:off x="8126857" y="3519754"/>
            <a:ext cx="3606229" cy="200346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Демократизация управления гимназией через сотрудничество с родителями.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CB9DF071-512A-4C18-9DB6-DB9FD8B3119B}"/>
              </a:ext>
            </a:extLst>
          </p:cNvPr>
          <p:cNvSpPr/>
          <p:nvPr/>
        </p:nvSpPr>
        <p:spPr>
          <a:xfrm>
            <a:off x="3852810" y="5613969"/>
            <a:ext cx="4859676" cy="101714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MD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родвижени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MD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MD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MD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инклюзивного образования.</a:t>
            </a:r>
          </a:p>
        </p:txBody>
      </p:sp>
    </p:spTree>
    <p:extLst>
      <p:ext uri="{BB962C8B-B14F-4D97-AF65-F5344CB8AC3E}">
        <p14:creationId xmlns:p14="http://schemas.microsoft.com/office/powerpoint/2010/main" val="10793781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авнобедренный треугольник 7">
            <a:extLst>
              <a:ext uri="{FF2B5EF4-FFF2-40B4-BE49-F238E27FC236}">
                <a16:creationId xmlns:a16="http://schemas.microsoft.com/office/drawing/2014/main" id="{AD5CD060-55D9-495A-A1A0-AC37F0DC2B3B}"/>
              </a:ext>
            </a:extLst>
          </p:cNvPr>
          <p:cNvSpPr/>
          <p:nvPr/>
        </p:nvSpPr>
        <p:spPr>
          <a:xfrm>
            <a:off x="3694418" y="1537914"/>
            <a:ext cx="4460696" cy="5126805"/>
          </a:xfrm>
          <a:prstGeom prst="triangle">
            <a:avLst>
              <a:gd name="adj" fmla="val 49448"/>
            </a:avLst>
          </a:prstGeom>
          <a:gradFill flip="none" rotWithShape="1">
            <a:gsLst>
              <a:gs pos="0">
                <a:srgbClr val="009999">
                  <a:shade val="30000"/>
                  <a:satMod val="115000"/>
                </a:srgbClr>
              </a:gs>
              <a:gs pos="50000">
                <a:srgbClr val="009999">
                  <a:shade val="67500"/>
                  <a:satMod val="115000"/>
                </a:srgbClr>
              </a:gs>
              <a:gs pos="100000">
                <a:srgbClr val="009999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MD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D60AC41-D2B8-405B-8635-63B7E31C4E75}"/>
              </a:ext>
            </a:extLst>
          </p:cNvPr>
          <p:cNvSpPr/>
          <p:nvPr/>
        </p:nvSpPr>
        <p:spPr>
          <a:xfrm>
            <a:off x="1664413" y="421241"/>
            <a:ext cx="9513870" cy="1006867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5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5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MD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VI.3. Потенциальные риски и пути их минимизации при реализации Программы 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A8CE5F7-62D7-485F-9041-0EE42035B981}"/>
              </a:ext>
            </a:extLst>
          </p:cNvPr>
          <p:cNvSpPr/>
          <p:nvPr/>
        </p:nvSpPr>
        <p:spPr>
          <a:xfrm>
            <a:off x="6981932" y="5098227"/>
            <a:ext cx="4849402" cy="13385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Недостаток средств на реализацию мероприятий Программы развития.</a:t>
            </a:r>
            <a:endParaRPr lang="ru-MD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AC5C8C3-99FA-4D97-B82E-02D00E27492D}"/>
              </a:ext>
            </a:extLst>
          </p:cNvPr>
          <p:cNvSpPr/>
          <p:nvPr/>
        </p:nvSpPr>
        <p:spPr>
          <a:xfrm>
            <a:off x="5869967" y="2875159"/>
            <a:ext cx="5195299" cy="100686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Экономическое и политическое влияние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F639294D-27E7-450E-9E73-25442A838434}"/>
              </a:ext>
            </a:extLst>
          </p:cNvPr>
          <p:cNvSpPr/>
          <p:nvPr/>
        </p:nvSpPr>
        <p:spPr>
          <a:xfrm>
            <a:off x="5384942" y="1759291"/>
            <a:ext cx="5122524" cy="100686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Сокращение численности учеников, миграция населения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074942F-4451-4F45-B41B-F1C1BBA1CBEF}"/>
              </a:ext>
            </a:extLst>
          </p:cNvPr>
          <p:cNvSpPr/>
          <p:nvPr/>
        </p:nvSpPr>
        <p:spPr>
          <a:xfrm>
            <a:off x="6267235" y="3988619"/>
            <a:ext cx="5286911" cy="100686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MD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Дефицит квалифицированных кадров</a:t>
            </a:r>
          </a:p>
        </p:txBody>
      </p:sp>
    </p:spTree>
    <p:extLst>
      <p:ext uri="{BB962C8B-B14F-4D97-AF65-F5344CB8AC3E}">
        <p14:creationId xmlns:p14="http://schemas.microsoft.com/office/powerpoint/2010/main" val="9199058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4">
            <a:extLst>
              <a:ext uri="{FF2B5EF4-FFF2-40B4-BE49-F238E27FC236}">
                <a16:creationId xmlns:a16="http://schemas.microsoft.com/office/drawing/2014/main" id="{A048597E-33B7-4956-926B-C8091900D4A7}"/>
              </a:ext>
            </a:extLst>
          </p:cNvPr>
          <p:cNvSpPr txBox="1"/>
          <p:nvPr/>
        </p:nvSpPr>
        <p:spPr>
          <a:xfrm>
            <a:off x="4159772" y="-784906"/>
            <a:ext cx="3872456" cy="2422815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marL="0" marR="0" lvl="0" indent="0" algn="ctr" defTabSz="1422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6D6DEE8-D97A-449C-8177-4B60B54B7FE7}"/>
              </a:ext>
            </a:extLst>
          </p:cNvPr>
          <p:cNvSpPr/>
          <p:nvPr/>
        </p:nvSpPr>
        <p:spPr>
          <a:xfrm>
            <a:off x="1876639" y="240906"/>
            <a:ext cx="8438721" cy="7354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Ожидаемые результаты</a:t>
            </a:r>
            <a:endParaRPr lang="ru-M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CF00F10-01E2-4973-92FA-B3DB4B086B8F}"/>
              </a:ext>
            </a:extLst>
          </p:cNvPr>
          <p:cNvSpPr/>
          <p:nvPr/>
        </p:nvSpPr>
        <p:spPr>
          <a:xfrm>
            <a:off x="363357" y="2144637"/>
            <a:ext cx="25976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ru-RU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80789F6-4A42-4AE1-AAE4-461370A84839}"/>
              </a:ext>
            </a:extLst>
          </p:cNvPr>
          <p:cNvSpPr/>
          <p:nvPr/>
        </p:nvSpPr>
        <p:spPr>
          <a:xfrm>
            <a:off x="4424837" y="4569606"/>
            <a:ext cx="2942897" cy="167279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sz="2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Повышенный рейтинг и престиж гимназии</a:t>
            </a:r>
            <a:r>
              <a:rPr lang="ru-RU" sz="2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с.Томай</a:t>
            </a:r>
            <a:endParaRPr lang="ru-RU" sz="2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00BFCFE-8A76-4735-B65D-ED68E5489514}"/>
              </a:ext>
            </a:extLst>
          </p:cNvPr>
          <p:cNvSpPr/>
          <p:nvPr/>
        </p:nvSpPr>
        <p:spPr>
          <a:xfrm>
            <a:off x="4424838" y="1284010"/>
            <a:ext cx="2942897" cy="143635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sz="2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уровня цифровой грамотности учащихся и педагогов;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57FA29A3-217B-49D9-BCA1-5D2442E2EA73}"/>
              </a:ext>
            </a:extLst>
          </p:cNvPr>
          <p:cNvSpPr/>
          <p:nvPr/>
        </p:nvSpPr>
        <p:spPr>
          <a:xfrm>
            <a:off x="1149570" y="1301277"/>
            <a:ext cx="3014940" cy="141908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MD" sz="2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Рост учебной мотивации, участия в олимпиадах, конкурсах и проектах</a:t>
            </a:r>
            <a:endParaRPr lang="ru-MD" sz="2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1EEA730E-3795-4E92-8C19-B24F6CE7DE42}"/>
              </a:ext>
            </a:extLst>
          </p:cNvPr>
          <p:cNvSpPr/>
          <p:nvPr/>
        </p:nvSpPr>
        <p:spPr>
          <a:xfrm>
            <a:off x="7628063" y="1278507"/>
            <a:ext cx="3122038" cy="144735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sz="2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Обновлённые учебные кабинеты, комфортная и безопасная образовательная среда</a:t>
            </a:r>
            <a:endParaRPr lang="ru-RU" sz="2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8623CF4-DFE6-4732-A76E-41BF2157A971}"/>
              </a:ext>
            </a:extLst>
          </p:cNvPr>
          <p:cNvSpPr/>
          <p:nvPr/>
        </p:nvSpPr>
        <p:spPr>
          <a:xfrm>
            <a:off x="4424837" y="2935496"/>
            <a:ext cx="2942897" cy="143191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MD" sz="2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Существенное повышение качества образовательного процесса</a:t>
            </a:r>
            <a:endParaRPr lang="ru-MD" sz="2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65AD15D7-D461-4E6C-916E-461EA8A7CBE7}"/>
              </a:ext>
            </a:extLst>
          </p:cNvPr>
          <p:cNvSpPr/>
          <p:nvPr/>
        </p:nvSpPr>
        <p:spPr>
          <a:xfrm>
            <a:off x="7602304" y="4572840"/>
            <a:ext cx="3147797" cy="16728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sz="2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Укрепление позитивного имиджа школы в образовательном и социокультурном пространстве</a:t>
            </a:r>
            <a:endParaRPr lang="ru-RU" sz="2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6780C056-138F-4E6D-B62B-B328143A3706}"/>
              </a:ext>
            </a:extLst>
          </p:cNvPr>
          <p:cNvSpPr/>
          <p:nvPr/>
        </p:nvSpPr>
        <p:spPr>
          <a:xfrm>
            <a:off x="1149571" y="4569606"/>
            <a:ext cx="3010202" cy="16728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sz="2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квалификации педагогов, участие в НПК, форумах и сетевых сообществах</a:t>
            </a:r>
            <a:endParaRPr lang="ru-RU" sz="2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2527749-C7EB-4D27-90A3-8E2CCF1B4763}"/>
              </a:ext>
            </a:extLst>
          </p:cNvPr>
          <p:cNvSpPr/>
          <p:nvPr/>
        </p:nvSpPr>
        <p:spPr>
          <a:xfrm>
            <a:off x="1149571" y="2922554"/>
            <a:ext cx="3010202" cy="144485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MD" sz="2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спектра внеурочной и проектной деятельности</a:t>
            </a:r>
            <a:endParaRPr lang="ru-MD" sz="2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0475793-7F6C-4866-B0D6-E8C1CFD086C8}"/>
              </a:ext>
            </a:extLst>
          </p:cNvPr>
          <p:cNvSpPr/>
          <p:nvPr/>
        </p:nvSpPr>
        <p:spPr>
          <a:xfrm>
            <a:off x="7628064" y="2922553"/>
            <a:ext cx="3122038" cy="144485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MD" sz="2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уровня доверия со стороны родителей и партнёров</a:t>
            </a:r>
            <a:endParaRPr lang="ru-RU" sz="2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4395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8E63916-0315-4677-AD09-113D82C26B3C}"/>
              </a:ext>
            </a:extLst>
          </p:cNvPr>
          <p:cNvSpPr/>
          <p:nvPr/>
        </p:nvSpPr>
        <p:spPr>
          <a:xfrm>
            <a:off x="3476089" y="2691829"/>
            <a:ext cx="5034337" cy="91183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Благодарю за внимание!</a:t>
            </a:r>
            <a:endParaRPr lang="ru-MD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001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70C0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3986</TotalTime>
  <Words>4135</Words>
  <Application>Microsoft Office PowerPoint</Application>
  <PresentationFormat>Широкоэкранный</PresentationFormat>
  <Paragraphs>990</Paragraphs>
  <Slides>47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4" baseType="lpstr">
      <vt:lpstr>Arial</vt:lpstr>
      <vt:lpstr>Calibri</vt:lpstr>
      <vt:lpstr>Calibri Light</vt:lpstr>
      <vt:lpstr>Symbol</vt:lpstr>
      <vt:lpstr>Times New Roman</vt:lpstr>
      <vt:lpstr>Verdana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User</dc:creator>
  <cp:lastModifiedBy>Stamat Yuri</cp:lastModifiedBy>
  <cp:revision>311</cp:revision>
  <dcterms:created xsi:type="dcterms:W3CDTF">2019-02-21T15:01:00Z</dcterms:created>
  <dcterms:modified xsi:type="dcterms:W3CDTF">2025-06-26T11:49:00Z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8707C88AA7E84493A745C84B0E6C3065_13</vt:lpwstr>
  </property>
  <property fmtid="{D5CDD505-2E9C-101B-9397-08002B2CF9AE}" pid="3" name="KSOProductBuildVer">
    <vt:lpwstr>1049-12.2.0.21179</vt:lpwstr>
  </property>
</Properties>
</file>